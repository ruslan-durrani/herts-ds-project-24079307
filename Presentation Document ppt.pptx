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7">
  <p:sldMasterIdLst>
    <p:sldMasterId id="2147483648" r:id="rId1"/>
  </p:sldMasterIdLst>
  <p:notesMasterIdLst>
    <p:notesMasterId r:id="rId32"/>
  </p:notesMasterIdLst>
  <p:sldIdLst>
    <p:sldId id="292" r:id="rId2"/>
    <p:sldId id="279" r:id="rId3"/>
    <p:sldId id="349" r:id="rId4"/>
    <p:sldId id="335" r:id="rId5"/>
    <p:sldId id="342" r:id="rId6"/>
    <p:sldId id="343" r:id="rId7"/>
    <p:sldId id="309" r:id="rId8"/>
    <p:sldId id="348" r:id="rId9"/>
    <p:sldId id="329" r:id="rId10"/>
    <p:sldId id="330" r:id="rId11"/>
    <p:sldId id="344" r:id="rId12"/>
    <p:sldId id="312" r:id="rId13"/>
    <p:sldId id="283" r:id="rId14"/>
    <p:sldId id="336" r:id="rId15"/>
    <p:sldId id="338" r:id="rId16"/>
    <p:sldId id="339" r:id="rId17"/>
    <p:sldId id="337" r:id="rId18"/>
    <p:sldId id="340" r:id="rId19"/>
    <p:sldId id="282" r:id="rId20"/>
    <p:sldId id="290" r:id="rId21"/>
    <p:sldId id="317" r:id="rId22"/>
    <p:sldId id="341" r:id="rId23"/>
    <p:sldId id="318" r:id="rId24"/>
    <p:sldId id="333" r:id="rId25"/>
    <p:sldId id="334" r:id="rId26"/>
    <p:sldId id="347" r:id="rId27"/>
    <p:sldId id="291" r:id="rId28"/>
    <p:sldId id="345" r:id="rId29"/>
    <p:sldId id="346" r:id="rId30"/>
    <p:sldId id="275"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00" autoAdjust="0"/>
    <p:restoredTop sz="69033"/>
  </p:normalViewPr>
  <p:slideViewPr>
    <p:cSldViewPr snapToGrid="0">
      <p:cViewPr varScale="1">
        <p:scale>
          <a:sx n="74" d="100"/>
          <a:sy n="74" d="100"/>
        </p:scale>
        <p:origin x="80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750"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751"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752"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753"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54"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755"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t>‹#›</a:t>
            </a:fld>
            <a:endParaRPr lang="en-US"/>
          </a:p>
        </p:txBody>
      </p:sp>
    </p:spTree>
    <p:extLst>
      <p:ext uri="{BB962C8B-B14F-4D97-AF65-F5344CB8AC3E}">
        <p14:creationId xmlns:p14="http://schemas.microsoft.com/office/powerpoint/2010/main" val="1168840787"/>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lstStyle/>
          <a:p>
            <a:r>
              <a:rPr lang="en-GB" sz="1200" dirty="0"/>
              <a:t>Crime affects people’s </a:t>
            </a:r>
            <a:r>
              <a:rPr lang="en-GB" sz="1200" b="1" dirty="0"/>
              <a:t>safety and daily life</a:t>
            </a:r>
            <a:r>
              <a:rPr lang="en-GB" sz="1200" dirty="0"/>
              <a:t>. Police collect large amounts of crime data, but it is difficult to study it manually.</a:t>
            </a:r>
          </a:p>
          <a:p>
            <a:r>
              <a:rPr lang="en-GB" sz="1200" dirty="0"/>
              <a:t>Machine learning can help by:</a:t>
            </a:r>
          </a:p>
          <a:p>
            <a:r>
              <a:rPr lang="en-GB" sz="1200" dirty="0"/>
              <a:t>Finding </a:t>
            </a:r>
            <a:r>
              <a:rPr lang="en-GB" sz="1200" b="1" dirty="0"/>
              <a:t>patterns</a:t>
            </a:r>
            <a:r>
              <a:rPr lang="en-GB" sz="1200" dirty="0"/>
              <a:t> in crime data </a:t>
            </a:r>
          </a:p>
          <a:p>
            <a:r>
              <a:rPr lang="en-GB" sz="1200" dirty="0"/>
              <a:t>Identifying </a:t>
            </a:r>
            <a:r>
              <a:rPr lang="en-GB" sz="1200" b="1" dirty="0"/>
              <a:t>high-risk areas </a:t>
            </a:r>
          </a:p>
          <a:p>
            <a:r>
              <a:rPr lang="en-GB" sz="1200" dirty="0"/>
              <a:t>Predicting </a:t>
            </a:r>
            <a:r>
              <a:rPr lang="en-GB" sz="1200" b="1" dirty="0"/>
              <a:t>future</a:t>
            </a:r>
            <a:r>
              <a:rPr lang="en-GB" sz="1200" dirty="0"/>
              <a:t> crime levels </a:t>
            </a:r>
          </a:p>
          <a:p>
            <a:r>
              <a:rPr lang="en-GB" sz="1200" dirty="0"/>
              <a:t>This project uses real crime data to support better decisions for safety and planning.</a:t>
            </a:r>
          </a:p>
          <a:p>
            <a:endParaRPr lang="en-PK" dirty="0"/>
          </a:p>
        </p:txBody>
      </p:sp>
      <p:sp>
        <p:nvSpPr>
          <p:cNvPr id="4" name="Slide Number Placeholder 3"/>
          <p:cNvSpPr>
            <a:spLocks noGrp="1"/>
          </p:cNvSpPr>
          <p:nvPr>
            <p:ph type="sldNum" sz="quarter" idx="5"/>
          </p:nvPr>
        </p:nvSpPr>
        <p:spPr/>
        <p:txBody>
          <a:bodyPr/>
          <a:lstStyle/>
          <a:p>
            <a:fld id="{A9A0EA98-5831-4853-B862-C702E6EB345C}" type="slidenum">
              <a:rPr lang="en-US" smtClean="0"/>
              <a:t>2</a:t>
            </a:fld>
            <a:endParaRPr lang="en-US"/>
          </a:p>
        </p:txBody>
      </p:sp>
    </p:spTree>
    <p:extLst>
      <p:ext uri="{BB962C8B-B14F-4D97-AF65-F5344CB8AC3E}">
        <p14:creationId xmlns:p14="http://schemas.microsoft.com/office/powerpoint/2010/main" val="26601062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5B25E-1D5A-D85C-B15B-FF1BC50852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BE9BC6-2493-69E9-E1AA-CA281F6A0597}"/>
              </a:ext>
            </a:extLst>
          </p:cNvPr>
          <p:cNvSpPr>
            <a:spLocks noGrp="1" noRot="1" noChangeAspect="1"/>
          </p:cNvSpPr>
          <p:nvPr>
            <p:ph type="sldImg"/>
          </p:nvPr>
        </p:nvSpPr>
        <p:spPr>
          <a:xfrm>
            <a:off x="138113" y="766763"/>
            <a:ext cx="6823075" cy="3838575"/>
          </a:xfrm>
        </p:spPr>
      </p:sp>
      <p:sp>
        <p:nvSpPr>
          <p:cNvPr id="3" name="Notes Placeholder 2">
            <a:extLst>
              <a:ext uri="{FF2B5EF4-FFF2-40B4-BE49-F238E27FC236}">
                <a16:creationId xmlns:a16="http://schemas.microsoft.com/office/drawing/2014/main" id="{99791357-A708-A659-56DD-E8F11E8CB713}"/>
              </a:ext>
            </a:extLst>
          </p:cNvPr>
          <p:cNvSpPr>
            <a:spLocks noGrp="1"/>
          </p:cNvSpPr>
          <p:nvPr>
            <p:ph type="body" idx="1"/>
          </p:nvPr>
        </p:nvSpPr>
        <p:spPr/>
        <p:txBody>
          <a:bodyPr/>
          <a:lstStyle/>
          <a:p>
            <a:r>
              <a:rPr lang="en-GB" sz="1200" dirty="0"/>
              <a:t>Machine learning can help by:</a:t>
            </a:r>
          </a:p>
          <a:p>
            <a:r>
              <a:rPr lang="en-GB" sz="1200" dirty="0"/>
              <a:t>Finding </a:t>
            </a:r>
            <a:r>
              <a:rPr lang="en-GB" sz="1200" b="1" dirty="0"/>
              <a:t>patterns</a:t>
            </a:r>
            <a:r>
              <a:rPr lang="en-GB" sz="1200" dirty="0"/>
              <a:t> in crime data </a:t>
            </a:r>
          </a:p>
          <a:p>
            <a:r>
              <a:rPr lang="en-GB" sz="1200" dirty="0"/>
              <a:t>Identifying </a:t>
            </a:r>
            <a:r>
              <a:rPr lang="en-GB" sz="1200" b="1" dirty="0"/>
              <a:t>high-risk areas </a:t>
            </a:r>
          </a:p>
          <a:p>
            <a:r>
              <a:rPr lang="en-GB" sz="1200" dirty="0"/>
              <a:t>Predicting </a:t>
            </a:r>
            <a:r>
              <a:rPr lang="en-GB" sz="1200" b="1" dirty="0"/>
              <a:t>future</a:t>
            </a:r>
            <a:r>
              <a:rPr lang="en-GB" sz="1200" dirty="0"/>
              <a:t> crime levels </a:t>
            </a:r>
          </a:p>
          <a:p>
            <a:r>
              <a:rPr lang="en-GB" sz="1200" dirty="0"/>
              <a:t>This project uses real crime data to support better decisions for safety and planning.</a:t>
            </a:r>
          </a:p>
          <a:p>
            <a:endParaRPr lang="en-PK" dirty="0"/>
          </a:p>
        </p:txBody>
      </p:sp>
      <p:sp>
        <p:nvSpPr>
          <p:cNvPr id="4" name="Slide Number Placeholder 3">
            <a:extLst>
              <a:ext uri="{FF2B5EF4-FFF2-40B4-BE49-F238E27FC236}">
                <a16:creationId xmlns:a16="http://schemas.microsoft.com/office/drawing/2014/main" id="{C338111F-5EBF-CF91-B158-047CE28E1849}"/>
              </a:ext>
            </a:extLst>
          </p:cNvPr>
          <p:cNvSpPr>
            <a:spLocks noGrp="1"/>
          </p:cNvSpPr>
          <p:nvPr>
            <p:ph type="sldNum" sz="quarter" idx="5"/>
          </p:nvPr>
        </p:nvSpPr>
        <p:spPr/>
        <p:txBody>
          <a:bodyPr/>
          <a:lstStyle/>
          <a:p>
            <a:fld id="{A9A0EA98-5831-4853-B862-C702E6EB345C}" type="slidenum">
              <a:rPr lang="en-US" smtClean="0"/>
              <a:t>3</a:t>
            </a:fld>
            <a:endParaRPr lang="en-US"/>
          </a:p>
        </p:txBody>
      </p:sp>
    </p:spTree>
    <p:extLst>
      <p:ext uri="{BB962C8B-B14F-4D97-AF65-F5344CB8AC3E}">
        <p14:creationId xmlns:p14="http://schemas.microsoft.com/office/powerpoint/2010/main" val="17990001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lstStyle/>
          <a:p>
            <a:r>
              <a:rPr lang="en-GB" b="1" i="0" dirty="0">
                <a:solidFill>
                  <a:srgbClr val="E6E8F0"/>
                </a:solidFill>
                <a:effectLst/>
                <a:latin typeface="Google Sans"/>
              </a:rPr>
              <a:t>LSOA: </a:t>
            </a:r>
            <a:r>
              <a:rPr lang="en-GB" b="0" i="0" dirty="0">
                <a:solidFill>
                  <a:srgbClr val="E6E8F0"/>
                </a:solidFill>
                <a:effectLst/>
                <a:latin typeface="Google Sans"/>
              </a:rPr>
              <a:t>Lower Layer Super Output Areas (LSOAs) are </a:t>
            </a:r>
            <a:r>
              <a:rPr lang="en-GB" dirty="0"/>
              <a:t>small, consistent geographic units used in England and Wales for collecting and publishing statistical data</a:t>
            </a:r>
            <a:endParaRPr lang="en-PK" dirty="0"/>
          </a:p>
        </p:txBody>
      </p:sp>
      <p:sp>
        <p:nvSpPr>
          <p:cNvPr id="4" name="Slide Number Placeholder 3"/>
          <p:cNvSpPr>
            <a:spLocks noGrp="1"/>
          </p:cNvSpPr>
          <p:nvPr>
            <p:ph type="sldNum" sz="quarter" idx="5"/>
          </p:nvPr>
        </p:nvSpPr>
        <p:spPr/>
        <p:txBody>
          <a:bodyPr/>
          <a:lstStyle/>
          <a:p>
            <a:fld id="{A9A0EA98-5831-4853-B862-C702E6EB345C}" type="slidenum">
              <a:rPr lang="en-US" smtClean="0"/>
              <a:t>4</a:t>
            </a:fld>
            <a:endParaRPr lang="en-US"/>
          </a:p>
        </p:txBody>
      </p:sp>
    </p:spTree>
    <p:extLst>
      <p:ext uri="{BB962C8B-B14F-4D97-AF65-F5344CB8AC3E}">
        <p14:creationId xmlns:p14="http://schemas.microsoft.com/office/powerpoint/2010/main" val="37002404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lstStyle/>
          <a:p>
            <a:r>
              <a:rPr lang="en-PK" b="1" dirty="0"/>
              <a:t>SelectKBest: </a:t>
            </a:r>
            <a:r>
              <a:rPr lang="en-GB" b="0" i="0" dirty="0">
                <a:solidFill>
                  <a:srgbClr val="FFFFFF"/>
                </a:solidFill>
                <a:effectLst/>
                <a:latin typeface="Google Sans"/>
              </a:rPr>
              <a:t>Use statistical measures to score each feature based on its relationship with the target variable</a:t>
            </a:r>
            <a:endParaRPr lang="en-PK" b="1" dirty="0"/>
          </a:p>
        </p:txBody>
      </p:sp>
      <p:sp>
        <p:nvSpPr>
          <p:cNvPr id="4" name="Slide Number Placeholder 3"/>
          <p:cNvSpPr>
            <a:spLocks noGrp="1"/>
          </p:cNvSpPr>
          <p:nvPr>
            <p:ph type="sldNum" sz="quarter" idx="5"/>
          </p:nvPr>
        </p:nvSpPr>
        <p:spPr/>
        <p:txBody>
          <a:bodyPr/>
          <a:lstStyle/>
          <a:p>
            <a:fld id="{A9A0EA98-5831-4853-B862-C702E6EB345C}" type="slidenum">
              <a:rPr lang="en-US" smtClean="0"/>
              <a:t>5</a:t>
            </a:fld>
            <a:endParaRPr lang="en-US"/>
          </a:p>
        </p:txBody>
      </p:sp>
    </p:spTree>
    <p:extLst>
      <p:ext uri="{BB962C8B-B14F-4D97-AF65-F5344CB8AC3E}">
        <p14:creationId xmlns:p14="http://schemas.microsoft.com/office/powerpoint/2010/main" val="37064230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lstStyle/>
          <a:p>
            <a:r>
              <a:rPr lang="en-GB" b="1" dirty="0">
                <a:effectLst/>
                <a:latin typeface="Google Sans Text"/>
              </a:rPr>
              <a:t>Pearson Correlation Coefficient</a:t>
            </a:r>
            <a:r>
              <a:rPr lang="en-GB" dirty="0"/>
              <a:t> (</a:t>
            </a:r>
            <a:r>
              <a:rPr lang="en-GB" dirty="0">
                <a:effectLst/>
                <a:latin typeface="Google Sans Text"/>
              </a:rPr>
              <a:t>r</a:t>
            </a:r>
            <a:r>
              <a:rPr lang="en-GB" dirty="0"/>
              <a:t>), which measures the linear relationship between two variables. The values always range from </a:t>
            </a:r>
            <a:r>
              <a:rPr lang="en-GB" b="1" dirty="0">
                <a:effectLst/>
                <a:latin typeface="Google Sans Text"/>
              </a:rPr>
              <a:t>-1 to 1</a:t>
            </a:r>
          </a:p>
          <a:p>
            <a:endParaRPr lang="en-GB" b="1" dirty="0">
              <a:effectLst/>
              <a:latin typeface="Google Sans Text"/>
            </a:endParaRPr>
          </a:p>
          <a:p>
            <a:r>
              <a:rPr lang="en-GB" b="1" dirty="0"/>
              <a:t>+1.00 (Dark Red):</a:t>
            </a:r>
            <a:r>
              <a:rPr lang="en-GB" dirty="0"/>
              <a:t> Perfect positive correlation. As one variable goes up, the other goes up in a perfectly predictable way.</a:t>
            </a:r>
          </a:p>
          <a:p>
            <a:r>
              <a:rPr lang="en-GB" b="1" dirty="0"/>
              <a:t>0.00 (Light Blue/Grey):</a:t>
            </a:r>
            <a:r>
              <a:rPr lang="en-GB" dirty="0"/>
              <a:t> No linear relationship. The variables don't seem to influence each other.</a:t>
            </a:r>
          </a:p>
          <a:p>
            <a:r>
              <a:rPr lang="en-GB" b="1" dirty="0"/>
              <a:t>-1.00 (Dark Blue):</a:t>
            </a:r>
            <a:r>
              <a:rPr lang="en-GB" dirty="0"/>
              <a:t> Perfect negative correlation. As one variable goes up, the other goes down.</a:t>
            </a:r>
          </a:p>
          <a:p>
            <a:endParaRPr lang="en-PK" dirty="0"/>
          </a:p>
        </p:txBody>
      </p:sp>
      <p:sp>
        <p:nvSpPr>
          <p:cNvPr id="4" name="Slide Number Placeholder 3"/>
          <p:cNvSpPr>
            <a:spLocks noGrp="1"/>
          </p:cNvSpPr>
          <p:nvPr>
            <p:ph type="sldNum" sz="quarter" idx="5"/>
          </p:nvPr>
        </p:nvSpPr>
        <p:spPr/>
        <p:txBody>
          <a:bodyPr/>
          <a:lstStyle/>
          <a:p>
            <a:fld id="{A9A0EA98-5831-4853-B862-C702E6EB345C}" type="slidenum">
              <a:rPr lang="en-US" smtClean="0"/>
              <a:t>7</a:t>
            </a:fld>
            <a:endParaRPr lang="en-US"/>
          </a:p>
        </p:txBody>
      </p:sp>
    </p:spTree>
    <p:extLst>
      <p:ext uri="{BB962C8B-B14F-4D97-AF65-F5344CB8AC3E}">
        <p14:creationId xmlns:p14="http://schemas.microsoft.com/office/powerpoint/2010/main" val="26044151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lstStyle/>
          <a:p>
            <a:r>
              <a:rPr lang="en-GB" dirty="0"/>
              <a:t>Crime peaks in mid-2024 and drops in early 2025.</a:t>
            </a:r>
            <a:endParaRPr lang="en-PK" dirty="0"/>
          </a:p>
        </p:txBody>
      </p:sp>
      <p:sp>
        <p:nvSpPr>
          <p:cNvPr id="4" name="Slide Number Placeholder 3"/>
          <p:cNvSpPr>
            <a:spLocks noGrp="1"/>
          </p:cNvSpPr>
          <p:nvPr>
            <p:ph type="sldNum" sz="quarter" idx="5"/>
          </p:nvPr>
        </p:nvSpPr>
        <p:spPr/>
        <p:txBody>
          <a:bodyPr/>
          <a:lstStyle/>
          <a:p>
            <a:fld id="{A9A0EA98-5831-4853-B862-C702E6EB345C}" type="slidenum">
              <a:rPr lang="en-US" smtClean="0"/>
              <a:t>9</a:t>
            </a:fld>
            <a:endParaRPr lang="en-US"/>
          </a:p>
        </p:txBody>
      </p:sp>
    </p:spTree>
    <p:extLst>
      <p:ext uri="{BB962C8B-B14F-4D97-AF65-F5344CB8AC3E}">
        <p14:creationId xmlns:p14="http://schemas.microsoft.com/office/powerpoint/2010/main" val="27835262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lstStyle/>
          <a:p>
            <a:r>
              <a:rPr lang="en-GB" b="1" dirty="0"/>
              <a:t>Longitude (X-axis)</a:t>
            </a:r>
          </a:p>
          <a:p>
            <a:pPr>
              <a:buFont typeface="Arial" panose="020B0604020202020204" pitchFamily="34" charset="0"/>
              <a:buChar char="•"/>
            </a:pPr>
            <a:r>
              <a:rPr lang="en-GB" dirty="0"/>
              <a:t>Moves </a:t>
            </a:r>
            <a:r>
              <a:rPr lang="en-GB" b="1" dirty="0"/>
              <a:t>left → west</a:t>
            </a:r>
            <a:r>
              <a:rPr lang="en-GB" dirty="0"/>
              <a:t> </a:t>
            </a:r>
          </a:p>
          <a:p>
            <a:pPr>
              <a:buFont typeface="Arial" panose="020B0604020202020204" pitchFamily="34" charset="0"/>
              <a:buChar char="•"/>
            </a:pPr>
            <a:r>
              <a:rPr lang="en-GB" dirty="0"/>
              <a:t>Moves </a:t>
            </a:r>
            <a:r>
              <a:rPr lang="en-GB" b="1" dirty="0"/>
              <a:t>right → east</a:t>
            </a:r>
            <a:r>
              <a:rPr lang="en-GB" dirty="0"/>
              <a:t> </a:t>
            </a:r>
          </a:p>
          <a:p>
            <a:r>
              <a:rPr lang="en-GB" dirty="0"/>
              <a:t>Examples:</a:t>
            </a:r>
          </a:p>
          <a:p>
            <a:pPr>
              <a:buFont typeface="Arial" panose="020B0604020202020204" pitchFamily="34" charset="0"/>
              <a:buChar char="•"/>
            </a:pPr>
            <a:r>
              <a:rPr lang="en-GB" dirty="0"/>
              <a:t>-5 = far west (like Wales side) </a:t>
            </a:r>
          </a:p>
          <a:p>
            <a:pPr>
              <a:buFont typeface="Arial" panose="020B0604020202020204" pitchFamily="34" charset="0"/>
              <a:buChar char="•"/>
            </a:pPr>
            <a:r>
              <a:rPr lang="en-GB" dirty="0"/>
              <a:t>-2 = central UK (Manchester area) </a:t>
            </a:r>
          </a:p>
          <a:p>
            <a:pPr>
              <a:buFont typeface="Arial" panose="020B0604020202020204" pitchFamily="34" charset="0"/>
              <a:buChar char="•"/>
            </a:pPr>
            <a:r>
              <a:rPr lang="en-GB" dirty="0"/>
              <a:t>0 = east side (London region) </a:t>
            </a:r>
          </a:p>
          <a:p>
            <a:r>
              <a:rPr lang="en-GB" b="1" dirty="0"/>
              <a:t>Latitude (Y-axis)</a:t>
            </a:r>
          </a:p>
          <a:p>
            <a:pPr>
              <a:buFont typeface="Arial" panose="020B0604020202020204" pitchFamily="34" charset="0"/>
              <a:buChar char="•"/>
            </a:pPr>
            <a:r>
              <a:rPr lang="en-GB" dirty="0"/>
              <a:t>Moves </a:t>
            </a:r>
            <a:r>
              <a:rPr lang="en-GB" b="1" dirty="0"/>
              <a:t>down → south</a:t>
            </a:r>
            <a:r>
              <a:rPr lang="en-GB" dirty="0"/>
              <a:t> </a:t>
            </a:r>
          </a:p>
          <a:p>
            <a:pPr>
              <a:buFont typeface="Arial" panose="020B0604020202020204" pitchFamily="34" charset="0"/>
              <a:buChar char="•"/>
            </a:pPr>
            <a:r>
              <a:rPr lang="en-GB" dirty="0"/>
              <a:t>Moves </a:t>
            </a:r>
            <a:r>
              <a:rPr lang="en-GB" b="1" dirty="0"/>
              <a:t>up → north</a:t>
            </a:r>
            <a:r>
              <a:rPr lang="en-GB" dirty="0"/>
              <a:t> </a:t>
            </a:r>
          </a:p>
          <a:p>
            <a:r>
              <a:rPr lang="en-GB" dirty="0"/>
              <a:t>Examples:</a:t>
            </a:r>
          </a:p>
          <a:p>
            <a:pPr>
              <a:buFont typeface="Arial" panose="020B0604020202020204" pitchFamily="34" charset="0"/>
              <a:buChar char="•"/>
            </a:pPr>
            <a:r>
              <a:rPr lang="en-GB" dirty="0"/>
              <a:t>51.5 = London area </a:t>
            </a:r>
          </a:p>
          <a:p>
            <a:pPr>
              <a:buFont typeface="Arial" panose="020B0604020202020204" pitchFamily="34" charset="0"/>
              <a:buChar char="•"/>
            </a:pPr>
            <a:r>
              <a:rPr lang="en-GB" dirty="0"/>
              <a:t>52.5 = Midlands / Manchester </a:t>
            </a:r>
          </a:p>
          <a:p>
            <a:pPr>
              <a:buFont typeface="Arial" panose="020B0604020202020204" pitchFamily="34" charset="0"/>
              <a:buChar char="•"/>
            </a:pPr>
            <a:r>
              <a:rPr lang="en-GB" dirty="0"/>
              <a:t>54+ = northern UK</a:t>
            </a:r>
          </a:p>
          <a:p>
            <a:endParaRPr lang="en-PK" dirty="0"/>
          </a:p>
        </p:txBody>
      </p:sp>
      <p:sp>
        <p:nvSpPr>
          <p:cNvPr id="4" name="Slide Number Placeholder 3"/>
          <p:cNvSpPr>
            <a:spLocks noGrp="1"/>
          </p:cNvSpPr>
          <p:nvPr>
            <p:ph type="sldNum" sz="quarter" idx="5"/>
          </p:nvPr>
        </p:nvSpPr>
        <p:spPr/>
        <p:txBody>
          <a:bodyPr/>
          <a:lstStyle/>
          <a:p>
            <a:fld id="{A9A0EA98-5831-4853-B862-C702E6EB345C}" type="slidenum">
              <a:rPr lang="en-US" smtClean="0"/>
              <a:t>13</a:t>
            </a:fld>
            <a:endParaRPr lang="en-US"/>
          </a:p>
        </p:txBody>
      </p:sp>
    </p:spTree>
    <p:extLst>
      <p:ext uri="{BB962C8B-B14F-4D97-AF65-F5344CB8AC3E}">
        <p14:creationId xmlns:p14="http://schemas.microsoft.com/office/powerpoint/2010/main" val="27217129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lstStyle/>
          <a:p>
            <a:r>
              <a:rPr lang="en-GB" dirty="0"/>
              <a:t>Here we answer Research Question 1: Which areas are crime hotspots?</a:t>
            </a:r>
            <a:br>
              <a:rPr lang="en-GB" dirty="0"/>
            </a:br>
            <a:r>
              <a:rPr lang="en-GB" dirty="0"/>
              <a:t>Since crime is unevenly spread, clustering helps us group similar areas and find regions with high crime concentration</a:t>
            </a:r>
            <a:endParaRPr lang="en-GB" b="1" dirty="0"/>
          </a:p>
          <a:p>
            <a:endParaRPr lang="en-GB" b="1" dirty="0"/>
          </a:p>
          <a:p>
            <a:r>
              <a:rPr lang="en-GB" b="1" dirty="0"/>
              <a:t>What K-Means does</a:t>
            </a:r>
          </a:p>
          <a:p>
            <a:r>
              <a:rPr lang="en-GB" dirty="0"/>
              <a:t>K-Means:</a:t>
            </a:r>
          </a:p>
          <a:p>
            <a:pPr>
              <a:buFont typeface="Arial" panose="020B0604020202020204" pitchFamily="34" charset="0"/>
              <a:buChar char="•"/>
            </a:pPr>
            <a:r>
              <a:rPr lang="en-GB" dirty="0"/>
              <a:t>Divides data into </a:t>
            </a:r>
            <a:r>
              <a:rPr lang="en-GB" b="1" dirty="0"/>
              <a:t>K fixed clusters</a:t>
            </a:r>
            <a:r>
              <a:rPr lang="en-GB" dirty="0"/>
              <a:t> </a:t>
            </a:r>
          </a:p>
          <a:p>
            <a:pPr>
              <a:buFont typeface="Arial" panose="020B0604020202020204" pitchFamily="34" charset="0"/>
              <a:buChar char="•"/>
            </a:pPr>
            <a:r>
              <a:rPr lang="en-GB" b="1" dirty="0"/>
              <a:t>Each cluster has a </a:t>
            </a:r>
            <a:r>
              <a:rPr lang="en-GB" b="1" dirty="0" err="1"/>
              <a:t>center</a:t>
            </a:r>
            <a:r>
              <a:rPr lang="en-GB" b="1" dirty="0"/>
              <a:t> (</a:t>
            </a:r>
            <a:r>
              <a:rPr lang="en-GB" b="1" i="1" dirty="0"/>
              <a:t>centroid</a:t>
            </a:r>
            <a:r>
              <a:rPr lang="en-GB" b="1" dirty="0"/>
              <a:t>) </a:t>
            </a:r>
          </a:p>
          <a:p>
            <a:pPr>
              <a:buFont typeface="Arial" panose="020B0604020202020204" pitchFamily="34" charset="0"/>
              <a:buChar char="•"/>
            </a:pPr>
            <a:r>
              <a:rPr lang="en-GB" dirty="0"/>
              <a:t>Points are assigned to the nearest </a:t>
            </a:r>
            <a:r>
              <a:rPr lang="en-GB" dirty="0" err="1"/>
              <a:t>center</a:t>
            </a:r>
            <a:r>
              <a:rPr lang="en-GB" dirty="0"/>
              <a:t> </a:t>
            </a:r>
          </a:p>
          <a:p>
            <a:r>
              <a:rPr lang="en-GB" b="1" dirty="0"/>
              <a:t>Key assumption:</a:t>
            </a:r>
          </a:p>
          <a:p>
            <a:r>
              <a:rPr lang="en-GB" dirty="0"/>
              <a:t>Clusters are:</a:t>
            </a:r>
          </a:p>
          <a:p>
            <a:pPr>
              <a:buFont typeface="Arial" panose="020B0604020202020204" pitchFamily="34" charset="0"/>
              <a:buChar char="•"/>
            </a:pPr>
            <a:r>
              <a:rPr lang="en-GB" dirty="0"/>
              <a:t>Circular </a:t>
            </a:r>
          </a:p>
          <a:p>
            <a:pPr>
              <a:buFont typeface="Arial" panose="020B0604020202020204" pitchFamily="34" charset="0"/>
              <a:buChar char="•"/>
            </a:pPr>
            <a:r>
              <a:rPr lang="en-GB" dirty="0"/>
              <a:t>Similar size </a:t>
            </a:r>
          </a:p>
          <a:p>
            <a:pPr>
              <a:buFont typeface="Arial" panose="020B0604020202020204" pitchFamily="34" charset="0"/>
              <a:buChar char="•"/>
            </a:pPr>
            <a:r>
              <a:rPr lang="en-GB" dirty="0"/>
              <a:t>Evenly distributed</a:t>
            </a:r>
          </a:p>
          <a:p>
            <a:endParaRPr lang="en-PK" dirty="0"/>
          </a:p>
          <a:p>
            <a:endParaRPr lang="en-PK" dirty="0"/>
          </a:p>
          <a:p>
            <a:r>
              <a:rPr lang="en-GB" b="1" dirty="0"/>
              <a:t>What DBSCAN does</a:t>
            </a:r>
          </a:p>
          <a:p>
            <a:r>
              <a:rPr lang="en-GB" dirty="0"/>
              <a:t>DBSCAN groups points based on </a:t>
            </a:r>
            <a:r>
              <a:rPr lang="en-GB" b="1" dirty="0"/>
              <a:t>density</a:t>
            </a:r>
            <a:r>
              <a:rPr lang="en-GB" dirty="0"/>
              <a:t>, not distance to a </a:t>
            </a:r>
            <a:r>
              <a:rPr lang="en-GB" dirty="0" err="1"/>
              <a:t>center</a:t>
            </a:r>
            <a:r>
              <a:rPr lang="en-GB" dirty="0"/>
              <a:t>.</a:t>
            </a:r>
          </a:p>
          <a:p>
            <a:r>
              <a:rPr lang="en-GB" dirty="0"/>
              <a:t>It uses two main ideas:</a:t>
            </a:r>
          </a:p>
          <a:p>
            <a:pPr>
              <a:buFont typeface="Arial" panose="020B0604020202020204" pitchFamily="34" charset="0"/>
              <a:buChar char="•"/>
            </a:pPr>
            <a:r>
              <a:rPr lang="en-GB" dirty="0"/>
              <a:t> Points close together → cluster </a:t>
            </a:r>
          </a:p>
          <a:p>
            <a:pPr>
              <a:buFont typeface="Arial" panose="020B0604020202020204" pitchFamily="34" charset="0"/>
              <a:buChar char="•"/>
            </a:pPr>
            <a:r>
              <a:rPr lang="en-GB" dirty="0"/>
              <a:t> Sparse points → noise</a:t>
            </a:r>
          </a:p>
          <a:p>
            <a:endParaRPr lang="en-PK" dirty="0"/>
          </a:p>
          <a:p>
            <a:endParaRPr lang="en-PK" dirty="0"/>
          </a:p>
          <a:p>
            <a:r>
              <a:rPr lang="en-PK" dirty="0"/>
              <a:t>Silhouette Score: Goodness of clustering.</a:t>
            </a:r>
          </a:p>
          <a:p>
            <a:r>
              <a:rPr lang="en-GB" b="0" i="0" dirty="0">
                <a:solidFill>
                  <a:srgbClr val="EEF0FF"/>
                </a:solidFill>
                <a:effectLst/>
                <a:latin typeface="Google Sans"/>
              </a:rPr>
              <a:t>how similar a data point is to its own cluster</a:t>
            </a:r>
            <a:endParaRPr lang="en-PK" dirty="0"/>
          </a:p>
        </p:txBody>
      </p:sp>
      <p:sp>
        <p:nvSpPr>
          <p:cNvPr id="4" name="Slide Number Placeholder 3"/>
          <p:cNvSpPr>
            <a:spLocks noGrp="1"/>
          </p:cNvSpPr>
          <p:nvPr>
            <p:ph type="sldNum" sz="quarter" idx="5"/>
          </p:nvPr>
        </p:nvSpPr>
        <p:spPr/>
        <p:txBody>
          <a:bodyPr/>
          <a:lstStyle/>
          <a:p>
            <a:fld id="{A9A0EA98-5831-4853-B862-C702E6EB345C}" type="slidenum">
              <a:rPr lang="en-US" smtClean="0"/>
              <a:t>14</a:t>
            </a:fld>
            <a:endParaRPr lang="en-US"/>
          </a:p>
        </p:txBody>
      </p:sp>
    </p:spTree>
    <p:extLst>
      <p:ext uri="{BB962C8B-B14F-4D97-AF65-F5344CB8AC3E}">
        <p14:creationId xmlns:p14="http://schemas.microsoft.com/office/powerpoint/2010/main" val="33389811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lstStyle/>
          <a:p>
            <a:r>
              <a:rPr lang="en-GB" dirty="0" err="1"/>
              <a:t>KMeans</a:t>
            </a:r>
            <a:r>
              <a:rPr lang="en-GB" dirty="0"/>
              <a:t> divides the data into four groups based on similarity.</a:t>
            </a:r>
            <a:br>
              <a:rPr lang="en-GB" dirty="0"/>
            </a:br>
            <a:r>
              <a:rPr lang="en-GB" dirty="0"/>
              <a:t>It gives a basic understanding of crime distribution, but the silhouette score is low, meaning the clusters are not very strong.</a:t>
            </a:r>
            <a:endParaRPr lang="en-PK" dirty="0"/>
          </a:p>
        </p:txBody>
      </p:sp>
      <p:sp>
        <p:nvSpPr>
          <p:cNvPr id="4" name="Slide Number Placeholder 3"/>
          <p:cNvSpPr>
            <a:spLocks noGrp="1"/>
          </p:cNvSpPr>
          <p:nvPr>
            <p:ph type="sldNum" sz="quarter" idx="5"/>
          </p:nvPr>
        </p:nvSpPr>
        <p:spPr/>
        <p:txBody>
          <a:bodyPr/>
          <a:lstStyle/>
          <a:p>
            <a:fld id="{A9A0EA98-5831-4853-B862-C702E6EB345C}" type="slidenum">
              <a:rPr lang="en-US" smtClean="0"/>
              <a:t>15</a:t>
            </a:fld>
            <a:endParaRPr lang="en-US"/>
          </a:p>
        </p:txBody>
      </p:sp>
    </p:spTree>
    <p:extLst>
      <p:ext uri="{BB962C8B-B14F-4D97-AF65-F5344CB8AC3E}">
        <p14:creationId xmlns:p14="http://schemas.microsoft.com/office/powerpoint/2010/main" val="35818801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GB" dirty="0"/>
              <a:t>DBSCAN performed much better than </a:t>
            </a:r>
            <a:r>
              <a:rPr lang="en-GB" dirty="0" err="1"/>
              <a:t>KMeans</a:t>
            </a:r>
            <a:r>
              <a:rPr lang="en-GB" dirty="0"/>
              <a:t>.</a:t>
            </a:r>
            <a:br>
              <a:rPr lang="en-GB" dirty="0"/>
            </a:br>
            <a:r>
              <a:rPr lang="en-GB" dirty="0"/>
              <a:t>It identifies dense crime hotspots and also detects outliers.</a:t>
            </a:r>
            <a:br>
              <a:rPr lang="en-GB" dirty="0"/>
            </a:br>
            <a:r>
              <a:rPr lang="en-GB" dirty="0"/>
              <a:t>Cluster 2 clearly represents high-crime areas, while -1 shows unusual or isolated regions.”</a:t>
            </a:r>
          </a:p>
          <a:p>
            <a:endParaRPr lang="en-PK" dirty="0"/>
          </a:p>
        </p:txBody>
      </p:sp>
      <p:sp>
        <p:nvSpPr>
          <p:cNvPr id="4" name="Slide Number Placeholder 3"/>
          <p:cNvSpPr>
            <a:spLocks noGrp="1"/>
          </p:cNvSpPr>
          <p:nvPr>
            <p:ph type="sldNum" sz="quarter" idx="5"/>
          </p:nvPr>
        </p:nvSpPr>
        <p:spPr/>
        <p:txBody>
          <a:bodyPr/>
          <a:lstStyle/>
          <a:p>
            <a:fld id="{A9A0EA98-5831-4853-B862-C702E6EB345C}" type="slidenum">
              <a:rPr lang="en-US" smtClean="0"/>
              <a:t>16</a:t>
            </a:fld>
            <a:endParaRPr lang="en-US"/>
          </a:p>
        </p:txBody>
      </p:sp>
    </p:spTree>
    <p:extLst>
      <p:ext uri="{BB962C8B-B14F-4D97-AF65-F5344CB8AC3E}">
        <p14:creationId xmlns:p14="http://schemas.microsoft.com/office/powerpoint/2010/main" val="25465601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lstStyle/>
          <a:p>
            <a:r>
              <a:rPr lang="en-GB" dirty="0"/>
              <a:t>To answer Research Question 2, we tested two models. Linear Regression was used as a simple baseline, while Random Forest was used because crime data is often complex and non-linear</a:t>
            </a:r>
          </a:p>
          <a:p>
            <a:endParaRPr lang="en-GB" dirty="0"/>
          </a:p>
          <a:p>
            <a:r>
              <a:rPr lang="en-GB" dirty="0"/>
              <a:t>For RQ2, two regression models were used: Linear Regression and Random Forest. The goal is to predict crime count for the next month based on </a:t>
            </a:r>
            <a:r>
              <a:rPr lang="en-GB" b="1" dirty="0"/>
              <a:t>historical and spatial features</a:t>
            </a:r>
            <a:r>
              <a:rPr lang="en-GB" dirty="0"/>
              <a:t>. Linear Regression provides a simple baseline by </a:t>
            </a:r>
            <a:r>
              <a:rPr lang="en-GB" dirty="0" err="1"/>
              <a:t>modeling</a:t>
            </a:r>
            <a:r>
              <a:rPr lang="en-GB" dirty="0"/>
              <a:t> linear relationships, while Random Forest captures more complex patterns and interactions in the data. This comparison helps evaluate whether crime patterns are simple or require more advanced </a:t>
            </a:r>
            <a:r>
              <a:rPr lang="en-GB" dirty="0" err="1"/>
              <a:t>modeling</a:t>
            </a:r>
            <a:r>
              <a:rPr lang="en-GB" dirty="0"/>
              <a:t> techniques.</a:t>
            </a:r>
          </a:p>
          <a:p>
            <a:endParaRPr lang="en-GB" b="1" dirty="0"/>
          </a:p>
          <a:p>
            <a:r>
              <a:rPr lang="en-GB" b="1" dirty="0"/>
              <a:t>Strengths</a:t>
            </a:r>
          </a:p>
          <a:p>
            <a:pPr>
              <a:buFont typeface="Arial" panose="020B0604020202020204" pitchFamily="34" charset="0"/>
              <a:buChar char="•"/>
            </a:pPr>
            <a:r>
              <a:rPr lang="en-GB" dirty="0"/>
              <a:t>Simple and easy to understand </a:t>
            </a:r>
          </a:p>
          <a:p>
            <a:pPr>
              <a:buFont typeface="Arial" panose="020B0604020202020204" pitchFamily="34" charset="0"/>
              <a:buChar char="•"/>
            </a:pPr>
            <a:r>
              <a:rPr lang="en-GB" dirty="0"/>
              <a:t>Fast </a:t>
            </a:r>
          </a:p>
          <a:p>
            <a:pPr>
              <a:buFont typeface="Arial" panose="020B0604020202020204" pitchFamily="34" charset="0"/>
              <a:buChar char="•"/>
            </a:pPr>
            <a:r>
              <a:rPr lang="en-GB" dirty="0"/>
              <a:t>Good baseline model </a:t>
            </a:r>
          </a:p>
          <a:p>
            <a:r>
              <a:rPr lang="en-GB" b="1" dirty="0"/>
              <a:t>Weaknesses (important)</a:t>
            </a:r>
          </a:p>
          <a:p>
            <a:pPr>
              <a:buFont typeface="Arial" panose="020B0604020202020204" pitchFamily="34" charset="0"/>
              <a:buChar char="•"/>
            </a:pPr>
            <a:r>
              <a:rPr lang="en-GB" dirty="0"/>
              <a:t>Cannot capture complex patterns </a:t>
            </a:r>
          </a:p>
          <a:p>
            <a:pPr>
              <a:buFont typeface="Arial" panose="020B0604020202020204" pitchFamily="34" charset="0"/>
              <a:buChar char="•"/>
            </a:pPr>
            <a:r>
              <a:rPr lang="en-GB" dirty="0"/>
              <a:t>Struggles with: </a:t>
            </a:r>
          </a:p>
          <a:p>
            <a:pPr marL="742950" lvl="1" indent="-285750">
              <a:buFont typeface="Arial" panose="020B0604020202020204" pitchFamily="34" charset="0"/>
              <a:buChar char="•"/>
            </a:pPr>
            <a:r>
              <a:rPr lang="en-GB" dirty="0"/>
              <a:t>Non-linear data </a:t>
            </a:r>
          </a:p>
          <a:p>
            <a:pPr marL="742950" lvl="1" indent="-285750">
              <a:buFont typeface="Arial" panose="020B0604020202020204" pitchFamily="34" charset="0"/>
              <a:buChar char="•"/>
            </a:pPr>
            <a:r>
              <a:rPr lang="en-GB" dirty="0"/>
              <a:t>Interactions between features </a:t>
            </a:r>
          </a:p>
          <a:p>
            <a:pPr>
              <a:buFont typeface="Arial" panose="020B0604020202020204" pitchFamily="34" charset="0"/>
              <a:buChar char="•"/>
            </a:pPr>
            <a:r>
              <a:rPr lang="en-GB" dirty="0"/>
              <a:t>Sensitive to multicollinearity (you saw this in heatmap)</a:t>
            </a:r>
          </a:p>
          <a:p>
            <a:endParaRPr lang="en-PK" dirty="0"/>
          </a:p>
          <a:p>
            <a:endParaRPr lang="en-GB" b="1" dirty="0"/>
          </a:p>
          <a:p>
            <a:r>
              <a:rPr lang="en-GB" b="1" dirty="0"/>
              <a:t>What it does</a:t>
            </a:r>
          </a:p>
          <a:p>
            <a:r>
              <a:rPr lang="en-GB" dirty="0"/>
              <a:t>Random Forest is:</a:t>
            </a:r>
          </a:p>
          <a:p>
            <a:r>
              <a:rPr lang="en-GB" dirty="0"/>
              <a:t>A collection of many decision trees</a:t>
            </a:r>
          </a:p>
          <a:p>
            <a:r>
              <a:rPr lang="en-GB" dirty="0"/>
              <a:t>Each tree:</a:t>
            </a:r>
          </a:p>
          <a:p>
            <a:pPr>
              <a:buFont typeface="Arial" panose="020B0604020202020204" pitchFamily="34" charset="0"/>
              <a:buChar char="•"/>
            </a:pPr>
            <a:r>
              <a:rPr lang="en-GB" dirty="0"/>
              <a:t>Makes a prediction </a:t>
            </a:r>
          </a:p>
          <a:p>
            <a:pPr>
              <a:buFont typeface="Arial" panose="020B0604020202020204" pitchFamily="34" charset="0"/>
              <a:buChar char="•"/>
            </a:pPr>
            <a:r>
              <a:rPr lang="en-GB" dirty="0"/>
              <a:t>Final result = average of all trees </a:t>
            </a:r>
          </a:p>
          <a:p>
            <a:endParaRPr lang="en-PK" dirty="0"/>
          </a:p>
        </p:txBody>
      </p:sp>
      <p:sp>
        <p:nvSpPr>
          <p:cNvPr id="4" name="Slide Number Placeholder 3"/>
          <p:cNvSpPr>
            <a:spLocks noGrp="1"/>
          </p:cNvSpPr>
          <p:nvPr>
            <p:ph type="sldNum" sz="quarter" idx="5"/>
          </p:nvPr>
        </p:nvSpPr>
        <p:spPr/>
        <p:txBody>
          <a:bodyPr/>
          <a:lstStyle/>
          <a:p>
            <a:fld id="{A9A0EA98-5831-4853-B862-C702E6EB345C}" type="slidenum">
              <a:rPr lang="en-US" smtClean="0"/>
              <a:t>17</a:t>
            </a:fld>
            <a:endParaRPr lang="en-US"/>
          </a:p>
        </p:txBody>
      </p:sp>
    </p:spTree>
    <p:extLst>
      <p:ext uri="{BB962C8B-B14F-4D97-AF65-F5344CB8AC3E}">
        <p14:creationId xmlns:p14="http://schemas.microsoft.com/office/powerpoint/2010/main" val="14199395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lstStyle/>
          <a:p>
            <a:r>
              <a:rPr lang="en-GB" b="1" dirty="0"/>
              <a:t>How to understand RMSE</a:t>
            </a:r>
          </a:p>
          <a:p>
            <a:pPr>
              <a:buFont typeface="Arial" panose="020B0604020202020204" pitchFamily="34" charset="0"/>
              <a:buChar char="•"/>
            </a:pPr>
            <a:r>
              <a:rPr lang="en-GB" dirty="0"/>
              <a:t>Lower RMSE = </a:t>
            </a:r>
            <a:r>
              <a:rPr lang="en-GB" b="1" dirty="0"/>
              <a:t>better model</a:t>
            </a:r>
            <a:r>
              <a:rPr lang="en-GB" dirty="0"/>
              <a:t> </a:t>
            </a:r>
          </a:p>
          <a:p>
            <a:pPr>
              <a:buFont typeface="Arial" panose="020B0604020202020204" pitchFamily="34" charset="0"/>
              <a:buChar char="•"/>
            </a:pPr>
            <a:r>
              <a:rPr lang="en-GB" dirty="0"/>
              <a:t>Higher RMSE = </a:t>
            </a:r>
            <a:r>
              <a:rPr lang="en-GB" b="1" dirty="0"/>
              <a:t>worse model</a:t>
            </a:r>
            <a:r>
              <a:rPr lang="en-GB" dirty="0"/>
              <a:t> </a:t>
            </a:r>
          </a:p>
          <a:p>
            <a:endParaRPr lang="en-PK" dirty="0"/>
          </a:p>
        </p:txBody>
      </p:sp>
      <p:sp>
        <p:nvSpPr>
          <p:cNvPr id="4" name="Slide Number Placeholder 3"/>
          <p:cNvSpPr>
            <a:spLocks noGrp="1"/>
          </p:cNvSpPr>
          <p:nvPr>
            <p:ph type="sldNum" sz="quarter" idx="5"/>
          </p:nvPr>
        </p:nvSpPr>
        <p:spPr/>
        <p:txBody>
          <a:bodyPr/>
          <a:lstStyle/>
          <a:p>
            <a:fld id="{A9A0EA98-5831-4853-B862-C702E6EB345C}" type="slidenum">
              <a:rPr lang="en-US" smtClean="0"/>
              <a:t>18</a:t>
            </a:fld>
            <a:endParaRPr lang="en-US"/>
          </a:p>
        </p:txBody>
      </p:sp>
    </p:spTree>
    <p:extLst>
      <p:ext uri="{BB962C8B-B14F-4D97-AF65-F5344CB8AC3E}">
        <p14:creationId xmlns:p14="http://schemas.microsoft.com/office/powerpoint/2010/main" val="11107695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lstStyle/>
          <a:p>
            <a:r>
              <a:rPr lang="en-GB" dirty="0"/>
              <a:t>This plot compares actual and predicted crime values for the Random Forest model. The red line represents perfect predictions. Most points lie close to this line, indicating strong model performance, especially for low and medium crime levels. However, at higher crime values, the points are more spread out and often fall below the line, showing that the model tends to underestimate extreme cases. This suggests that while the model performs well overall, predicting very high crime levels remains more challenging.</a:t>
            </a:r>
            <a:endParaRPr lang="en-PK" dirty="0"/>
          </a:p>
        </p:txBody>
      </p:sp>
      <p:sp>
        <p:nvSpPr>
          <p:cNvPr id="4" name="Slide Number Placeholder 3"/>
          <p:cNvSpPr>
            <a:spLocks noGrp="1"/>
          </p:cNvSpPr>
          <p:nvPr>
            <p:ph type="sldNum" sz="quarter" idx="5"/>
          </p:nvPr>
        </p:nvSpPr>
        <p:spPr/>
        <p:txBody>
          <a:bodyPr/>
          <a:lstStyle/>
          <a:p>
            <a:fld id="{A9A0EA98-5831-4853-B862-C702E6EB345C}" type="slidenum">
              <a:rPr lang="en-US" smtClean="0"/>
              <a:t>19</a:t>
            </a:fld>
            <a:endParaRPr lang="en-US"/>
          </a:p>
        </p:txBody>
      </p:sp>
    </p:spTree>
    <p:extLst>
      <p:ext uri="{BB962C8B-B14F-4D97-AF65-F5344CB8AC3E}">
        <p14:creationId xmlns:p14="http://schemas.microsoft.com/office/powerpoint/2010/main" val="6412474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lstStyle/>
          <a:p>
            <a:r>
              <a:rPr lang="en-GB" dirty="0"/>
              <a:t>The model performed very well on training data but worse on unseen data, meaning it was overfitting</a:t>
            </a:r>
            <a:endParaRPr lang="en-PK" dirty="0"/>
          </a:p>
        </p:txBody>
      </p:sp>
      <p:sp>
        <p:nvSpPr>
          <p:cNvPr id="4" name="Slide Number Placeholder 3"/>
          <p:cNvSpPr>
            <a:spLocks noGrp="1"/>
          </p:cNvSpPr>
          <p:nvPr>
            <p:ph type="sldNum" sz="quarter" idx="5"/>
          </p:nvPr>
        </p:nvSpPr>
        <p:spPr/>
        <p:txBody>
          <a:bodyPr/>
          <a:lstStyle/>
          <a:p>
            <a:fld id="{A9A0EA98-5831-4853-B862-C702E6EB345C}" type="slidenum">
              <a:rPr lang="en-US" smtClean="0"/>
              <a:t>20</a:t>
            </a:fld>
            <a:endParaRPr lang="en-US"/>
          </a:p>
        </p:txBody>
      </p:sp>
    </p:spTree>
    <p:extLst>
      <p:ext uri="{BB962C8B-B14F-4D97-AF65-F5344CB8AC3E}">
        <p14:creationId xmlns:p14="http://schemas.microsoft.com/office/powerpoint/2010/main" val="18838375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GB" b="1" dirty="0"/>
              <a:t>We tested → We compared → We validated → We found issue → We improved it</a:t>
            </a:r>
            <a:endParaRPr lang="en-GB" dirty="0"/>
          </a:p>
          <a:p>
            <a:endParaRPr lang="en-GB" dirty="0"/>
          </a:p>
          <a:p>
            <a:r>
              <a:rPr lang="en-GB" dirty="0"/>
              <a:t>Regularisation means:</a:t>
            </a:r>
          </a:p>
          <a:p>
            <a:pPr>
              <a:buFont typeface="Arial" panose="020B0604020202020204" pitchFamily="34" charset="0"/>
              <a:buChar char="•"/>
            </a:pPr>
            <a:r>
              <a:rPr lang="en-GB" dirty="0"/>
              <a:t>Limiting tree depth </a:t>
            </a:r>
          </a:p>
          <a:p>
            <a:pPr>
              <a:buFont typeface="Arial" panose="020B0604020202020204" pitchFamily="34" charset="0"/>
              <a:buChar char="•"/>
            </a:pPr>
            <a:r>
              <a:rPr lang="en-GB" dirty="0"/>
              <a:t>Reducing splits </a:t>
            </a:r>
          </a:p>
          <a:p>
            <a:pPr>
              <a:buFont typeface="Arial" panose="020B0604020202020204" pitchFamily="34" charset="0"/>
              <a:buChar char="•"/>
            </a:pPr>
            <a:r>
              <a:rPr lang="en-GB" dirty="0"/>
              <a:t>Making trees less complex</a:t>
            </a:r>
          </a:p>
          <a:p>
            <a:pPr>
              <a:buFont typeface="Arial" panose="020B0604020202020204" pitchFamily="34" charset="0"/>
              <a:buChar char="•"/>
            </a:pPr>
            <a:endParaRPr lang="en-GB" dirty="0"/>
          </a:p>
          <a:p>
            <a:r>
              <a:rPr lang="en-GB" dirty="0"/>
              <a:t>So instead of memorising data, the model:</a:t>
            </a:r>
          </a:p>
          <a:p>
            <a:r>
              <a:rPr lang="en-GB" dirty="0"/>
              <a:t>Learns more general patterns</a:t>
            </a:r>
          </a:p>
          <a:p>
            <a:endParaRPr lang="en-PK" dirty="0"/>
          </a:p>
          <a:p>
            <a:endParaRPr lang="en-PK" dirty="0"/>
          </a:p>
          <a:p>
            <a:r>
              <a:rPr lang="en-GB" b="1" dirty="0"/>
              <a:t>Your results </a:t>
            </a:r>
          </a:p>
          <a:p>
            <a:r>
              <a:rPr lang="en-GB" b="1" dirty="0"/>
              <a:t>Before (Overfitting slide)</a:t>
            </a:r>
          </a:p>
          <a:p>
            <a:pPr>
              <a:buFont typeface="Arial" panose="020B0604020202020204" pitchFamily="34" charset="0"/>
              <a:buChar char="•"/>
            </a:pPr>
            <a:r>
              <a:rPr lang="en-GB" dirty="0"/>
              <a:t>Train RMSE = </a:t>
            </a:r>
            <a:r>
              <a:rPr lang="en-GB" b="1" dirty="0"/>
              <a:t>1.83</a:t>
            </a:r>
            <a:r>
              <a:rPr lang="en-GB" dirty="0"/>
              <a:t> </a:t>
            </a:r>
          </a:p>
          <a:p>
            <a:pPr>
              <a:buFont typeface="Arial" panose="020B0604020202020204" pitchFamily="34" charset="0"/>
              <a:buChar char="•"/>
            </a:pPr>
            <a:r>
              <a:rPr lang="en-GB" dirty="0"/>
              <a:t>Test RMSE = </a:t>
            </a:r>
            <a:r>
              <a:rPr lang="en-GB" b="1" dirty="0"/>
              <a:t>4.84</a:t>
            </a:r>
            <a:r>
              <a:rPr lang="en-GB" dirty="0"/>
              <a:t> </a:t>
            </a:r>
          </a:p>
          <a:p>
            <a:r>
              <a:rPr lang="en-PK" dirty="0"/>
              <a:t>👉 </a:t>
            </a:r>
            <a:r>
              <a:rPr lang="en-GB" dirty="0"/>
              <a:t>Big gap → overfitting</a:t>
            </a:r>
          </a:p>
          <a:p>
            <a:r>
              <a:rPr lang="en-GB" b="1" dirty="0"/>
              <a:t>After Regularisation</a:t>
            </a:r>
          </a:p>
          <a:p>
            <a:pPr>
              <a:buFont typeface="Arial" panose="020B0604020202020204" pitchFamily="34" charset="0"/>
              <a:buChar char="•"/>
            </a:pPr>
            <a:r>
              <a:rPr lang="en-GB" dirty="0"/>
              <a:t>Train RMSE = </a:t>
            </a:r>
            <a:r>
              <a:rPr lang="en-GB" b="1" dirty="0"/>
              <a:t>3.98</a:t>
            </a:r>
            <a:r>
              <a:rPr lang="en-GB" dirty="0"/>
              <a:t> </a:t>
            </a:r>
          </a:p>
          <a:p>
            <a:pPr>
              <a:buFont typeface="Arial" panose="020B0604020202020204" pitchFamily="34" charset="0"/>
              <a:buChar char="•"/>
            </a:pPr>
            <a:r>
              <a:rPr lang="en-GB" dirty="0"/>
              <a:t>Test RMSE = </a:t>
            </a:r>
            <a:r>
              <a:rPr lang="en-GB" b="1" dirty="0"/>
              <a:t>4.85</a:t>
            </a:r>
            <a:endParaRPr lang="en-GB" dirty="0"/>
          </a:p>
          <a:p>
            <a:endParaRPr lang="en-PK" dirty="0"/>
          </a:p>
        </p:txBody>
      </p:sp>
      <p:sp>
        <p:nvSpPr>
          <p:cNvPr id="4" name="Slide Number Placeholder 3"/>
          <p:cNvSpPr>
            <a:spLocks noGrp="1"/>
          </p:cNvSpPr>
          <p:nvPr>
            <p:ph type="sldNum" sz="quarter" idx="5"/>
          </p:nvPr>
        </p:nvSpPr>
        <p:spPr/>
        <p:txBody>
          <a:bodyPr/>
          <a:lstStyle/>
          <a:p>
            <a:fld id="{A9A0EA98-5831-4853-B862-C702E6EB345C}" type="slidenum">
              <a:rPr lang="en-US" smtClean="0"/>
              <a:t>21</a:t>
            </a:fld>
            <a:endParaRPr lang="en-US"/>
          </a:p>
        </p:txBody>
      </p:sp>
    </p:spTree>
    <p:extLst>
      <p:ext uri="{BB962C8B-B14F-4D97-AF65-F5344CB8AC3E}">
        <p14:creationId xmlns:p14="http://schemas.microsoft.com/office/powerpoint/2010/main" val="13968462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lstStyle/>
          <a:p>
            <a:r>
              <a:rPr lang="en-GB" dirty="0"/>
              <a:t>The feature importance results show that the most influential factor in predicting crime is the previous crime count (lag1), indicating strong temporal dependency. The dominant crime type and location features also contribute significantly, reflecting spatial clustering and crime patterns. Other features such as month, year, and seasonal indicators have relatively low importance, suggesting they have a weaker direct impact on crime prediction.</a:t>
            </a:r>
          </a:p>
          <a:p>
            <a:endParaRPr lang="en-PK" dirty="0"/>
          </a:p>
        </p:txBody>
      </p:sp>
      <p:sp>
        <p:nvSpPr>
          <p:cNvPr id="4" name="Slide Number Placeholder 3"/>
          <p:cNvSpPr>
            <a:spLocks noGrp="1"/>
          </p:cNvSpPr>
          <p:nvPr>
            <p:ph type="sldNum" sz="quarter" idx="5"/>
          </p:nvPr>
        </p:nvSpPr>
        <p:spPr/>
        <p:txBody>
          <a:bodyPr/>
          <a:lstStyle/>
          <a:p>
            <a:fld id="{A9A0EA98-5831-4853-B862-C702E6EB345C}" type="slidenum">
              <a:rPr lang="en-US" smtClean="0"/>
              <a:t>23</a:t>
            </a:fld>
            <a:endParaRPr lang="en-US"/>
          </a:p>
        </p:txBody>
      </p:sp>
    </p:spTree>
    <p:extLst>
      <p:ext uri="{BB962C8B-B14F-4D97-AF65-F5344CB8AC3E}">
        <p14:creationId xmlns:p14="http://schemas.microsoft.com/office/powerpoint/2010/main" val="34760763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lstStyle/>
          <a:p>
            <a:r>
              <a:rPr lang="en-GB" dirty="0"/>
              <a:t>SHAP explains how much each feature pushes a prediction up or down.</a:t>
            </a:r>
          </a:p>
          <a:p>
            <a:r>
              <a:rPr lang="en-GB" dirty="0"/>
              <a:t>The SHAP analysis provides a detailed explanation of how each feature influences predictions. The summary plot shows that higher values of dominant crime type and previous crime significantly increase predicted crime levels. The global importance plot confirms that these features have the largest overall impact, while location features contribute less. This demonstrates that both temporal and crime-type factors are the main drivers of the model’s predictions.</a:t>
            </a:r>
            <a:endParaRPr lang="en-PK" dirty="0"/>
          </a:p>
        </p:txBody>
      </p:sp>
      <p:sp>
        <p:nvSpPr>
          <p:cNvPr id="4" name="Slide Number Placeholder 3"/>
          <p:cNvSpPr>
            <a:spLocks noGrp="1"/>
          </p:cNvSpPr>
          <p:nvPr>
            <p:ph type="sldNum" sz="quarter" idx="5"/>
          </p:nvPr>
        </p:nvSpPr>
        <p:spPr/>
        <p:txBody>
          <a:bodyPr/>
          <a:lstStyle/>
          <a:p>
            <a:fld id="{A9A0EA98-5831-4853-B862-C702E6EB345C}" type="slidenum">
              <a:rPr lang="en-US" smtClean="0"/>
              <a:t>24</a:t>
            </a:fld>
            <a:endParaRPr lang="en-US"/>
          </a:p>
        </p:txBody>
      </p:sp>
    </p:spTree>
    <p:extLst>
      <p:ext uri="{BB962C8B-B14F-4D97-AF65-F5344CB8AC3E}">
        <p14:creationId xmlns:p14="http://schemas.microsoft.com/office/powerpoint/2010/main" val="13609431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lstStyle/>
          <a:p>
            <a:r>
              <a:rPr lang="en-GB" b="1" dirty="0"/>
              <a:t>Symmetrical shape</a:t>
            </a:r>
          </a:p>
          <a:p>
            <a:r>
              <a:rPr lang="en-GB" dirty="0"/>
              <a:t>The graph looks roughly balanced:</a:t>
            </a:r>
          </a:p>
          <a:p>
            <a:pPr>
              <a:buFont typeface="Arial" panose="020B0604020202020204" pitchFamily="34" charset="0"/>
              <a:buChar char="•"/>
            </a:pPr>
            <a:r>
              <a:rPr lang="en-GB" dirty="0"/>
              <a:t>Errors on left (negative) </a:t>
            </a:r>
          </a:p>
          <a:p>
            <a:pPr>
              <a:buFont typeface="Arial" panose="020B0604020202020204" pitchFamily="34" charset="0"/>
              <a:buChar char="•"/>
            </a:pPr>
            <a:r>
              <a:rPr lang="en-GB" dirty="0"/>
              <a:t>Errors on right (positive) </a:t>
            </a:r>
          </a:p>
          <a:p>
            <a:r>
              <a:rPr lang="en-GB" b="1" dirty="0"/>
              <a:t>Meaning:</a:t>
            </a:r>
          </a:p>
          <a:p>
            <a:r>
              <a:rPr lang="en-GB" dirty="0"/>
              <a:t>Model is not biased (not always over or under predicting)</a:t>
            </a:r>
          </a:p>
          <a:p>
            <a:endParaRPr lang="en-GB" dirty="0"/>
          </a:p>
          <a:p>
            <a:endParaRPr lang="en-GB" dirty="0"/>
          </a:p>
          <a:p>
            <a:r>
              <a:rPr lang="en-GB" b="1" dirty="0"/>
              <a:t>Good model behaviour</a:t>
            </a:r>
          </a:p>
          <a:p>
            <a:r>
              <a:rPr lang="en-GB" dirty="0"/>
              <a:t>Ideal residual distribution should be:</a:t>
            </a:r>
          </a:p>
          <a:p>
            <a:pPr>
              <a:buFont typeface="Arial" panose="020B0604020202020204" pitchFamily="34" charset="0"/>
              <a:buChar char="•"/>
            </a:pPr>
            <a:r>
              <a:rPr lang="en-GB" dirty="0" err="1"/>
              <a:t>Centered</a:t>
            </a:r>
            <a:r>
              <a:rPr lang="en-GB" dirty="0"/>
              <a:t> at zero </a:t>
            </a:r>
            <a:r>
              <a:rPr lang="en-PK" dirty="0"/>
              <a:t>✅ </a:t>
            </a:r>
          </a:p>
          <a:p>
            <a:pPr>
              <a:buFont typeface="Arial" panose="020B0604020202020204" pitchFamily="34" charset="0"/>
              <a:buChar char="•"/>
            </a:pPr>
            <a:r>
              <a:rPr lang="en-GB" dirty="0"/>
              <a:t>Symmetrical </a:t>
            </a:r>
            <a:r>
              <a:rPr lang="en-PK" dirty="0"/>
              <a:t>✅ </a:t>
            </a:r>
          </a:p>
          <a:p>
            <a:pPr>
              <a:buFont typeface="Arial" panose="020B0604020202020204" pitchFamily="34" charset="0"/>
              <a:buChar char="•"/>
            </a:pPr>
            <a:r>
              <a:rPr lang="en-GB" dirty="0"/>
              <a:t>Narrow spread </a:t>
            </a:r>
            <a:r>
              <a:rPr lang="en-PK" dirty="0"/>
              <a:t>✅</a:t>
            </a:r>
          </a:p>
          <a:p>
            <a:endParaRPr lang="en-GB" dirty="0"/>
          </a:p>
          <a:p>
            <a:endParaRPr lang="en-GB" dirty="0"/>
          </a:p>
          <a:p>
            <a:r>
              <a:rPr lang="en-GB" dirty="0"/>
              <a:t>Residual = 0 → perfect prediction </a:t>
            </a:r>
          </a:p>
          <a:p>
            <a:r>
              <a:rPr lang="en-GB" dirty="0"/>
              <a:t>Positive residual → model underpredicted </a:t>
            </a:r>
          </a:p>
          <a:p>
            <a:r>
              <a:rPr lang="en-GB" dirty="0"/>
              <a:t>Negative residual → model overpredicted</a:t>
            </a:r>
            <a:endParaRPr lang="en-PK" dirty="0"/>
          </a:p>
        </p:txBody>
      </p:sp>
      <p:sp>
        <p:nvSpPr>
          <p:cNvPr id="4" name="Slide Number Placeholder 3"/>
          <p:cNvSpPr>
            <a:spLocks noGrp="1"/>
          </p:cNvSpPr>
          <p:nvPr>
            <p:ph type="sldNum" sz="quarter" idx="5"/>
          </p:nvPr>
        </p:nvSpPr>
        <p:spPr/>
        <p:txBody>
          <a:bodyPr/>
          <a:lstStyle/>
          <a:p>
            <a:fld id="{A9A0EA98-5831-4853-B862-C702E6EB345C}" type="slidenum">
              <a:rPr lang="en-US" smtClean="0"/>
              <a:t>25</a:t>
            </a:fld>
            <a:endParaRPr lang="en-US"/>
          </a:p>
        </p:txBody>
      </p:sp>
    </p:spTree>
    <p:extLst>
      <p:ext uri="{BB962C8B-B14F-4D97-AF65-F5344CB8AC3E}">
        <p14:creationId xmlns:p14="http://schemas.microsoft.com/office/powerpoint/2010/main" val="22976426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606"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1048607"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048608" name="Date Placeholder 3"/>
          <p:cNvSpPr>
            <a:spLocks noGrp="1"/>
          </p:cNvSpPr>
          <p:nvPr>
            <p:ph type="dt" sz="half" idx="10"/>
          </p:nvPr>
        </p:nvSpPr>
        <p:spPr/>
        <p:txBody>
          <a:bodyPr/>
          <a:lstStyle/>
          <a:p>
            <a:fld id="{3D6AE9DE-14C1-42EC-89CF-CB898A150C53}" type="datetime1">
              <a:rPr lang="en-US" smtClean="0"/>
              <a:t>4/29/26</a:t>
            </a:fld>
            <a:endParaRPr lang="en-US"/>
          </a:p>
        </p:txBody>
      </p:sp>
      <p:sp>
        <p:nvSpPr>
          <p:cNvPr id="1048609" name="Footer Placeholder 4"/>
          <p:cNvSpPr>
            <a:spLocks noGrp="1"/>
          </p:cNvSpPr>
          <p:nvPr>
            <p:ph type="ftr" sz="quarter" idx="11"/>
          </p:nvPr>
        </p:nvSpPr>
        <p:spPr/>
        <p:txBody>
          <a:bodyPr/>
          <a:lstStyle/>
          <a:p>
            <a:r>
              <a:rPr lang="en-US"/>
              <a:t>FYP-Defence</a:t>
            </a:r>
          </a:p>
        </p:txBody>
      </p:sp>
      <p:sp>
        <p:nvSpPr>
          <p:cNvPr id="1048610"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
        <p:nvSpPr>
          <p:cNvPr id="1048611" name="Slide Number Placeholder 5"/>
          <p:cNvSpPr>
            <a:spLocks noGrp="1"/>
          </p:cNvSpPr>
          <p:nvPr>
            <p:ph type="sldNum" sz="quarter" idx="12"/>
          </p:nvPr>
        </p:nvSpPr>
        <p:spPr>
          <a:xfrm>
            <a:off x="531812" y="4529540"/>
            <a:ext cx="779767" cy="365125"/>
          </a:xfrm>
        </p:spPr>
        <p:txBody>
          <a:bodyPr/>
          <a:lstStyle/>
          <a:p>
            <a:fld id="{CB4D3031-0AEB-4687-8E23-04446010D3F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617"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1048618"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619" name="Date Placeholder 3"/>
          <p:cNvSpPr>
            <a:spLocks noGrp="1"/>
          </p:cNvSpPr>
          <p:nvPr>
            <p:ph type="dt" sz="half" idx="10"/>
          </p:nvPr>
        </p:nvSpPr>
        <p:spPr/>
        <p:txBody>
          <a:bodyPr/>
          <a:lstStyle/>
          <a:p>
            <a:fld id="{57AE3903-2F96-43E5-B3FD-F3D7F89C074D}" type="datetime1">
              <a:rPr lang="en-US" smtClean="0"/>
              <a:t>4/29/26</a:t>
            </a:fld>
            <a:endParaRPr lang="en-US"/>
          </a:p>
        </p:txBody>
      </p:sp>
      <p:sp>
        <p:nvSpPr>
          <p:cNvPr id="1048620" name="Footer Placeholder 4"/>
          <p:cNvSpPr>
            <a:spLocks noGrp="1"/>
          </p:cNvSpPr>
          <p:nvPr>
            <p:ph type="ftr" sz="quarter" idx="11"/>
          </p:nvPr>
        </p:nvSpPr>
        <p:spPr/>
        <p:txBody>
          <a:bodyPr/>
          <a:lstStyle/>
          <a:p>
            <a:r>
              <a:rPr lang="en-US"/>
              <a:t>FYP-Defence</a:t>
            </a:r>
          </a:p>
        </p:txBody>
      </p:sp>
      <p:sp>
        <p:nvSpPr>
          <p:cNvPr id="1048621"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PK"/>
          </a:p>
        </p:txBody>
      </p:sp>
      <p:sp>
        <p:nvSpPr>
          <p:cNvPr id="1048622" name="Slide Number Placeholder 5"/>
          <p:cNvSpPr>
            <a:spLocks noGrp="1"/>
          </p:cNvSpPr>
          <p:nvPr>
            <p:ph type="sldNum" sz="quarter" idx="12"/>
          </p:nvPr>
        </p:nvSpPr>
        <p:spPr/>
        <p:txBody>
          <a:bodyPr/>
          <a:lstStyle/>
          <a:p>
            <a:fld id="{CB4D3031-0AEB-4687-8E23-04446010D3F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9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104869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694" name="Date Placeholder 3"/>
          <p:cNvSpPr>
            <a:spLocks noGrp="1"/>
          </p:cNvSpPr>
          <p:nvPr>
            <p:ph type="dt" sz="half" idx="10"/>
          </p:nvPr>
        </p:nvSpPr>
        <p:spPr/>
        <p:txBody>
          <a:bodyPr/>
          <a:lstStyle/>
          <a:p>
            <a:fld id="{C02B9BB9-46B6-4775-AE31-DA327B45056F}" type="datetime1">
              <a:rPr lang="en-US" smtClean="0"/>
              <a:t>4/29/26</a:t>
            </a:fld>
            <a:endParaRPr lang="en-US"/>
          </a:p>
        </p:txBody>
      </p:sp>
      <p:sp>
        <p:nvSpPr>
          <p:cNvPr id="1048695" name="Footer Placeholder 4"/>
          <p:cNvSpPr>
            <a:spLocks noGrp="1"/>
          </p:cNvSpPr>
          <p:nvPr>
            <p:ph type="ftr" sz="quarter" idx="11"/>
          </p:nvPr>
        </p:nvSpPr>
        <p:spPr/>
        <p:txBody>
          <a:bodyPr/>
          <a:lstStyle/>
          <a:p>
            <a:r>
              <a:rPr lang="en-US"/>
              <a:t>FYP-Defence</a:t>
            </a:r>
          </a:p>
        </p:txBody>
      </p:sp>
      <p:sp>
        <p:nvSpPr>
          <p:cNvPr id="1048696"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697" name="Slide Number Placeholder 5"/>
          <p:cNvSpPr>
            <a:spLocks noGrp="1"/>
          </p:cNvSpPr>
          <p:nvPr>
            <p:ph type="sldNum" sz="quarter" idx="12"/>
          </p:nvPr>
        </p:nvSpPr>
        <p:spPr>
          <a:xfrm>
            <a:off x="531812" y="3244139"/>
            <a:ext cx="779767" cy="365125"/>
          </a:xfrm>
        </p:spPr>
        <p:txBody>
          <a:bodyPr/>
          <a:lstStyle/>
          <a:p>
            <a:fld id="{CB4D3031-0AEB-4687-8E23-04446010D3F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23" name="Title 7"/>
          <p:cNvSpPr>
            <a:spLocks noGrp="1"/>
          </p:cNvSpPr>
          <p:nvPr>
            <p:ph type="title"/>
          </p:nvPr>
        </p:nvSpPr>
        <p:spPr/>
        <p:txBody>
          <a:bodyPr/>
          <a:lstStyle/>
          <a:p>
            <a:r>
              <a:rPr lang="en-US"/>
              <a:t>Click to edit Master title style</a:t>
            </a:r>
            <a:endParaRPr lang="en-US" dirty="0"/>
          </a:p>
        </p:txBody>
      </p:sp>
      <p:sp>
        <p:nvSpPr>
          <p:cNvPr id="1048724"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25"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26" name="Date Placeholder 4"/>
          <p:cNvSpPr>
            <a:spLocks noGrp="1"/>
          </p:cNvSpPr>
          <p:nvPr>
            <p:ph type="dt" sz="half" idx="10"/>
          </p:nvPr>
        </p:nvSpPr>
        <p:spPr/>
        <p:txBody>
          <a:bodyPr/>
          <a:lstStyle/>
          <a:p>
            <a:fld id="{50CA13ED-6BF8-4D10-B877-346C758DCD3A}" type="datetime1">
              <a:rPr lang="en-US" smtClean="0"/>
              <a:t>4/29/26</a:t>
            </a:fld>
            <a:endParaRPr lang="en-US"/>
          </a:p>
        </p:txBody>
      </p:sp>
      <p:sp>
        <p:nvSpPr>
          <p:cNvPr id="1048727" name="Footer Placeholder 5"/>
          <p:cNvSpPr>
            <a:spLocks noGrp="1"/>
          </p:cNvSpPr>
          <p:nvPr>
            <p:ph type="ftr" sz="quarter" idx="11"/>
          </p:nvPr>
        </p:nvSpPr>
        <p:spPr/>
        <p:txBody>
          <a:bodyPr/>
          <a:lstStyle/>
          <a:p>
            <a:r>
              <a:rPr lang="en-US"/>
              <a:t>FYP-Defence</a:t>
            </a:r>
          </a:p>
        </p:txBody>
      </p:sp>
      <p:sp>
        <p:nvSpPr>
          <p:cNvPr id="104872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729" name="Slide Number Placeholder 5"/>
          <p:cNvSpPr>
            <a:spLocks noGrp="1"/>
          </p:cNvSpPr>
          <p:nvPr>
            <p:ph type="sldNum" sz="quarter" idx="12"/>
          </p:nvPr>
        </p:nvSpPr>
        <p:spPr>
          <a:xfrm>
            <a:off x="531812" y="787782"/>
            <a:ext cx="779767" cy="365125"/>
          </a:xfrm>
        </p:spPr>
        <p:txBody>
          <a:bodyPr/>
          <a:lstStyle/>
          <a:p>
            <a:fld id="{CB4D3031-0AEB-4687-8E23-04446010D3F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98" name="Title 9"/>
          <p:cNvSpPr>
            <a:spLocks noGrp="1"/>
          </p:cNvSpPr>
          <p:nvPr>
            <p:ph type="title"/>
          </p:nvPr>
        </p:nvSpPr>
        <p:spPr/>
        <p:txBody>
          <a:bodyPr/>
          <a:lstStyle/>
          <a:p>
            <a:r>
              <a:rPr lang="en-US"/>
              <a:t>Click to edit Master title style</a:t>
            </a:r>
            <a:endParaRPr lang="en-US" dirty="0"/>
          </a:p>
        </p:txBody>
      </p:sp>
      <p:sp>
        <p:nvSpPr>
          <p:cNvPr id="1048699"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00"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01"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02"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03" name="Date Placeholder 6"/>
          <p:cNvSpPr>
            <a:spLocks noGrp="1"/>
          </p:cNvSpPr>
          <p:nvPr>
            <p:ph type="dt" sz="half" idx="10"/>
          </p:nvPr>
        </p:nvSpPr>
        <p:spPr/>
        <p:txBody>
          <a:bodyPr/>
          <a:lstStyle/>
          <a:p>
            <a:fld id="{D9817360-F361-4993-BBE6-4A9D23B8696F}" type="datetime1">
              <a:rPr lang="en-US" smtClean="0"/>
              <a:t>4/29/26</a:t>
            </a:fld>
            <a:endParaRPr lang="en-US"/>
          </a:p>
        </p:txBody>
      </p:sp>
      <p:sp>
        <p:nvSpPr>
          <p:cNvPr id="1048704" name="Footer Placeholder 7"/>
          <p:cNvSpPr>
            <a:spLocks noGrp="1"/>
          </p:cNvSpPr>
          <p:nvPr>
            <p:ph type="ftr" sz="quarter" idx="11"/>
          </p:nvPr>
        </p:nvSpPr>
        <p:spPr/>
        <p:txBody>
          <a:bodyPr/>
          <a:lstStyle/>
          <a:p>
            <a:r>
              <a:rPr lang="en-US"/>
              <a:t>FYP-Defence</a:t>
            </a:r>
          </a:p>
        </p:txBody>
      </p:sp>
      <p:sp>
        <p:nvSpPr>
          <p:cNvPr id="1048705"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706" name="Slide Number Placeholder 5"/>
          <p:cNvSpPr>
            <a:spLocks noGrp="1"/>
          </p:cNvSpPr>
          <p:nvPr>
            <p:ph type="sldNum" sz="quarter" idx="12"/>
          </p:nvPr>
        </p:nvSpPr>
        <p:spPr>
          <a:xfrm>
            <a:off x="531812" y="787782"/>
            <a:ext cx="779767" cy="365125"/>
          </a:xfrm>
        </p:spPr>
        <p:txBody>
          <a:bodyPr/>
          <a:lstStyle/>
          <a:p>
            <a:fld id="{CB4D3031-0AEB-4687-8E23-04446010D3F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56" name="Title 1"/>
          <p:cNvSpPr>
            <a:spLocks noGrp="1"/>
          </p:cNvSpPr>
          <p:nvPr>
            <p:ph type="title"/>
          </p:nvPr>
        </p:nvSpPr>
        <p:spPr/>
        <p:txBody>
          <a:bodyPr/>
          <a:lstStyle/>
          <a:p>
            <a:r>
              <a:rPr lang="en-US"/>
              <a:t>Click to edit Master title style</a:t>
            </a:r>
            <a:endParaRPr lang="en-US" dirty="0"/>
          </a:p>
        </p:txBody>
      </p:sp>
      <p:sp>
        <p:nvSpPr>
          <p:cNvPr id="1048657" name="Date Placeholder 2"/>
          <p:cNvSpPr>
            <a:spLocks noGrp="1"/>
          </p:cNvSpPr>
          <p:nvPr>
            <p:ph type="dt" sz="half" idx="10"/>
          </p:nvPr>
        </p:nvSpPr>
        <p:spPr/>
        <p:txBody>
          <a:bodyPr/>
          <a:lstStyle/>
          <a:p>
            <a:fld id="{868EECFF-6E5F-4144-B1A7-5F715C8B017C}" type="datetime1">
              <a:rPr lang="en-US" smtClean="0"/>
              <a:t>4/29/26</a:t>
            </a:fld>
            <a:endParaRPr lang="en-US"/>
          </a:p>
        </p:txBody>
      </p:sp>
      <p:sp>
        <p:nvSpPr>
          <p:cNvPr id="1048658" name="Footer Placeholder 3"/>
          <p:cNvSpPr>
            <a:spLocks noGrp="1"/>
          </p:cNvSpPr>
          <p:nvPr>
            <p:ph type="ftr" sz="quarter" idx="11"/>
          </p:nvPr>
        </p:nvSpPr>
        <p:spPr/>
        <p:txBody>
          <a:bodyPr/>
          <a:lstStyle/>
          <a:p>
            <a:r>
              <a:rPr lang="en-US"/>
              <a:t>FYP-Defence</a:t>
            </a:r>
          </a:p>
        </p:txBody>
      </p:sp>
      <p:sp>
        <p:nvSpPr>
          <p:cNvPr id="104865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660" name="Slide Number Placeholder 4"/>
          <p:cNvSpPr>
            <a:spLocks noGrp="1"/>
          </p:cNvSpPr>
          <p:nvPr>
            <p:ph type="sldNum" sz="quarter" idx="12"/>
          </p:nvPr>
        </p:nvSpPr>
        <p:spPr/>
        <p:txBody>
          <a:bodyPr/>
          <a:lstStyle/>
          <a:p>
            <a:fld id="{CB4D3031-0AEB-4687-8E23-04446010D3F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07" name="Date Placeholder 1"/>
          <p:cNvSpPr>
            <a:spLocks noGrp="1"/>
          </p:cNvSpPr>
          <p:nvPr>
            <p:ph type="dt" sz="half" idx="10"/>
          </p:nvPr>
        </p:nvSpPr>
        <p:spPr/>
        <p:txBody>
          <a:bodyPr/>
          <a:lstStyle/>
          <a:p>
            <a:fld id="{94E2C67B-2D48-4378-BE5B-AFE93FBEE3F7}" type="datetime1">
              <a:rPr lang="en-US" smtClean="0"/>
              <a:t>4/29/26</a:t>
            </a:fld>
            <a:endParaRPr lang="en-US"/>
          </a:p>
        </p:txBody>
      </p:sp>
      <p:sp>
        <p:nvSpPr>
          <p:cNvPr id="1048708" name="Footer Placeholder 2"/>
          <p:cNvSpPr>
            <a:spLocks noGrp="1"/>
          </p:cNvSpPr>
          <p:nvPr>
            <p:ph type="ftr" sz="quarter" idx="11"/>
          </p:nvPr>
        </p:nvSpPr>
        <p:spPr/>
        <p:txBody>
          <a:bodyPr/>
          <a:lstStyle/>
          <a:p>
            <a:r>
              <a:rPr lang="en-US"/>
              <a:t>FYP-Defence</a:t>
            </a:r>
          </a:p>
        </p:txBody>
      </p:sp>
      <p:sp>
        <p:nvSpPr>
          <p:cNvPr id="104870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710" name="Slide Number Placeholder 3"/>
          <p:cNvSpPr>
            <a:spLocks noGrp="1"/>
          </p:cNvSpPr>
          <p:nvPr>
            <p:ph type="sldNum" sz="quarter" idx="12"/>
          </p:nvPr>
        </p:nvSpPr>
        <p:spPr/>
        <p:txBody>
          <a:bodyPr/>
          <a:lstStyle/>
          <a:p>
            <a:fld id="{CB4D3031-0AEB-4687-8E23-04446010D3F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37"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1048738"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39"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740" name="Date Placeholder 4"/>
          <p:cNvSpPr>
            <a:spLocks noGrp="1"/>
          </p:cNvSpPr>
          <p:nvPr>
            <p:ph type="dt" sz="half" idx="10"/>
          </p:nvPr>
        </p:nvSpPr>
        <p:spPr/>
        <p:txBody>
          <a:bodyPr/>
          <a:lstStyle/>
          <a:p>
            <a:fld id="{73DCF2FD-A8F1-4D60-90F2-0DDC7378D159}" type="datetime1">
              <a:rPr lang="en-US" smtClean="0"/>
              <a:t>4/29/26</a:t>
            </a:fld>
            <a:endParaRPr lang="en-US"/>
          </a:p>
        </p:txBody>
      </p:sp>
      <p:sp>
        <p:nvSpPr>
          <p:cNvPr id="1048741" name="Footer Placeholder 5"/>
          <p:cNvSpPr>
            <a:spLocks noGrp="1"/>
          </p:cNvSpPr>
          <p:nvPr>
            <p:ph type="ftr" sz="quarter" idx="11"/>
          </p:nvPr>
        </p:nvSpPr>
        <p:spPr/>
        <p:txBody>
          <a:bodyPr/>
          <a:lstStyle/>
          <a:p>
            <a:r>
              <a:rPr lang="en-US"/>
              <a:t>FYP-Defence</a:t>
            </a:r>
          </a:p>
        </p:txBody>
      </p:sp>
      <p:sp>
        <p:nvSpPr>
          <p:cNvPr id="104874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743" name="Slide Number Placeholder 6"/>
          <p:cNvSpPr>
            <a:spLocks noGrp="1"/>
          </p:cNvSpPr>
          <p:nvPr>
            <p:ph type="sldNum" sz="quarter" idx="12"/>
          </p:nvPr>
        </p:nvSpPr>
        <p:spPr/>
        <p:txBody>
          <a:bodyPr/>
          <a:lstStyle/>
          <a:p>
            <a:fld id="{CB4D3031-0AEB-4687-8E23-04446010D3F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79"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1048680"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048681"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682" name="Date Placeholder 4"/>
          <p:cNvSpPr>
            <a:spLocks noGrp="1"/>
          </p:cNvSpPr>
          <p:nvPr>
            <p:ph type="dt" sz="half" idx="10"/>
          </p:nvPr>
        </p:nvSpPr>
        <p:spPr/>
        <p:txBody>
          <a:bodyPr/>
          <a:lstStyle/>
          <a:p>
            <a:fld id="{08167FE4-9878-4871-AC11-DACD246D7D40}" type="datetime1">
              <a:rPr lang="en-US" smtClean="0"/>
              <a:t>4/29/26</a:t>
            </a:fld>
            <a:endParaRPr lang="en-US"/>
          </a:p>
        </p:txBody>
      </p:sp>
      <p:sp>
        <p:nvSpPr>
          <p:cNvPr id="1048683" name="Footer Placeholder 5"/>
          <p:cNvSpPr>
            <a:spLocks noGrp="1"/>
          </p:cNvSpPr>
          <p:nvPr>
            <p:ph type="ftr" sz="quarter" idx="11"/>
          </p:nvPr>
        </p:nvSpPr>
        <p:spPr/>
        <p:txBody>
          <a:bodyPr/>
          <a:lstStyle/>
          <a:p>
            <a:r>
              <a:rPr lang="en-US"/>
              <a:t>FYP-Defence</a:t>
            </a:r>
          </a:p>
        </p:txBody>
      </p:sp>
      <p:sp>
        <p:nvSpPr>
          <p:cNvPr id="1048684"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685" name="Slide Number Placeholder 6"/>
          <p:cNvSpPr>
            <a:spLocks noGrp="1"/>
          </p:cNvSpPr>
          <p:nvPr>
            <p:ph type="sldNum" sz="quarter" idx="12"/>
          </p:nvPr>
        </p:nvSpPr>
        <p:spPr>
          <a:xfrm>
            <a:off x="531812" y="4983087"/>
            <a:ext cx="779767" cy="365125"/>
          </a:xfrm>
        </p:spPr>
        <p:txBody>
          <a:bodyPr/>
          <a:lstStyle/>
          <a:p>
            <a:fld id="{CB4D3031-0AEB-4687-8E23-04446010D3F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1048717"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1048718"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719" name="Date Placeholder 3"/>
          <p:cNvSpPr>
            <a:spLocks noGrp="1"/>
          </p:cNvSpPr>
          <p:nvPr>
            <p:ph type="dt" sz="half" idx="10"/>
          </p:nvPr>
        </p:nvSpPr>
        <p:spPr/>
        <p:txBody>
          <a:bodyPr/>
          <a:lstStyle/>
          <a:p>
            <a:fld id="{D81304C3-B8E3-446C-91D8-4B24F523B1EE}" type="datetime1">
              <a:rPr lang="en-US" smtClean="0"/>
              <a:t>4/29/26</a:t>
            </a:fld>
            <a:endParaRPr lang="en-US"/>
          </a:p>
        </p:txBody>
      </p:sp>
      <p:sp>
        <p:nvSpPr>
          <p:cNvPr id="1048720" name="Footer Placeholder 4"/>
          <p:cNvSpPr>
            <a:spLocks noGrp="1"/>
          </p:cNvSpPr>
          <p:nvPr>
            <p:ph type="ftr" sz="quarter" idx="11"/>
          </p:nvPr>
        </p:nvSpPr>
        <p:spPr/>
        <p:txBody>
          <a:bodyPr/>
          <a:lstStyle/>
          <a:p>
            <a:r>
              <a:rPr lang="en-US"/>
              <a:t>FYP-Defence</a:t>
            </a:r>
          </a:p>
        </p:txBody>
      </p:sp>
      <p:sp>
        <p:nvSpPr>
          <p:cNvPr id="104872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722" name="Slide Number Placeholder 5"/>
          <p:cNvSpPr>
            <a:spLocks noGrp="1"/>
          </p:cNvSpPr>
          <p:nvPr>
            <p:ph type="sldNum" sz="quarter" idx="12"/>
          </p:nvPr>
        </p:nvSpPr>
        <p:spPr>
          <a:xfrm>
            <a:off x="531812" y="3244139"/>
            <a:ext cx="779767" cy="365125"/>
          </a:xfrm>
        </p:spPr>
        <p:txBody>
          <a:bodyPr/>
          <a:lstStyle/>
          <a:p>
            <a:fld id="{CB4D3031-0AEB-4687-8E23-04446010D3F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048670"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048671"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lvl2pPr>
            <a:lvl3pPr marL="914400" indent="0">
              <a:buFontTx/>
              <a:buNone/>
            </a:lvl3pPr>
            <a:lvl4pPr marL="1371600" indent="0">
              <a:buFontTx/>
              <a:buNone/>
            </a:lvl4pPr>
            <a:lvl5pPr marL="1828800" indent="0">
              <a:buFontTx/>
              <a:buNone/>
            </a:lvl5pPr>
          </a:lstStyle>
          <a:p>
            <a:pPr lvl="0"/>
            <a:r>
              <a:rPr lang="en-US"/>
              <a:t>Click to edit Master text styles</a:t>
            </a:r>
          </a:p>
        </p:txBody>
      </p:sp>
      <p:sp>
        <p:nvSpPr>
          <p:cNvPr id="1048672"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673" name="Date Placeholder 3"/>
          <p:cNvSpPr>
            <a:spLocks noGrp="1"/>
          </p:cNvSpPr>
          <p:nvPr>
            <p:ph type="dt" sz="half" idx="10"/>
          </p:nvPr>
        </p:nvSpPr>
        <p:spPr/>
        <p:txBody>
          <a:bodyPr/>
          <a:lstStyle/>
          <a:p>
            <a:fld id="{1C0554CE-59EF-4699-AE39-6FFD206A32FA}" type="datetime1">
              <a:rPr lang="en-US" smtClean="0"/>
              <a:t>4/29/26</a:t>
            </a:fld>
            <a:endParaRPr lang="en-US"/>
          </a:p>
        </p:txBody>
      </p:sp>
      <p:sp>
        <p:nvSpPr>
          <p:cNvPr id="1048674" name="Footer Placeholder 4"/>
          <p:cNvSpPr>
            <a:spLocks noGrp="1"/>
          </p:cNvSpPr>
          <p:nvPr>
            <p:ph type="ftr" sz="quarter" idx="11"/>
          </p:nvPr>
        </p:nvSpPr>
        <p:spPr/>
        <p:txBody>
          <a:bodyPr/>
          <a:lstStyle/>
          <a:p>
            <a:r>
              <a:rPr lang="en-US"/>
              <a:t>FYP-Defence</a:t>
            </a:r>
          </a:p>
        </p:txBody>
      </p:sp>
      <p:sp>
        <p:nvSpPr>
          <p:cNvPr id="1048675"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676" name="Slide Number Placeholder 5"/>
          <p:cNvSpPr>
            <a:spLocks noGrp="1"/>
          </p:cNvSpPr>
          <p:nvPr>
            <p:ph type="sldNum" sz="quarter" idx="12"/>
          </p:nvPr>
        </p:nvSpPr>
        <p:spPr>
          <a:xfrm>
            <a:off x="531812" y="3244139"/>
            <a:ext cx="779767" cy="365125"/>
          </a:xfrm>
        </p:spPr>
        <p:txBody>
          <a:bodyPr/>
          <a:lstStyle/>
          <a:p>
            <a:fld id="{CB4D3031-0AEB-4687-8E23-04446010D3FF}" type="slidenum">
              <a:rPr lang="en-US" smtClean="0"/>
              <a:t>‹#›</a:t>
            </a:fld>
            <a:endParaRPr lang="en-US"/>
          </a:p>
        </p:txBody>
      </p:sp>
      <p:sp>
        <p:nvSpPr>
          <p:cNvPr id="1048677"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048678"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1048711"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1048712"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1048713" name="Date Placeholder 4"/>
          <p:cNvSpPr>
            <a:spLocks noGrp="1"/>
          </p:cNvSpPr>
          <p:nvPr>
            <p:ph type="dt" sz="half" idx="10"/>
          </p:nvPr>
        </p:nvSpPr>
        <p:spPr/>
        <p:txBody>
          <a:bodyPr/>
          <a:lstStyle/>
          <a:p>
            <a:fld id="{6952E827-2AB2-427E-8828-A42F60B2588F}" type="datetime1">
              <a:rPr lang="en-US" smtClean="0"/>
              <a:t>4/29/26</a:t>
            </a:fld>
            <a:endParaRPr lang="en-US"/>
          </a:p>
        </p:txBody>
      </p:sp>
      <p:sp>
        <p:nvSpPr>
          <p:cNvPr id="1048714" name="Footer Placeholder 5"/>
          <p:cNvSpPr>
            <a:spLocks noGrp="1"/>
          </p:cNvSpPr>
          <p:nvPr>
            <p:ph type="ftr" sz="quarter" idx="11"/>
          </p:nvPr>
        </p:nvSpPr>
        <p:spPr/>
        <p:txBody>
          <a:bodyPr/>
          <a:lstStyle/>
          <a:p>
            <a:r>
              <a:rPr lang="en-US"/>
              <a:t>FYP-Defence</a:t>
            </a:r>
          </a:p>
        </p:txBody>
      </p:sp>
      <p:sp>
        <p:nvSpPr>
          <p:cNvPr id="1048715"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716" name="Slide Number Placeholder 6"/>
          <p:cNvSpPr>
            <a:spLocks noGrp="1"/>
          </p:cNvSpPr>
          <p:nvPr>
            <p:ph type="sldNum" sz="quarter" idx="12"/>
          </p:nvPr>
        </p:nvSpPr>
        <p:spPr>
          <a:xfrm>
            <a:off x="531812" y="4983087"/>
            <a:ext cx="779767" cy="365125"/>
          </a:xfrm>
        </p:spPr>
        <p:txBody>
          <a:bodyPr/>
          <a:lstStyle/>
          <a:p>
            <a:fld id="{CB4D3031-0AEB-4687-8E23-04446010D3FF}"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048661"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048662"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lvl2pPr>
            <a:lvl3pPr marL="914400" indent="0">
              <a:buFontTx/>
              <a:buNone/>
            </a:lvl3pPr>
            <a:lvl4pPr marL="1371600" indent="0">
              <a:buFontTx/>
              <a:buNone/>
            </a:lvl4pPr>
            <a:lvl5pPr marL="1828800" indent="0">
              <a:buFontTx/>
              <a:buNone/>
            </a:lvl5pPr>
          </a:lstStyle>
          <a:p>
            <a:pPr lvl="0"/>
            <a:r>
              <a:rPr lang="en-US"/>
              <a:t>Click to edit Master text styles</a:t>
            </a:r>
          </a:p>
        </p:txBody>
      </p:sp>
      <p:sp>
        <p:nvSpPr>
          <p:cNvPr id="1048663"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1048664" name="Date Placeholder 4"/>
          <p:cNvSpPr>
            <a:spLocks noGrp="1"/>
          </p:cNvSpPr>
          <p:nvPr>
            <p:ph type="dt" sz="half" idx="10"/>
          </p:nvPr>
        </p:nvSpPr>
        <p:spPr/>
        <p:txBody>
          <a:bodyPr/>
          <a:lstStyle/>
          <a:p>
            <a:fld id="{34BA49D2-3DB7-4226-A7DB-AFD9BAA55DEF}" type="datetime1">
              <a:rPr lang="en-US" smtClean="0"/>
              <a:t>4/29/26</a:t>
            </a:fld>
            <a:endParaRPr lang="en-US"/>
          </a:p>
        </p:txBody>
      </p:sp>
      <p:sp>
        <p:nvSpPr>
          <p:cNvPr id="1048665" name="Footer Placeholder 5"/>
          <p:cNvSpPr>
            <a:spLocks noGrp="1"/>
          </p:cNvSpPr>
          <p:nvPr>
            <p:ph type="ftr" sz="quarter" idx="11"/>
          </p:nvPr>
        </p:nvSpPr>
        <p:spPr/>
        <p:txBody>
          <a:bodyPr/>
          <a:lstStyle/>
          <a:p>
            <a:r>
              <a:rPr lang="en-US"/>
              <a:t>FYP-Defence</a:t>
            </a:r>
          </a:p>
        </p:txBody>
      </p:sp>
      <p:sp>
        <p:nvSpPr>
          <p:cNvPr id="1048666"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667" name="Slide Number Placeholder 6"/>
          <p:cNvSpPr>
            <a:spLocks noGrp="1"/>
          </p:cNvSpPr>
          <p:nvPr>
            <p:ph type="sldNum" sz="quarter" idx="12"/>
          </p:nvPr>
        </p:nvSpPr>
        <p:spPr>
          <a:xfrm>
            <a:off x="531812" y="4983087"/>
            <a:ext cx="779767" cy="365125"/>
          </a:xfrm>
        </p:spPr>
        <p:txBody>
          <a:bodyPr/>
          <a:lstStyle/>
          <a:p>
            <a:fld id="{CB4D3031-0AEB-4687-8E23-04446010D3FF}" type="slidenum">
              <a:rPr lang="en-US" smtClean="0"/>
              <a:t>‹#›</a:t>
            </a:fld>
            <a:endParaRPr lang="en-US"/>
          </a:p>
        </p:txBody>
      </p:sp>
      <p:sp>
        <p:nvSpPr>
          <p:cNvPr id="1048668"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048669"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1048730"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104873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lvl2pPr>
            <a:lvl3pPr marL="914400" indent="0">
              <a:buFontTx/>
              <a:buNone/>
            </a:lvl3pPr>
            <a:lvl4pPr marL="1371600" indent="0">
              <a:buFontTx/>
              <a:buNone/>
            </a:lvl4pPr>
            <a:lvl5pPr marL="1828800" indent="0">
              <a:buFontTx/>
              <a:buNone/>
            </a:lvl5pPr>
          </a:lstStyle>
          <a:p>
            <a:pPr lvl="0"/>
            <a:r>
              <a:rPr lang="en-US"/>
              <a:t>Click to edit Master text styles</a:t>
            </a:r>
          </a:p>
        </p:txBody>
      </p:sp>
      <p:sp>
        <p:nvSpPr>
          <p:cNvPr id="1048732"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1048733" name="Date Placeholder 4"/>
          <p:cNvSpPr>
            <a:spLocks noGrp="1"/>
          </p:cNvSpPr>
          <p:nvPr>
            <p:ph type="dt" sz="half" idx="10"/>
          </p:nvPr>
        </p:nvSpPr>
        <p:spPr/>
        <p:txBody>
          <a:bodyPr/>
          <a:lstStyle/>
          <a:p>
            <a:fld id="{F6F66DF9-0589-431D-8672-DC90B910BD17}" type="datetime1">
              <a:rPr lang="en-US" smtClean="0"/>
              <a:t>4/29/26</a:t>
            </a:fld>
            <a:endParaRPr lang="en-US"/>
          </a:p>
        </p:txBody>
      </p:sp>
      <p:sp>
        <p:nvSpPr>
          <p:cNvPr id="1048734" name="Footer Placeholder 5"/>
          <p:cNvSpPr>
            <a:spLocks noGrp="1"/>
          </p:cNvSpPr>
          <p:nvPr>
            <p:ph type="ftr" sz="quarter" idx="11"/>
          </p:nvPr>
        </p:nvSpPr>
        <p:spPr/>
        <p:txBody>
          <a:bodyPr/>
          <a:lstStyle/>
          <a:p>
            <a:r>
              <a:rPr lang="en-US"/>
              <a:t>FYP-Defence</a:t>
            </a:r>
          </a:p>
        </p:txBody>
      </p:sp>
      <p:sp>
        <p:nvSpPr>
          <p:cNvPr id="1048735"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736" name="Slide Number Placeholder 6"/>
          <p:cNvSpPr>
            <a:spLocks noGrp="1"/>
          </p:cNvSpPr>
          <p:nvPr>
            <p:ph type="sldNum" sz="quarter" idx="12"/>
          </p:nvPr>
        </p:nvSpPr>
        <p:spPr>
          <a:xfrm>
            <a:off x="531812" y="4983087"/>
            <a:ext cx="779767" cy="365125"/>
          </a:xfrm>
        </p:spPr>
        <p:txBody>
          <a:bodyPr/>
          <a:lstStyle/>
          <a:p>
            <a:fld id="{CB4D3031-0AEB-4687-8E23-04446010D3FF}"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86" name="Title 1"/>
          <p:cNvSpPr>
            <a:spLocks noGrp="1"/>
          </p:cNvSpPr>
          <p:nvPr>
            <p:ph type="title"/>
          </p:nvPr>
        </p:nvSpPr>
        <p:spPr/>
        <p:txBody>
          <a:bodyPr/>
          <a:lstStyle/>
          <a:p>
            <a:r>
              <a:rPr lang="en-US"/>
              <a:t>Click to edit Master title style</a:t>
            </a:r>
            <a:endParaRPr lang="en-US" dirty="0"/>
          </a:p>
        </p:txBody>
      </p:sp>
      <p:sp>
        <p:nvSpPr>
          <p:cNvPr id="1048687"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688" name="Date Placeholder 3"/>
          <p:cNvSpPr>
            <a:spLocks noGrp="1"/>
          </p:cNvSpPr>
          <p:nvPr>
            <p:ph type="dt" sz="half" idx="10"/>
          </p:nvPr>
        </p:nvSpPr>
        <p:spPr/>
        <p:txBody>
          <a:bodyPr/>
          <a:lstStyle/>
          <a:p>
            <a:fld id="{3A818E7B-2E1C-43C3-A6DD-DC057E6BA6F1}" type="datetime1">
              <a:rPr lang="en-US" smtClean="0"/>
              <a:t>4/29/26</a:t>
            </a:fld>
            <a:endParaRPr lang="en-US"/>
          </a:p>
        </p:txBody>
      </p:sp>
      <p:sp>
        <p:nvSpPr>
          <p:cNvPr id="1048689" name="Footer Placeholder 4"/>
          <p:cNvSpPr>
            <a:spLocks noGrp="1"/>
          </p:cNvSpPr>
          <p:nvPr>
            <p:ph type="ftr" sz="quarter" idx="11"/>
          </p:nvPr>
        </p:nvSpPr>
        <p:spPr/>
        <p:txBody>
          <a:bodyPr/>
          <a:lstStyle/>
          <a:p>
            <a:r>
              <a:rPr lang="en-US"/>
              <a:t>FYP-Defence</a:t>
            </a:r>
          </a:p>
        </p:txBody>
      </p:sp>
      <p:sp>
        <p:nvSpPr>
          <p:cNvPr id="104869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691" name="Slide Number Placeholder 5"/>
          <p:cNvSpPr>
            <a:spLocks noGrp="1"/>
          </p:cNvSpPr>
          <p:nvPr>
            <p:ph type="sldNum" sz="quarter" idx="12"/>
          </p:nvPr>
        </p:nvSpPr>
        <p:spPr/>
        <p:txBody>
          <a:bodyPr/>
          <a:lstStyle/>
          <a:p>
            <a:fld id="{CB4D3031-0AEB-4687-8E23-04446010D3FF}"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44"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1048745"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746" name="Date Placeholder 3"/>
          <p:cNvSpPr>
            <a:spLocks noGrp="1"/>
          </p:cNvSpPr>
          <p:nvPr>
            <p:ph type="dt" sz="half" idx="10"/>
          </p:nvPr>
        </p:nvSpPr>
        <p:spPr/>
        <p:txBody>
          <a:bodyPr/>
          <a:lstStyle/>
          <a:p>
            <a:fld id="{60510C91-D168-484E-8A33-FD7F08A96286}" type="datetime1">
              <a:rPr lang="en-US" smtClean="0"/>
              <a:t>4/29/26</a:t>
            </a:fld>
            <a:endParaRPr lang="en-US"/>
          </a:p>
        </p:txBody>
      </p:sp>
      <p:sp>
        <p:nvSpPr>
          <p:cNvPr id="1048747" name="Footer Placeholder 4"/>
          <p:cNvSpPr>
            <a:spLocks noGrp="1"/>
          </p:cNvSpPr>
          <p:nvPr>
            <p:ph type="ftr" sz="quarter" idx="11"/>
          </p:nvPr>
        </p:nvSpPr>
        <p:spPr/>
        <p:txBody>
          <a:bodyPr/>
          <a:lstStyle/>
          <a:p>
            <a:r>
              <a:rPr lang="en-US"/>
              <a:t>FYP-Defence</a:t>
            </a:r>
          </a:p>
        </p:txBody>
      </p:sp>
      <p:sp>
        <p:nvSpPr>
          <p:cNvPr id="104874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048749" name="Slide Number Placeholder 5"/>
          <p:cNvSpPr>
            <a:spLocks noGrp="1"/>
          </p:cNvSpPr>
          <p:nvPr>
            <p:ph type="sldNum" sz="quarter" idx="12"/>
          </p:nvPr>
        </p:nvSpPr>
        <p:spPr/>
        <p:txBody>
          <a:bodyPr/>
          <a:lstStyle/>
          <a:p>
            <a:fld id="{CB4D3031-0AEB-4687-8E23-04446010D3F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2" name="Group 22"/>
          <p:cNvGrpSpPr/>
          <p:nvPr/>
        </p:nvGrpSpPr>
        <p:grpSpPr>
          <a:xfrm>
            <a:off x="1" y="228600"/>
            <a:ext cx="2851516" cy="6638628"/>
            <a:chOff x="2487613" y="285750"/>
            <a:chExt cx="2428875" cy="5654676"/>
          </a:xfrm>
        </p:grpSpPr>
        <p:sp>
          <p:nvSpPr>
            <p:cNvPr id="1048576"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1048577"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1048578"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1048579"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1048580"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1048581"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1048582"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1048583"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1048584"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1048585"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1048586"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1048587"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13" name="Group 9"/>
          <p:cNvGrpSpPr/>
          <p:nvPr/>
        </p:nvGrpSpPr>
        <p:grpSpPr>
          <a:xfrm>
            <a:off x="27221" y="-786"/>
            <a:ext cx="2356674" cy="6854039"/>
            <a:chOff x="6627813" y="194833"/>
            <a:chExt cx="1952625" cy="5678918"/>
          </a:xfrm>
        </p:grpSpPr>
        <p:sp>
          <p:nvSpPr>
            <p:cNvPr id="1048588"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1048589"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1048590"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1048591"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1048592"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1048593"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1048594"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1048595"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1048596"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1048597"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1048598"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1048599"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1048600"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48601"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1048602"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48603"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83D06A4-B070-4BFD-AF55-2779036C349E}" type="datetime1">
              <a:rPr lang="en-US" smtClean="0"/>
              <a:t>4/29/26</a:t>
            </a:fld>
            <a:endParaRPr lang="en-US"/>
          </a:p>
        </p:txBody>
      </p:sp>
      <p:sp>
        <p:nvSpPr>
          <p:cNvPr id="1048604"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FYP-Defence</a:t>
            </a:r>
          </a:p>
        </p:txBody>
      </p:sp>
      <p:sp>
        <p:nvSpPr>
          <p:cNvPr id="1048605"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CB4D3031-0AEB-4687-8E23-04446010D3F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13EF0-56F8-78B9-EF53-7AC389F0A1A1}"/>
              </a:ext>
            </a:extLst>
          </p:cNvPr>
          <p:cNvSpPr>
            <a:spLocks noGrp="1"/>
          </p:cNvSpPr>
          <p:nvPr>
            <p:ph type="ctrTitle"/>
          </p:nvPr>
        </p:nvSpPr>
        <p:spPr>
          <a:xfrm>
            <a:off x="1511615" y="1244737"/>
            <a:ext cx="9168769" cy="1750844"/>
          </a:xfrm>
        </p:spPr>
        <p:txBody>
          <a:bodyPr>
            <a:normAutofit/>
          </a:bodyPr>
          <a:lstStyle/>
          <a:p>
            <a:pPr algn="ctr"/>
            <a:r>
              <a:rPr lang="en-GB" sz="4000" b="1" dirty="0"/>
              <a:t>Crime Analysis and Prediction using Machine Learning</a:t>
            </a:r>
            <a:endParaRPr lang="en-US" sz="4000" b="1" dirty="0">
              <a:latin typeface="Times New Roman"/>
              <a:ea typeface="Calibri"/>
              <a:cs typeface="Times New Roman"/>
            </a:endParaRPr>
          </a:p>
        </p:txBody>
      </p:sp>
      <p:sp>
        <p:nvSpPr>
          <p:cNvPr id="3" name="Subtitle 2">
            <a:extLst>
              <a:ext uri="{FF2B5EF4-FFF2-40B4-BE49-F238E27FC236}">
                <a16:creationId xmlns:a16="http://schemas.microsoft.com/office/drawing/2014/main" id="{EFB5D668-F89F-A825-0E45-B8A656E10B52}"/>
              </a:ext>
            </a:extLst>
          </p:cNvPr>
          <p:cNvSpPr>
            <a:spLocks noGrp="1"/>
          </p:cNvSpPr>
          <p:nvPr>
            <p:ph type="subTitle" idx="1"/>
          </p:nvPr>
        </p:nvSpPr>
        <p:spPr>
          <a:xfrm>
            <a:off x="3448988" y="5057840"/>
            <a:ext cx="5294021" cy="1110846"/>
          </a:xfrm>
        </p:spPr>
        <p:txBody>
          <a:bodyPr>
            <a:normAutofit/>
          </a:bodyPr>
          <a:lstStyle/>
          <a:p>
            <a:r>
              <a:rPr lang="en-GB" sz="2000" b="1" dirty="0"/>
              <a:t>Presented by:</a:t>
            </a:r>
            <a:r>
              <a:rPr lang="en-GB" sz="2000" dirty="0"/>
              <a:t> Muhammad Ruslan Babar</a:t>
            </a:r>
            <a:br>
              <a:rPr lang="en-GB" sz="2000" dirty="0"/>
            </a:br>
            <a:r>
              <a:rPr lang="en-GB" sz="2000" b="1" dirty="0"/>
              <a:t>Student ID:</a:t>
            </a:r>
            <a:r>
              <a:rPr lang="en-GB" sz="2000" dirty="0"/>
              <a:t> 27079307w</a:t>
            </a:r>
          </a:p>
        </p:txBody>
      </p:sp>
    </p:spTree>
    <p:extLst>
      <p:ext uri="{BB962C8B-B14F-4D97-AF65-F5344CB8AC3E}">
        <p14:creationId xmlns:p14="http://schemas.microsoft.com/office/powerpoint/2010/main" val="15071104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3" name="Title 1"/>
          <p:cNvSpPr>
            <a:spLocks noGrp="1"/>
          </p:cNvSpPr>
          <p:nvPr>
            <p:ph type="title"/>
          </p:nvPr>
        </p:nvSpPr>
        <p:spPr>
          <a:xfrm>
            <a:off x="3516374" y="741403"/>
            <a:ext cx="5159252" cy="823008"/>
          </a:xfrm>
        </p:spPr>
        <p:txBody>
          <a:bodyPr>
            <a:normAutofit/>
          </a:bodyPr>
          <a:lstStyle/>
          <a:p>
            <a:pPr algn="ctr"/>
            <a:r>
              <a:rPr lang="en-GB" sz="4800" b="1" dirty="0"/>
              <a:t>Problem</a:t>
            </a:r>
            <a:endParaRPr lang="en-US" sz="4500" b="1" dirty="0">
              <a:solidFill>
                <a:schemeClr val="tx1"/>
              </a:solidFill>
            </a:endParaRPr>
          </a:p>
        </p:txBody>
      </p:sp>
      <p:sp>
        <p:nvSpPr>
          <p:cNvPr id="1048624" name="Content Placeholder 2"/>
          <p:cNvSpPr>
            <a:spLocks noGrp="1"/>
          </p:cNvSpPr>
          <p:nvPr>
            <p:ph idx="1"/>
          </p:nvPr>
        </p:nvSpPr>
        <p:spPr>
          <a:xfrm>
            <a:off x="2243293" y="1791939"/>
            <a:ext cx="8661268" cy="3626222"/>
          </a:xfrm>
        </p:spPr>
        <p:txBody>
          <a:bodyPr>
            <a:normAutofit/>
          </a:bodyPr>
          <a:lstStyle/>
          <a:p>
            <a:r>
              <a:rPr lang="en-GB" sz="2400" dirty="0"/>
              <a:t>This project uses real UK Police crime data to support better decisions for safety and planning.</a:t>
            </a:r>
          </a:p>
          <a:p>
            <a:r>
              <a:rPr lang="en-GB" sz="2400" dirty="0"/>
              <a:t>Crime data is huge.</a:t>
            </a:r>
          </a:p>
          <a:p>
            <a:r>
              <a:rPr lang="en-GB" sz="2400" dirty="0"/>
              <a:t>Hard to analyse manually</a:t>
            </a:r>
          </a:p>
          <a:p>
            <a:r>
              <a:rPr lang="en-GB" sz="2400" dirty="0"/>
              <a:t>Need smarter decisions</a:t>
            </a:r>
          </a:p>
        </p:txBody>
      </p:sp>
      <p:sp>
        <p:nvSpPr>
          <p:cNvPr id="3" name="Slide Number Placeholder 2"/>
          <p:cNvSpPr>
            <a:spLocks noGrp="1"/>
          </p:cNvSpPr>
          <p:nvPr>
            <p:ph type="sldNum" sz="quarter" idx="12"/>
          </p:nvPr>
        </p:nvSpPr>
        <p:spPr/>
        <p:txBody>
          <a:bodyPr/>
          <a:lstStyle/>
          <a:p>
            <a:fld id="{CB4D3031-0AEB-4687-8E23-04446010D3FF}" type="slidenum">
              <a:rPr lang="en-US" smtClean="0"/>
              <a:t>2</a:t>
            </a:fld>
            <a:endParaRPr lang="en-US"/>
          </a:p>
        </p:txBody>
      </p:sp>
    </p:spTree>
    <p:extLst>
      <p:ext uri="{BB962C8B-B14F-4D97-AF65-F5344CB8AC3E}">
        <p14:creationId xmlns:p14="http://schemas.microsoft.com/office/powerpoint/2010/main" val="2665465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14950-941D-CAF8-C3E7-EF9077267EB6}"/>
            </a:ext>
          </a:extLst>
        </p:cNvPr>
        <p:cNvGrpSpPr/>
        <p:nvPr/>
      </p:nvGrpSpPr>
      <p:grpSpPr>
        <a:xfrm>
          <a:off x="0" y="0"/>
          <a:ext cx="0" cy="0"/>
          <a:chOff x="0" y="0"/>
          <a:chExt cx="0" cy="0"/>
        </a:xfrm>
      </p:grpSpPr>
      <p:sp>
        <p:nvSpPr>
          <p:cNvPr id="1048623" name="Title 1">
            <a:extLst>
              <a:ext uri="{FF2B5EF4-FFF2-40B4-BE49-F238E27FC236}">
                <a16:creationId xmlns:a16="http://schemas.microsoft.com/office/drawing/2014/main" id="{EFF8F41D-00BD-B1A4-052B-E803698C37E8}"/>
              </a:ext>
            </a:extLst>
          </p:cNvPr>
          <p:cNvSpPr>
            <a:spLocks noGrp="1"/>
          </p:cNvSpPr>
          <p:nvPr>
            <p:ph type="title"/>
          </p:nvPr>
        </p:nvSpPr>
        <p:spPr>
          <a:xfrm>
            <a:off x="3516374" y="741403"/>
            <a:ext cx="5159252" cy="823008"/>
          </a:xfrm>
        </p:spPr>
        <p:txBody>
          <a:bodyPr>
            <a:normAutofit/>
          </a:bodyPr>
          <a:lstStyle/>
          <a:p>
            <a:pPr algn="ctr"/>
            <a:r>
              <a:rPr lang="en-GB" sz="4800" b="1" dirty="0"/>
              <a:t>Solution (RQs)</a:t>
            </a:r>
            <a:endParaRPr lang="en-US" sz="4500" b="1" dirty="0">
              <a:solidFill>
                <a:schemeClr val="tx1"/>
              </a:solidFill>
            </a:endParaRPr>
          </a:p>
        </p:txBody>
      </p:sp>
      <p:sp>
        <p:nvSpPr>
          <p:cNvPr id="1048624" name="Content Placeholder 2">
            <a:extLst>
              <a:ext uri="{FF2B5EF4-FFF2-40B4-BE49-F238E27FC236}">
                <a16:creationId xmlns:a16="http://schemas.microsoft.com/office/drawing/2014/main" id="{BBAD271E-113B-FDE1-D5ED-18648D43C6BD}"/>
              </a:ext>
            </a:extLst>
          </p:cNvPr>
          <p:cNvSpPr>
            <a:spLocks noGrp="1"/>
          </p:cNvSpPr>
          <p:nvPr>
            <p:ph idx="1"/>
          </p:nvPr>
        </p:nvSpPr>
        <p:spPr>
          <a:xfrm>
            <a:off x="2243293" y="1791939"/>
            <a:ext cx="8661268" cy="3626222"/>
          </a:xfrm>
        </p:spPr>
        <p:txBody>
          <a:bodyPr>
            <a:normAutofit/>
          </a:bodyPr>
          <a:lstStyle/>
          <a:p>
            <a:r>
              <a:rPr lang="en-GB" sz="2400" dirty="0"/>
              <a:t>Analyse patterns overtime and location</a:t>
            </a:r>
          </a:p>
          <a:p>
            <a:r>
              <a:rPr lang="en-GB" sz="2400" dirty="0"/>
              <a:t>Find hotspots</a:t>
            </a:r>
          </a:p>
          <a:p>
            <a:r>
              <a:rPr lang="en-GB" sz="2400" dirty="0"/>
              <a:t>Predict future crime and the factors affecting it.</a:t>
            </a:r>
          </a:p>
        </p:txBody>
      </p:sp>
      <p:sp>
        <p:nvSpPr>
          <p:cNvPr id="3" name="Slide Number Placeholder 2">
            <a:extLst>
              <a:ext uri="{FF2B5EF4-FFF2-40B4-BE49-F238E27FC236}">
                <a16:creationId xmlns:a16="http://schemas.microsoft.com/office/drawing/2014/main" id="{2ED4BE84-F37B-6338-AF45-0196C3A4BD10}"/>
              </a:ext>
            </a:extLst>
          </p:cNvPr>
          <p:cNvSpPr>
            <a:spLocks noGrp="1"/>
          </p:cNvSpPr>
          <p:nvPr>
            <p:ph type="sldNum" sz="quarter" idx="12"/>
          </p:nvPr>
        </p:nvSpPr>
        <p:spPr/>
        <p:txBody>
          <a:bodyPr/>
          <a:lstStyle/>
          <a:p>
            <a:fld id="{CB4D3031-0AEB-4687-8E23-04446010D3FF}" type="slidenum">
              <a:rPr lang="en-US" smtClean="0"/>
              <a:t>3</a:t>
            </a:fld>
            <a:endParaRPr lang="en-US"/>
          </a:p>
        </p:txBody>
      </p:sp>
      <p:sp>
        <p:nvSpPr>
          <p:cNvPr id="2" name="TextBox 1">
            <a:extLst>
              <a:ext uri="{FF2B5EF4-FFF2-40B4-BE49-F238E27FC236}">
                <a16:creationId xmlns:a16="http://schemas.microsoft.com/office/drawing/2014/main" id="{6A7AA724-108C-016D-CE4E-4CC11588DA6A}"/>
              </a:ext>
            </a:extLst>
          </p:cNvPr>
          <p:cNvSpPr txBox="1"/>
          <p:nvPr/>
        </p:nvSpPr>
        <p:spPr>
          <a:xfrm>
            <a:off x="2284306" y="3974381"/>
            <a:ext cx="3760966" cy="369332"/>
          </a:xfrm>
          <a:prstGeom prst="rect">
            <a:avLst/>
          </a:prstGeom>
          <a:noFill/>
        </p:spPr>
        <p:txBody>
          <a:bodyPr wrap="none" rtlCol="0">
            <a:spAutoFit/>
          </a:bodyPr>
          <a:lstStyle/>
          <a:p>
            <a:r>
              <a:rPr lang="en-PK" b="1" dirty="0"/>
              <a:t>People &amp; Police Better Decisions</a:t>
            </a:r>
          </a:p>
        </p:txBody>
      </p:sp>
      <p:sp>
        <p:nvSpPr>
          <p:cNvPr id="4" name="TextBox 3">
            <a:extLst>
              <a:ext uri="{FF2B5EF4-FFF2-40B4-BE49-F238E27FC236}">
                <a16:creationId xmlns:a16="http://schemas.microsoft.com/office/drawing/2014/main" id="{B2AA266A-E9ED-7427-5ED9-2B0C6781346F}"/>
              </a:ext>
            </a:extLst>
          </p:cNvPr>
          <p:cNvSpPr txBox="1"/>
          <p:nvPr/>
        </p:nvSpPr>
        <p:spPr>
          <a:xfrm>
            <a:off x="2284306" y="4511605"/>
            <a:ext cx="3211135" cy="369332"/>
          </a:xfrm>
          <a:prstGeom prst="rect">
            <a:avLst/>
          </a:prstGeom>
          <a:noFill/>
        </p:spPr>
        <p:txBody>
          <a:bodyPr wrap="none" rtlCol="0">
            <a:spAutoFit/>
          </a:bodyPr>
          <a:lstStyle/>
          <a:p>
            <a:r>
              <a:rPr lang="en-PK" b="1" dirty="0"/>
              <a:t>USING MACHINE</a:t>
            </a:r>
            <a:r>
              <a:rPr lang="en-PK" dirty="0"/>
              <a:t> </a:t>
            </a:r>
            <a:r>
              <a:rPr lang="en-PK" b="1" dirty="0"/>
              <a:t>LEARNING</a:t>
            </a:r>
          </a:p>
        </p:txBody>
      </p:sp>
    </p:spTree>
    <p:extLst>
      <p:ext uri="{BB962C8B-B14F-4D97-AF65-F5344CB8AC3E}">
        <p14:creationId xmlns:p14="http://schemas.microsoft.com/office/powerpoint/2010/main" val="31022501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2756A-87FF-5AFE-8200-17AA04AD1595}"/>
            </a:ext>
          </a:extLst>
        </p:cNvPr>
        <p:cNvGrpSpPr/>
        <p:nvPr/>
      </p:nvGrpSpPr>
      <p:grpSpPr>
        <a:xfrm>
          <a:off x="0" y="0"/>
          <a:ext cx="0" cy="0"/>
          <a:chOff x="0" y="0"/>
          <a:chExt cx="0" cy="0"/>
        </a:xfrm>
      </p:grpSpPr>
      <p:sp>
        <p:nvSpPr>
          <p:cNvPr id="1048633" name="Content Placeholder 2">
            <a:extLst>
              <a:ext uri="{FF2B5EF4-FFF2-40B4-BE49-F238E27FC236}">
                <a16:creationId xmlns:a16="http://schemas.microsoft.com/office/drawing/2014/main" id="{87F23FF7-523E-25E9-17E9-DC47E2212B1E}"/>
              </a:ext>
            </a:extLst>
          </p:cNvPr>
          <p:cNvSpPr>
            <a:spLocks noGrp="1"/>
          </p:cNvSpPr>
          <p:nvPr>
            <p:ph idx="1"/>
          </p:nvPr>
        </p:nvSpPr>
        <p:spPr>
          <a:xfrm>
            <a:off x="2261796" y="1974803"/>
            <a:ext cx="8312425" cy="2652615"/>
          </a:xfrm>
        </p:spPr>
        <p:txBody>
          <a:bodyPr vert="horz" lIns="91440" tIns="45720" rIns="91440" bIns="45720" rtlCol="0" anchor="t">
            <a:normAutofit fontScale="96154"/>
          </a:bodyPr>
          <a:lstStyle/>
          <a:p>
            <a:r>
              <a:rPr lang="en-GB" b="1" dirty="0"/>
              <a:t>Licensed and Open Source</a:t>
            </a:r>
            <a:r>
              <a:rPr lang="en-GB" dirty="0"/>
              <a:t>: UK Police Open Data </a:t>
            </a:r>
          </a:p>
          <a:p>
            <a:r>
              <a:rPr lang="en-GB" dirty="0"/>
              <a:t>The dataset does not contain personal data and is safe for research use.</a:t>
            </a:r>
          </a:p>
          <a:p>
            <a:r>
              <a:rPr lang="en-GB" dirty="0"/>
              <a:t>Police forces: </a:t>
            </a:r>
          </a:p>
          <a:p>
            <a:pPr lvl="1"/>
            <a:r>
              <a:rPr lang="en-GB" dirty="0"/>
              <a:t>West Midlands Police </a:t>
            </a:r>
          </a:p>
          <a:p>
            <a:pPr lvl="1"/>
            <a:r>
              <a:rPr lang="en-GB" dirty="0"/>
              <a:t>City of London Police</a:t>
            </a:r>
          </a:p>
        </p:txBody>
      </p:sp>
      <p:sp>
        <p:nvSpPr>
          <p:cNvPr id="2" name="TextBox 1">
            <a:extLst>
              <a:ext uri="{FF2B5EF4-FFF2-40B4-BE49-F238E27FC236}">
                <a16:creationId xmlns:a16="http://schemas.microsoft.com/office/drawing/2014/main" id="{1DA00063-7A27-8A19-566A-42978E949433}"/>
              </a:ext>
            </a:extLst>
          </p:cNvPr>
          <p:cNvSpPr txBox="1"/>
          <p:nvPr/>
        </p:nvSpPr>
        <p:spPr>
          <a:xfrm>
            <a:off x="3049744" y="577929"/>
            <a:ext cx="7679960" cy="830997"/>
          </a:xfrm>
          <a:prstGeom prst="rect">
            <a:avLst/>
          </a:prstGeom>
          <a:noFill/>
        </p:spPr>
        <p:txBody>
          <a:bodyPr wrap="square" lIns="91440" tIns="45720" rIns="91440" bIns="45720" rtlCol="0" anchor="t">
            <a:spAutoFit/>
          </a:bodyPr>
          <a:lstStyle/>
          <a:p>
            <a:r>
              <a:rPr lang="en-GB" sz="4800" b="1" dirty="0"/>
              <a:t>Dataset Description</a:t>
            </a:r>
            <a:endParaRPr lang="en-US" b="1" dirty="0"/>
          </a:p>
        </p:txBody>
      </p:sp>
      <p:sp>
        <p:nvSpPr>
          <p:cNvPr id="4" name="Slide Number Placeholder 3">
            <a:extLst>
              <a:ext uri="{FF2B5EF4-FFF2-40B4-BE49-F238E27FC236}">
                <a16:creationId xmlns:a16="http://schemas.microsoft.com/office/drawing/2014/main" id="{4CFF2DB9-C053-C793-81C4-27AB999740A7}"/>
              </a:ext>
            </a:extLst>
          </p:cNvPr>
          <p:cNvSpPr>
            <a:spLocks noGrp="1"/>
          </p:cNvSpPr>
          <p:nvPr>
            <p:ph type="sldNum" sz="quarter" idx="12"/>
          </p:nvPr>
        </p:nvSpPr>
        <p:spPr/>
        <p:txBody>
          <a:bodyPr/>
          <a:lstStyle/>
          <a:p>
            <a:fld id="{CB4D3031-0AEB-4687-8E23-04446010D3FF}" type="slidenum">
              <a:rPr lang="en-US" smtClean="0"/>
              <a:t>4</a:t>
            </a:fld>
            <a:endParaRPr lang="en-US"/>
          </a:p>
        </p:txBody>
      </p:sp>
      <p:graphicFrame>
        <p:nvGraphicFramePr>
          <p:cNvPr id="3" name="Table 2">
            <a:extLst>
              <a:ext uri="{FF2B5EF4-FFF2-40B4-BE49-F238E27FC236}">
                <a16:creationId xmlns:a16="http://schemas.microsoft.com/office/drawing/2014/main" id="{73948C2C-09F5-1524-8D49-7C96B0C9C8D3}"/>
              </a:ext>
            </a:extLst>
          </p:cNvPr>
          <p:cNvGraphicFramePr>
            <a:graphicFrameLocks noGrp="1"/>
          </p:cNvGraphicFramePr>
          <p:nvPr>
            <p:extLst>
              <p:ext uri="{D42A27DB-BD31-4B8C-83A1-F6EECF244321}">
                <p14:modId xmlns:p14="http://schemas.microsoft.com/office/powerpoint/2010/main" val="207276985"/>
              </p:ext>
            </p:extLst>
          </p:nvPr>
        </p:nvGraphicFramePr>
        <p:xfrm>
          <a:off x="2557768" y="4092679"/>
          <a:ext cx="5252112" cy="1463040"/>
        </p:xfrm>
        <a:graphic>
          <a:graphicData uri="http://schemas.openxmlformats.org/drawingml/2006/table">
            <a:tbl>
              <a:tblPr/>
              <a:tblGrid>
                <a:gridCol w="2626056">
                  <a:extLst>
                    <a:ext uri="{9D8B030D-6E8A-4147-A177-3AD203B41FA5}">
                      <a16:colId xmlns:a16="http://schemas.microsoft.com/office/drawing/2014/main" val="4131382172"/>
                    </a:ext>
                  </a:extLst>
                </a:gridCol>
                <a:gridCol w="2626056">
                  <a:extLst>
                    <a:ext uri="{9D8B030D-6E8A-4147-A177-3AD203B41FA5}">
                      <a16:colId xmlns:a16="http://schemas.microsoft.com/office/drawing/2014/main" val="2788668228"/>
                    </a:ext>
                  </a:extLst>
                </a:gridCol>
              </a:tblGrid>
              <a:tr h="0">
                <a:tc>
                  <a:txBody>
                    <a:bodyPr/>
                    <a:lstStyle/>
                    <a:p>
                      <a:r>
                        <a:rPr lang="en-GB" b="1" dirty="0"/>
                        <a:t>Metric</a:t>
                      </a:r>
                    </a:p>
                  </a:txBody>
                  <a:tcPr anchor="ctr">
                    <a:lnL>
                      <a:noFill/>
                    </a:lnL>
                    <a:lnR>
                      <a:noFill/>
                    </a:lnR>
                    <a:lnT>
                      <a:noFill/>
                    </a:lnT>
                    <a:lnB>
                      <a:noFill/>
                    </a:lnB>
                    <a:noFill/>
                  </a:tcPr>
                </a:tc>
                <a:tc>
                  <a:txBody>
                    <a:bodyPr/>
                    <a:lstStyle/>
                    <a:p>
                      <a:pPr algn="r"/>
                      <a:r>
                        <a:rPr lang="en-GB" b="1" dirty="0"/>
                        <a:t>Value</a:t>
                      </a:r>
                    </a:p>
                  </a:txBody>
                  <a:tcPr anchor="ctr">
                    <a:lnL>
                      <a:noFill/>
                    </a:lnL>
                    <a:lnR>
                      <a:noFill/>
                    </a:lnR>
                    <a:lnT>
                      <a:noFill/>
                    </a:lnT>
                    <a:lnB>
                      <a:noFill/>
                    </a:lnB>
                    <a:noFill/>
                  </a:tcPr>
                </a:tc>
                <a:extLst>
                  <a:ext uri="{0D108BD9-81ED-4DB2-BD59-A6C34878D82A}">
                    <a16:rowId xmlns:a16="http://schemas.microsoft.com/office/drawing/2014/main" val="3811398984"/>
                  </a:ext>
                </a:extLst>
              </a:tr>
              <a:tr h="0">
                <a:tc>
                  <a:txBody>
                    <a:bodyPr/>
                    <a:lstStyle/>
                    <a:p>
                      <a:r>
                        <a:rPr lang="en-GB"/>
                        <a:t>Records</a:t>
                      </a:r>
                    </a:p>
                  </a:txBody>
                  <a:tcPr anchor="ctr">
                    <a:lnL>
                      <a:noFill/>
                    </a:lnL>
                    <a:lnR>
                      <a:noFill/>
                    </a:lnR>
                    <a:lnT>
                      <a:noFill/>
                    </a:lnT>
                    <a:lnB>
                      <a:noFill/>
                    </a:lnB>
                    <a:noFill/>
                  </a:tcPr>
                </a:tc>
                <a:tc>
                  <a:txBody>
                    <a:bodyPr/>
                    <a:lstStyle/>
                    <a:p>
                      <a:pPr algn="r"/>
                      <a:r>
                        <a:rPr lang="en-PK" dirty="0"/>
                        <a:t>772,974</a:t>
                      </a:r>
                    </a:p>
                  </a:txBody>
                  <a:tcPr anchor="ctr">
                    <a:lnL>
                      <a:noFill/>
                    </a:lnL>
                    <a:lnR>
                      <a:noFill/>
                    </a:lnR>
                    <a:lnT>
                      <a:noFill/>
                    </a:lnT>
                    <a:lnB>
                      <a:noFill/>
                    </a:lnB>
                    <a:noFill/>
                  </a:tcPr>
                </a:tc>
                <a:extLst>
                  <a:ext uri="{0D108BD9-81ED-4DB2-BD59-A6C34878D82A}">
                    <a16:rowId xmlns:a16="http://schemas.microsoft.com/office/drawing/2014/main" val="4089933441"/>
                  </a:ext>
                </a:extLst>
              </a:tr>
              <a:tr h="0">
                <a:tc>
                  <a:txBody>
                    <a:bodyPr/>
                    <a:lstStyle/>
                    <a:p>
                      <a:r>
                        <a:rPr lang="en-GB"/>
                        <a:t>Areas</a:t>
                      </a:r>
                    </a:p>
                  </a:txBody>
                  <a:tcPr anchor="ctr">
                    <a:lnL>
                      <a:noFill/>
                    </a:lnL>
                    <a:lnR>
                      <a:noFill/>
                    </a:lnR>
                    <a:lnT>
                      <a:noFill/>
                    </a:lnT>
                    <a:lnB>
                      <a:noFill/>
                    </a:lnB>
                    <a:noFill/>
                  </a:tcPr>
                </a:tc>
                <a:tc>
                  <a:txBody>
                    <a:bodyPr/>
                    <a:lstStyle/>
                    <a:p>
                      <a:pPr algn="r"/>
                      <a:r>
                        <a:rPr lang="en-PK" dirty="0"/>
                        <a:t>1,963 </a:t>
                      </a:r>
                      <a:r>
                        <a:rPr lang="en-GB" dirty="0"/>
                        <a:t>LSOA regions</a:t>
                      </a:r>
                      <a:endParaRPr lang="en-PK" dirty="0"/>
                    </a:p>
                  </a:txBody>
                  <a:tcPr anchor="ctr">
                    <a:lnL>
                      <a:noFill/>
                    </a:lnL>
                    <a:lnR>
                      <a:noFill/>
                    </a:lnR>
                    <a:lnT>
                      <a:noFill/>
                    </a:lnT>
                    <a:lnB>
                      <a:noFill/>
                    </a:lnB>
                    <a:noFill/>
                  </a:tcPr>
                </a:tc>
                <a:extLst>
                  <a:ext uri="{0D108BD9-81ED-4DB2-BD59-A6C34878D82A}">
                    <a16:rowId xmlns:a16="http://schemas.microsoft.com/office/drawing/2014/main" val="2010807796"/>
                  </a:ext>
                </a:extLst>
              </a:tr>
              <a:tr h="0">
                <a:tc>
                  <a:txBody>
                    <a:bodyPr/>
                    <a:lstStyle/>
                    <a:p>
                      <a:r>
                        <a:rPr lang="en-GB" dirty="0"/>
                        <a:t>Period</a:t>
                      </a:r>
                    </a:p>
                  </a:txBody>
                  <a:tcPr anchor="ctr">
                    <a:lnL>
                      <a:noFill/>
                    </a:lnL>
                    <a:lnR>
                      <a:noFill/>
                    </a:lnR>
                    <a:lnT>
                      <a:noFill/>
                    </a:lnT>
                    <a:lnB>
                      <a:noFill/>
                    </a:lnB>
                    <a:noFill/>
                  </a:tcPr>
                </a:tc>
                <a:tc>
                  <a:txBody>
                    <a:bodyPr/>
                    <a:lstStyle/>
                    <a:p>
                      <a:pPr algn="r"/>
                      <a:r>
                        <a:rPr lang="en-GB" dirty="0"/>
                        <a:t>Oct 2023–Dec 2025</a:t>
                      </a:r>
                    </a:p>
                  </a:txBody>
                  <a:tcPr anchor="ctr">
                    <a:lnL>
                      <a:noFill/>
                    </a:lnL>
                    <a:lnR>
                      <a:noFill/>
                    </a:lnR>
                    <a:lnT>
                      <a:noFill/>
                    </a:lnT>
                    <a:lnB>
                      <a:noFill/>
                    </a:lnB>
                    <a:noFill/>
                  </a:tcPr>
                </a:tc>
                <a:extLst>
                  <a:ext uri="{0D108BD9-81ED-4DB2-BD59-A6C34878D82A}">
                    <a16:rowId xmlns:a16="http://schemas.microsoft.com/office/drawing/2014/main" val="314669468"/>
                  </a:ext>
                </a:extLst>
              </a:tr>
            </a:tbl>
          </a:graphicData>
        </a:graphic>
      </p:graphicFrame>
    </p:spTree>
    <p:extLst>
      <p:ext uri="{BB962C8B-B14F-4D97-AF65-F5344CB8AC3E}">
        <p14:creationId xmlns:p14="http://schemas.microsoft.com/office/powerpoint/2010/main" val="26493581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FBCFC-4AF2-CA25-E476-BF3A0B039E0E}"/>
            </a:ext>
          </a:extLst>
        </p:cNvPr>
        <p:cNvGrpSpPr/>
        <p:nvPr/>
      </p:nvGrpSpPr>
      <p:grpSpPr>
        <a:xfrm>
          <a:off x="0" y="0"/>
          <a:ext cx="0" cy="0"/>
          <a:chOff x="0" y="0"/>
          <a:chExt cx="0" cy="0"/>
        </a:xfrm>
      </p:grpSpPr>
      <p:sp>
        <p:nvSpPr>
          <p:cNvPr id="1048633" name="Content Placeholder 2">
            <a:extLst>
              <a:ext uri="{FF2B5EF4-FFF2-40B4-BE49-F238E27FC236}">
                <a16:creationId xmlns:a16="http://schemas.microsoft.com/office/drawing/2014/main" id="{4B9D23C5-7A05-B9EC-A2DD-7A345B398157}"/>
              </a:ext>
            </a:extLst>
          </p:cNvPr>
          <p:cNvSpPr>
            <a:spLocks noGrp="1"/>
          </p:cNvSpPr>
          <p:nvPr>
            <p:ph idx="1"/>
          </p:nvPr>
        </p:nvSpPr>
        <p:spPr>
          <a:xfrm>
            <a:off x="2077278" y="1689652"/>
            <a:ext cx="8816009" cy="4830417"/>
          </a:xfrm>
        </p:spPr>
        <p:txBody>
          <a:bodyPr vert="horz" lIns="91440" tIns="45720" rIns="91440" bIns="45720" rtlCol="0" anchor="t">
            <a:normAutofit fontScale="88654" lnSpcReduction="10000"/>
          </a:bodyPr>
          <a:lstStyle/>
          <a:p>
            <a:r>
              <a:rPr lang="en-GB" b="1" dirty="0"/>
              <a:t>Spatial Features</a:t>
            </a:r>
            <a:endParaRPr lang="en-GB" dirty="0"/>
          </a:p>
          <a:p>
            <a:pPr lvl="1"/>
            <a:r>
              <a:rPr lang="en-GB" dirty="0"/>
              <a:t>Latitude </a:t>
            </a:r>
          </a:p>
          <a:p>
            <a:pPr lvl="1"/>
            <a:r>
              <a:rPr lang="en-GB" dirty="0"/>
              <a:t>Longitude </a:t>
            </a:r>
          </a:p>
          <a:p>
            <a:pPr lvl="1"/>
            <a:r>
              <a:rPr lang="en-GB" dirty="0"/>
              <a:t>LSOA code </a:t>
            </a:r>
          </a:p>
          <a:p>
            <a:r>
              <a:rPr lang="en-GB" b="1" dirty="0"/>
              <a:t>Crime Features</a:t>
            </a:r>
            <a:endParaRPr lang="en-GB" dirty="0"/>
          </a:p>
          <a:p>
            <a:pPr lvl="1"/>
            <a:r>
              <a:rPr lang="en-GB" dirty="0"/>
              <a:t>Crime type </a:t>
            </a:r>
          </a:p>
          <a:p>
            <a:pPr lvl="1"/>
            <a:r>
              <a:rPr lang="en-GB" dirty="0"/>
              <a:t>Outcome category </a:t>
            </a:r>
          </a:p>
          <a:p>
            <a:r>
              <a:rPr lang="en-GB" b="1" dirty="0"/>
              <a:t>Time Features</a:t>
            </a:r>
            <a:endParaRPr lang="en-GB" dirty="0"/>
          </a:p>
          <a:p>
            <a:pPr lvl="1"/>
            <a:r>
              <a:rPr lang="en-GB" dirty="0"/>
              <a:t>Month </a:t>
            </a:r>
          </a:p>
          <a:p>
            <a:pPr lvl="1"/>
            <a:r>
              <a:rPr lang="en-GB" dirty="0"/>
              <a:t>Year</a:t>
            </a:r>
          </a:p>
          <a:p>
            <a:pPr marL="0" indent="0">
              <a:buNone/>
            </a:pPr>
            <a:r>
              <a:rPr lang="en-GB" b="1" dirty="0"/>
              <a:t>Feature Selection (for Modelling)</a:t>
            </a:r>
            <a:endParaRPr lang="en-GB" dirty="0"/>
          </a:p>
          <a:p>
            <a:pPr lvl="1"/>
            <a:r>
              <a:rPr lang="en-GB" dirty="0" err="1"/>
              <a:t>SelectKBest</a:t>
            </a:r>
            <a:r>
              <a:rPr lang="en-GB" dirty="0"/>
              <a:t> was used to rank features based on their importance </a:t>
            </a:r>
          </a:p>
          <a:p>
            <a:pPr lvl="1"/>
            <a:r>
              <a:rPr lang="en-GB" dirty="0"/>
              <a:t>The most useful features were selected for prediction </a:t>
            </a:r>
          </a:p>
          <a:p>
            <a:pPr lvl="1"/>
            <a:r>
              <a:rPr lang="en-GB" dirty="0"/>
              <a:t>This helps reduce noise and improves model performance</a:t>
            </a:r>
          </a:p>
          <a:p>
            <a:pPr marL="57150" indent="0">
              <a:buNone/>
            </a:pPr>
            <a:endParaRPr lang="en-GB" dirty="0"/>
          </a:p>
        </p:txBody>
      </p:sp>
      <p:sp>
        <p:nvSpPr>
          <p:cNvPr id="2" name="TextBox 1">
            <a:extLst>
              <a:ext uri="{FF2B5EF4-FFF2-40B4-BE49-F238E27FC236}">
                <a16:creationId xmlns:a16="http://schemas.microsoft.com/office/drawing/2014/main" id="{8E555B1C-ECA6-0CE6-3112-1D40E6774487}"/>
              </a:ext>
            </a:extLst>
          </p:cNvPr>
          <p:cNvSpPr txBox="1"/>
          <p:nvPr/>
        </p:nvSpPr>
        <p:spPr>
          <a:xfrm>
            <a:off x="3049744" y="577929"/>
            <a:ext cx="7679960" cy="830997"/>
          </a:xfrm>
          <a:prstGeom prst="rect">
            <a:avLst/>
          </a:prstGeom>
          <a:noFill/>
        </p:spPr>
        <p:txBody>
          <a:bodyPr wrap="square" lIns="91440" tIns="45720" rIns="91440" bIns="45720" rtlCol="0" anchor="t">
            <a:spAutoFit/>
          </a:bodyPr>
          <a:lstStyle/>
          <a:p>
            <a:r>
              <a:rPr lang="en-GB" sz="4800" b="1" dirty="0"/>
              <a:t>Dataset Features</a:t>
            </a:r>
            <a:endParaRPr lang="en-US" b="1" dirty="0"/>
          </a:p>
        </p:txBody>
      </p:sp>
      <p:sp>
        <p:nvSpPr>
          <p:cNvPr id="4" name="Slide Number Placeholder 3">
            <a:extLst>
              <a:ext uri="{FF2B5EF4-FFF2-40B4-BE49-F238E27FC236}">
                <a16:creationId xmlns:a16="http://schemas.microsoft.com/office/drawing/2014/main" id="{0DA45FB8-C901-6253-846D-97A5BB91C08D}"/>
              </a:ext>
            </a:extLst>
          </p:cNvPr>
          <p:cNvSpPr>
            <a:spLocks noGrp="1"/>
          </p:cNvSpPr>
          <p:nvPr>
            <p:ph type="sldNum" sz="quarter" idx="12"/>
          </p:nvPr>
        </p:nvSpPr>
        <p:spPr/>
        <p:txBody>
          <a:bodyPr/>
          <a:lstStyle/>
          <a:p>
            <a:fld id="{CB4D3031-0AEB-4687-8E23-04446010D3FF}" type="slidenum">
              <a:rPr lang="en-US" smtClean="0"/>
              <a:t>5</a:t>
            </a:fld>
            <a:endParaRPr lang="en-US"/>
          </a:p>
        </p:txBody>
      </p:sp>
    </p:spTree>
    <p:extLst>
      <p:ext uri="{BB962C8B-B14F-4D97-AF65-F5344CB8AC3E}">
        <p14:creationId xmlns:p14="http://schemas.microsoft.com/office/powerpoint/2010/main" val="1953507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002CF-4092-F655-6372-E769277DBDC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5A6A037-EF7C-1F97-361F-298CE5392A95}"/>
              </a:ext>
            </a:extLst>
          </p:cNvPr>
          <p:cNvSpPr txBox="1"/>
          <p:nvPr/>
        </p:nvSpPr>
        <p:spPr>
          <a:xfrm>
            <a:off x="2592924" y="624110"/>
            <a:ext cx="8911687" cy="1280890"/>
          </a:xfrm>
          <a:prstGeom prst="rect">
            <a:avLst/>
          </a:prstGeom>
        </p:spPr>
        <p:txBody>
          <a:bodyPr vert="horz" lIns="91440" tIns="45720" rIns="91440" bIns="45720" rtlCol="0" anchor="t">
            <a:normAutofit/>
          </a:bodyPr>
          <a:lstStyle/>
          <a:p>
            <a:pPr>
              <a:spcBef>
                <a:spcPct val="0"/>
              </a:spcBef>
              <a:spcAft>
                <a:spcPts val="600"/>
              </a:spcAft>
            </a:pPr>
            <a:r>
              <a:rPr lang="en-US" sz="3600" b="1" kern="1200">
                <a:solidFill>
                  <a:schemeClr val="tx1">
                    <a:lumMod val="85000"/>
                    <a:lumOff val="15000"/>
                  </a:schemeClr>
                </a:solidFill>
                <a:latin typeface="+mj-lt"/>
                <a:ea typeface="+mj-ea"/>
                <a:cs typeface="+mj-cs"/>
              </a:rPr>
              <a:t>Data Preparation</a:t>
            </a:r>
          </a:p>
        </p:txBody>
      </p:sp>
      <p:sp>
        <p:nvSpPr>
          <p:cNvPr id="1048633" name="Content Placeholder 2">
            <a:extLst>
              <a:ext uri="{FF2B5EF4-FFF2-40B4-BE49-F238E27FC236}">
                <a16:creationId xmlns:a16="http://schemas.microsoft.com/office/drawing/2014/main" id="{AC8967CE-EB91-3F5E-DA57-CED125940194}"/>
              </a:ext>
            </a:extLst>
          </p:cNvPr>
          <p:cNvSpPr>
            <a:spLocks noGrp="1"/>
          </p:cNvSpPr>
          <p:nvPr>
            <p:ph sz="half" idx="1"/>
          </p:nvPr>
        </p:nvSpPr>
        <p:spPr>
          <a:xfrm>
            <a:off x="2589211" y="1590675"/>
            <a:ext cx="8911687" cy="2138363"/>
          </a:xfrm>
        </p:spPr>
        <p:txBody>
          <a:bodyPr vert="horz" lIns="91440" tIns="45720" rIns="91440" bIns="45720" rtlCol="0">
            <a:normAutofit/>
          </a:bodyPr>
          <a:lstStyle/>
          <a:p>
            <a:r>
              <a:rPr lang="en-US" dirty="0"/>
              <a:t>Combined 54 CSV files into one dataset </a:t>
            </a:r>
          </a:p>
          <a:p>
            <a:r>
              <a:rPr lang="en-US" dirty="0"/>
              <a:t>Removed missing and invalid values </a:t>
            </a:r>
          </a:p>
          <a:p>
            <a:r>
              <a:rPr lang="en-US" dirty="0"/>
              <a:t>Converted dates into year and month </a:t>
            </a:r>
          </a:p>
          <a:p>
            <a:r>
              <a:rPr lang="en-US" dirty="0"/>
              <a:t>Grouped data into LSOA-month level </a:t>
            </a:r>
          </a:p>
          <a:p>
            <a:pPr marL="0" indent="0"/>
            <a:r>
              <a:rPr lang="en-US" dirty="0"/>
              <a:t>This step made the data ready for analysis and modelling.</a:t>
            </a:r>
          </a:p>
        </p:txBody>
      </p:sp>
      <p:pic>
        <p:nvPicPr>
          <p:cNvPr id="3" name="Picture 2">
            <a:extLst>
              <a:ext uri="{FF2B5EF4-FFF2-40B4-BE49-F238E27FC236}">
                <a16:creationId xmlns:a16="http://schemas.microsoft.com/office/drawing/2014/main" id="{1123CFC4-2D9F-902C-9C9E-EBCEABF9D1F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a:off x="2677148" y="3957638"/>
            <a:ext cx="7795590" cy="1948894"/>
          </a:xfrm>
          <a:prstGeom prst="rect">
            <a:avLst/>
          </a:prstGeom>
          <a:noFill/>
          <a:ln>
            <a:noFill/>
          </a:ln>
        </p:spPr>
      </p:pic>
      <p:sp>
        <p:nvSpPr>
          <p:cNvPr id="4" name="Slide Number Placeholder 3">
            <a:extLst>
              <a:ext uri="{FF2B5EF4-FFF2-40B4-BE49-F238E27FC236}">
                <a16:creationId xmlns:a16="http://schemas.microsoft.com/office/drawing/2014/main" id="{4C45EA8C-561F-46F9-49AA-6F3295012EB1}"/>
              </a:ext>
            </a:extLst>
          </p:cNvPr>
          <p:cNvSpPr>
            <a:spLocks noGrp="1"/>
          </p:cNvSpPr>
          <p:nvPr>
            <p:ph type="sldNum" sz="quarter" idx="12"/>
          </p:nvPr>
        </p:nvSpPr>
        <p:spPr>
          <a:xfrm>
            <a:off x="531812" y="787782"/>
            <a:ext cx="779767" cy="365125"/>
          </a:xfrm>
        </p:spPr>
        <p:txBody>
          <a:bodyPr vert="horz" lIns="91440" tIns="45720" rIns="91440" bIns="45720" rtlCol="0" anchor="ctr">
            <a:normAutofit/>
          </a:bodyPr>
          <a:lstStyle/>
          <a:p>
            <a:pPr>
              <a:lnSpc>
                <a:spcPct val="90000"/>
              </a:lnSpc>
              <a:spcAft>
                <a:spcPts val="600"/>
              </a:spcAft>
            </a:pPr>
            <a:fld id="{CB4D3031-0AEB-4687-8E23-04446010D3FF}" type="slidenum">
              <a:rPr lang="en-US" sz="1900" smtClean="0"/>
              <a:pPr>
                <a:lnSpc>
                  <a:spcPct val="90000"/>
                </a:lnSpc>
                <a:spcAft>
                  <a:spcPts val="600"/>
                </a:spcAft>
              </a:pPr>
              <a:t>6</a:t>
            </a:fld>
            <a:endParaRPr lang="en-US" sz="1900"/>
          </a:p>
        </p:txBody>
      </p:sp>
    </p:spTree>
    <p:extLst>
      <p:ext uri="{BB962C8B-B14F-4D97-AF65-F5344CB8AC3E}">
        <p14:creationId xmlns:p14="http://schemas.microsoft.com/office/powerpoint/2010/main" val="25485986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56D59-7C55-54E0-1D2D-2C10251ACDFD}"/>
            </a:ext>
          </a:extLst>
        </p:cNvPr>
        <p:cNvGrpSpPr/>
        <p:nvPr/>
      </p:nvGrpSpPr>
      <p:grpSpPr>
        <a:xfrm>
          <a:off x="0" y="0"/>
          <a:ext cx="0" cy="0"/>
          <a:chOff x="0" y="0"/>
          <a:chExt cx="0" cy="0"/>
        </a:xfrm>
      </p:grpSpPr>
      <p:sp>
        <p:nvSpPr>
          <p:cNvPr id="1048627" name="Title 1">
            <a:extLst>
              <a:ext uri="{FF2B5EF4-FFF2-40B4-BE49-F238E27FC236}">
                <a16:creationId xmlns:a16="http://schemas.microsoft.com/office/drawing/2014/main" id="{556A38DA-DA6F-4C2F-2176-006E6FF3FC6C}"/>
              </a:ext>
            </a:extLst>
          </p:cNvPr>
          <p:cNvSpPr>
            <a:spLocks noGrp="1"/>
          </p:cNvSpPr>
          <p:nvPr>
            <p:ph type="title"/>
          </p:nvPr>
        </p:nvSpPr>
        <p:spPr>
          <a:xfrm>
            <a:off x="2592924" y="624110"/>
            <a:ext cx="8911687" cy="1280890"/>
          </a:xfrm>
        </p:spPr>
        <p:txBody>
          <a:bodyPr vert="horz" lIns="91440" tIns="45720" rIns="91440" bIns="45720" rtlCol="0" anchor="t">
            <a:normAutofit/>
          </a:bodyPr>
          <a:lstStyle/>
          <a:p>
            <a:r>
              <a:rPr lang="en-US" b="1" kern="1200" dirty="0">
                <a:latin typeface="+mj-lt"/>
                <a:ea typeface="+mj-ea"/>
                <a:cs typeface="+mj-cs"/>
              </a:rPr>
              <a:t>Feature Correlation Heatmap</a:t>
            </a:r>
            <a:endParaRPr lang="en-US" kern="1200" dirty="0">
              <a:latin typeface="+mj-lt"/>
              <a:ea typeface="+mj-ea"/>
              <a:cs typeface="+mj-cs"/>
            </a:endParaRPr>
          </a:p>
        </p:txBody>
      </p:sp>
      <p:pic>
        <p:nvPicPr>
          <p:cNvPr id="5122" name="Picture 2">
            <a:extLst>
              <a:ext uri="{FF2B5EF4-FFF2-40B4-BE49-F238E27FC236}">
                <a16:creationId xmlns:a16="http://schemas.microsoft.com/office/drawing/2014/main" id="{5ACCD477-F5C2-521D-4745-512FFE0A8E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7452" r="4047" b="1"/>
          <a:stretch>
            <a:fillRect/>
          </a:stretch>
        </p:blipFill>
        <p:spPr bwMode="auto">
          <a:xfrm>
            <a:off x="1603374" y="1619936"/>
            <a:ext cx="5226052" cy="4576419"/>
          </a:xfrm>
          <a:prstGeom prst="rect">
            <a:avLst/>
          </a:prstGeom>
          <a:noFill/>
        </p:spPr>
      </p:pic>
      <p:sp>
        <p:nvSpPr>
          <p:cNvPr id="4" name="TextBox 3">
            <a:extLst>
              <a:ext uri="{FF2B5EF4-FFF2-40B4-BE49-F238E27FC236}">
                <a16:creationId xmlns:a16="http://schemas.microsoft.com/office/drawing/2014/main" id="{FEF47304-28A4-157B-8449-C5D93263E219}"/>
              </a:ext>
            </a:extLst>
          </p:cNvPr>
          <p:cNvSpPr txBox="1"/>
          <p:nvPr/>
        </p:nvSpPr>
        <p:spPr>
          <a:xfrm>
            <a:off x="7190747" y="2126222"/>
            <a:ext cx="4313864" cy="3777622"/>
          </a:xfrm>
          <a:prstGeom prst="rect">
            <a:avLst/>
          </a:prstGeom>
        </p:spPr>
        <p:txBody>
          <a:bodyPr vert="horz" lIns="91440" tIns="45720" rIns="91440" bIns="45720" rtlCol="0">
            <a:normAutofit/>
          </a:bodyPr>
          <a:lstStyle/>
          <a:p>
            <a:pPr marL="342900" indent="-342900">
              <a:spcBef>
                <a:spcPts val="1000"/>
              </a:spcBef>
              <a:buClr>
                <a:schemeClr val="accent1"/>
              </a:buClr>
              <a:buFont typeface="Wingdings 3" charset="2"/>
              <a:buChar char=""/>
            </a:pPr>
            <a:r>
              <a:rPr lang="en-US" dirty="0">
                <a:solidFill>
                  <a:schemeClr val="tx1">
                    <a:lumMod val="75000"/>
                    <a:lumOff val="25000"/>
                  </a:schemeClr>
                </a:solidFill>
              </a:rPr>
              <a:t>This heatmap shows how different features are related to each other. Strong positive values (red) mean features move together, while negative values (blue) show opposite trends. It helps identify important features like </a:t>
            </a:r>
            <a:r>
              <a:rPr lang="en-US" i="1" dirty="0">
                <a:solidFill>
                  <a:schemeClr val="tx1">
                    <a:lumMod val="75000"/>
                    <a:lumOff val="25000"/>
                  </a:schemeClr>
                </a:solidFill>
              </a:rPr>
              <a:t>lag1</a:t>
            </a:r>
            <a:r>
              <a:rPr lang="en-US" dirty="0">
                <a:solidFill>
                  <a:schemeClr val="tx1">
                    <a:lumMod val="75000"/>
                    <a:lumOff val="25000"/>
                  </a:schemeClr>
                </a:solidFill>
              </a:rPr>
              <a:t> and </a:t>
            </a:r>
            <a:r>
              <a:rPr lang="en-US" i="1">
                <a:solidFill>
                  <a:schemeClr val="tx1">
                    <a:lumMod val="75000"/>
                    <a:lumOff val="25000"/>
                  </a:schemeClr>
                </a:solidFill>
              </a:rPr>
              <a:t>dominantTypeCount</a:t>
            </a:r>
            <a:r>
              <a:rPr lang="en-US" dirty="0">
                <a:solidFill>
                  <a:schemeClr val="tx1">
                    <a:lumMod val="75000"/>
                    <a:lumOff val="25000"/>
                  </a:schemeClr>
                </a:solidFill>
              </a:rPr>
              <a:t> for prediction.</a:t>
            </a:r>
          </a:p>
        </p:txBody>
      </p:sp>
      <p:sp>
        <p:nvSpPr>
          <p:cNvPr id="3" name="Slide Number Placeholder 2">
            <a:extLst>
              <a:ext uri="{FF2B5EF4-FFF2-40B4-BE49-F238E27FC236}">
                <a16:creationId xmlns:a16="http://schemas.microsoft.com/office/drawing/2014/main" id="{BDD32B5C-9DFD-404E-A58F-0BCA890DA720}"/>
              </a:ext>
            </a:extLst>
          </p:cNvPr>
          <p:cNvSpPr>
            <a:spLocks noGrp="1"/>
          </p:cNvSpPr>
          <p:nvPr>
            <p:ph type="sldNum" sz="quarter" idx="12"/>
          </p:nvPr>
        </p:nvSpPr>
        <p:spPr>
          <a:xfrm>
            <a:off x="531812" y="787782"/>
            <a:ext cx="779767" cy="365125"/>
          </a:xfrm>
        </p:spPr>
        <p:txBody>
          <a:bodyPr vert="horz" lIns="91440" tIns="45720" rIns="91440" bIns="45720" rtlCol="0" anchor="ctr">
            <a:normAutofit/>
          </a:bodyPr>
          <a:lstStyle/>
          <a:p>
            <a:pPr>
              <a:lnSpc>
                <a:spcPct val="90000"/>
              </a:lnSpc>
              <a:spcAft>
                <a:spcPts val="600"/>
              </a:spcAft>
            </a:pPr>
            <a:fld id="{CB4D3031-0AEB-4687-8E23-04446010D3FF}" type="slidenum">
              <a:rPr lang="en-US" sz="1900" smtClean="0"/>
              <a:pPr>
                <a:lnSpc>
                  <a:spcPct val="90000"/>
                </a:lnSpc>
                <a:spcAft>
                  <a:spcPts val="600"/>
                </a:spcAft>
              </a:pPr>
              <a:t>7</a:t>
            </a:fld>
            <a:endParaRPr lang="en-US" sz="1900"/>
          </a:p>
        </p:txBody>
      </p:sp>
    </p:spTree>
    <p:extLst>
      <p:ext uri="{BB962C8B-B14F-4D97-AF65-F5344CB8AC3E}">
        <p14:creationId xmlns:p14="http://schemas.microsoft.com/office/powerpoint/2010/main" val="2686407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56958-0131-6D7E-7282-A1AB389D10A2}"/>
            </a:ext>
          </a:extLst>
        </p:cNvPr>
        <p:cNvGrpSpPr/>
        <p:nvPr/>
      </p:nvGrpSpPr>
      <p:grpSpPr>
        <a:xfrm>
          <a:off x="0" y="0"/>
          <a:ext cx="0" cy="0"/>
          <a:chOff x="0" y="0"/>
          <a:chExt cx="0" cy="0"/>
        </a:xfrm>
      </p:grpSpPr>
      <p:sp>
        <p:nvSpPr>
          <p:cNvPr id="1048627" name="Title 1">
            <a:extLst>
              <a:ext uri="{FF2B5EF4-FFF2-40B4-BE49-F238E27FC236}">
                <a16:creationId xmlns:a16="http://schemas.microsoft.com/office/drawing/2014/main" id="{B97D4174-95DC-2833-0FA7-F77D06E1994E}"/>
              </a:ext>
            </a:extLst>
          </p:cNvPr>
          <p:cNvSpPr>
            <a:spLocks noGrp="1"/>
          </p:cNvSpPr>
          <p:nvPr>
            <p:ph type="title"/>
          </p:nvPr>
        </p:nvSpPr>
        <p:spPr>
          <a:xfrm>
            <a:off x="2592924" y="624110"/>
            <a:ext cx="8911687" cy="1280890"/>
          </a:xfrm>
        </p:spPr>
        <p:txBody>
          <a:bodyPr vert="horz" lIns="91440" tIns="45720" rIns="91440" bIns="45720" rtlCol="0" anchor="t">
            <a:normAutofit/>
          </a:bodyPr>
          <a:lstStyle/>
          <a:p>
            <a:r>
              <a:rPr lang="en-US" b="1" kern="1200">
                <a:latin typeface="+mj-lt"/>
                <a:ea typeface="+mj-ea"/>
                <a:cs typeface="+mj-cs"/>
              </a:rPr>
              <a:t>Monthly Crime Trend</a:t>
            </a:r>
          </a:p>
        </p:txBody>
      </p:sp>
      <p:pic>
        <p:nvPicPr>
          <p:cNvPr id="1028" name="Picture 4">
            <a:extLst>
              <a:ext uri="{FF2B5EF4-FFF2-40B4-BE49-F238E27FC236}">
                <a16:creationId xmlns:a16="http://schemas.microsoft.com/office/drawing/2014/main" id="{061D5C60-0D17-FE3F-0B98-A676E0DE892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87389" y="1394367"/>
            <a:ext cx="6584530" cy="4263483"/>
          </a:xfrm>
          <a:prstGeom prst="rect">
            <a:avLst/>
          </a:prstGeom>
          <a:solidFill>
            <a:srgbClr val="FFFFFF"/>
          </a:solidFill>
        </p:spPr>
      </p:pic>
      <p:sp>
        <p:nvSpPr>
          <p:cNvPr id="4" name="TextBox 3">
            <a:extLst>
              <a:ext uri="{FF2B5EF4-FFF2-40B4-BE49-F238E27FC236}">
                <a16:creationId xmlns:a16="http://schemas.microsoft.com/office/drawing/2014/main" id="{89FC4782-BEF7-E3CC-8D7A-69ACD97E3A89}"/>
              </a:ext>
            </a:extLst>
          </p:cNvPr>
          <p:cNvSpPr txBox="1"/>
          <p:nvPr/>
        </p:nvSpPr>
        <p:spPr>
          <a:xfrm>
            <a:off x="7271919" y="2146460"/>
            <a:ext cx="4313864" cy="3777622"/>
          </a:xfrm>
          <a:prstGeom prst="rect">
            <a:avLst/>
          </a:prstGeom>
        </p:spPr>
        <p:txBody>
          <a:bodyPr vert="horz" lIns="91440" tIns="45720" rIns="91440" bIns="45720" rtlCol="0">
            <a:normAutofit/>
          </a:bodyPr>
          <a:lstStyle/>
          <a:p>
            <a:pPr marL="342900" indent="-342900">
              <a:spcBef>
                <a:spcPts val="1000"/>
              </a:spcBef>
              <a:buClr>
                <a:schemeClr val="accent1"/>
              </a:buClr>
              <a:buFont typeface="Wingdings 3" charset="2"/>
              <a:buChar char=""/>
            </a:pPr>
            <a:r>
              <a:rPr lang="en-US" dirty="0">
                <a:solidFill>
                  <a:schemeClr val="tx1">
                    <a:lumMod val="75000"/>
                    <a:lumOff val="25000"/>
                  </a:schemeClr>
                </a:solidFill>
              </a:rPr>
              <a:t>This graph shows how crime levels change over time each month. Crime rises and falls, with peaks in mid-2024 and a drop in early 2025. This suggests </a:t>
            </a:r>
            <a:r>
              <a:rPr lang="en-US" b="1" dirty="0">
                <a:solidFill>
                  <a:schemeClr val="tx1">
                    <a:lumMod val="75000"/>
                    <a:lumOff val="25000"/>
                  </a:schemeClr>
                </a:solidFill>
              </a:rPr>
              <a:t>crime follows a time-based pattern</a:t>
            </a:r>
            <a:r>
              <a:rPr lang="en-US" dirty="0">
                <a:solidFill>
                  <a:schemeClr val="tx1">
                    <a:lumMod val="75000"/>
                    <a:lumOff val="25000"/>
                  </a:schemeClr>
                </a:solidFill>
              </a:rPr>
              <a:t>.</a:t>
            </a:r>
          </a:p>
        </p:txBody>
      </p:sp>
      <p:sp>
        <p:nvSpPr>
          <p:cNvPr id="3" name="Slide Number Placeholder 2">
            <a:extLst>
              <a:ext uri="{FF2B5EF4-FFF2-40B4-BE49-F238E27FC236}">
                <a16:creationId xmlns:a16="http://schemas.microsoft.com/office/drawing/2014/main" id="{4F387D26-221D-B73C-3267-DAD86890F68C}"/>
              </a:ext>
            </a:extLst>
          </p:cNvPr>
          <p:cNvSpPr>
            <a:spLocks noGrp="1"/>
          </p:cNvSpPr>
          <p:nvPr>
            <p:ph type="sldNum" sz="quarter" idx="12"/>
          </p:nvPr>
        </p:nvSpPr>
        <p:spPr>
          <a:xfrm>
            <a:off x="531812" y="787782"/>
            <a:ext cx="779767" cy="365125"/>
          </a:xfrm>
        </p:spPr>
        <p:txBody>
          <a:bodyPr vert="horz" lIns="91440" tIns="45720" rIns="91440" bIns="45720" rtlCol="0" anchor="ctr">
            <a:normAutofit/>
          </a:bodyPr>
          <a:lstStyle/>
          <a:p>
            <a:pPr>
              <a:lnSpc>
                <a:spcPct val="90000"/>
              </a:lnSpc>
              <a:spcAft>
                <a:spcPts val="600"/>
              </a:spcAft>
            </a:pPr>
            <a:fld id="{CB4D3031-0AEB-4687-8E23-04446010D3FF}" type="slidenum">
              <a:rPr lang="en-US" sz="1900" smtClean="0"/>
              <a:pPr>
                <a:lnSpc>
                  <a:spcPct val="90000"/>
                </a:lnSpc>
                <a:spcAft>
                  <a:spcPts val="600"/>
                </a:spcAft>
              </a:pPr>
              <a:t>8</a:t>
            </a:fld>
            <a:endParaRPr lang="en-US" sz="1900"/>
          </a:p>
        </p:txBody>
      </p:sp>
    </p:spTree>
    <p:extLst>
      <p:ext uri="{BB962C8B-B14F-4D97-AF65-F5344CB8AC3E}">
        <p14:creationId xmlns:p14="http://schemas.microsoft.com/office/powerpoint/2010/main" val="2804479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933DF-7640-D58C-0C1C-2B086F8E5A30}"/>
            </a:ext>
          </a:extLst>
        </p:cNvPr>
        <p:cNvGrpSpPr/>
        <p:nvPr/>
      </p:nvGrpSpPr>
      <p:grpSpPr>
        <a:xfrm>
          <a:off x="0" y="0"/>
          <a:ext cx="0" cy="0"/>
          <a:chOff x="0" y="0"/>
          <a:chExt cx="0" cy="0"/>
        </a:xfrm>
      </p:grpSpPr>
      <p:sp>
        <p:nvSpPr>
          <p:cNvPr id="1048627" name="Title 1">
            <a:extLst>
              <a:ext uri="{FF2B5EF4-FFF2-40B4-BE49-F238E27FC236}">
                <a16:creationId xmlns:a16="http://schemas.microsoft.com/office/drawing/2014/main" id="{E24EDD9B-9995-C092-64BF-95B766671D8A}"/>
              </a:ext>
            </a:extLst>
          </p:cNvPr>
          <p:cNvSpPr>
            <a:spLocks noGrp="1"/>
          </p:cNvSpPr>
          <p:nvPr>
            <p:ph type="title"/>
          </p:nvPr>
        </p:nvSpPr>
        <p:spPr>
          <a:xfrm>
            <a:off x="1724409" y="-4720"/>
            <a:ext cx="9792676" cy="645836"/>
          </a:xfrm>
        </p:spPr>
        <p:txBody>
          <a:bodyPr>
            <a:normAutofit fontScale="90000"/>
          </a:bodyPr>
          <a:lstStyle/>
          <a:p>
            <a:pPr algn="ctr"/>
            <a:r>
              <a:rPr lang="en-GB" sz="4000" b="1" dirty="0"/>
              <a:t>Seasonal Crime Pattern</a:t>
            </a:r>
            <a:endParaRPr lang="en-US" sz="4000" b="1" dirty="0">
              <a:latin typeface="Times New Roman"/>
              <a:cs typeface="Times New Roman"/>
            </a:endParaRPr>
          </a:p>
        </p:txBody>
      </p:sp>
      <p:sp>
        <p:nvSpPr>
          <p:cNvPr id="3" name="Slide Number Placeholder 2">
            <a:extLst>
              <a:ext uri="{FF2B5EF4-FFF2-40B4-BE49-F238E27FC236}">
                <a16:creationId xmlns:a16="http://schemas.microsoft.com/office/drawing/2014/main" id="{61259E8C-1655-C9C9-D4E8-8A49A0D6CCA3}"/>
              </a:ext>
            </a:extLst>
          </p:cNvPr>
          <p:cNvSpPr>
            <a:spLocks noGrp="1"/>
          </p:cNvSpPr>
          <p:nvPr>
            <p:ph type="sldNum" sz="quarter" idx="12"/>
          </p:nvPr>
        </p:nvSpPr>
        <p:spPr/>
        <p:txBody>
          <a:bodyPr/>
          <a:lstStyle/>
          <a:p>
            <a:fld id="{CB4D3031-0AEB-4687-8E23-04446010D3FF}" type="slidenum">
              <a:rPr lang="en-US" smtClean="0"/>
              <a:t>9</a:t>
            </a:fld>
            <a:endParaRPr lang="en-US"/>
          </a:p>
        </p:txBody>
      </p:sp>
      <p:sp>
        <p:nvSpPr>
          <p:cNvPr id="12" name="TextBox 11">
            <a:extLst>
              <a:ext uri="{FF2B5EF4-FFF2-40B4-BE49-F238E27FC236}">
                <a16:creationId xmlns:a16="http://schemas.microsoft.com/office/drawing/2014/main" id="{FD755FF8-D04D-95E9-4535-9A5BC0608AD1}"/>
              </a:ext>
            </a:extLst>
          </p:cNvPr>
          <p:cNvSpPr txBox="1"/>
          <p:nvPr/>
        </p:nvSpPr>
        <p:spPr>
          <a:xfrm>
            <a:off x="1724409" y="5798118"/>
            <a:ext cx="9480403" cy="923330"/>
          </a:xfrm>
          <a:prstGeom prst="rect">
            <a:avLst/>
          </a:prstGeom>
          <a:noFill/>
        </p:spPr>
        <p:txBody>
          <a:bodyPr wrap="square">
            <a:spAutoFit/>
          </a:bodyPr>
          <a:lstStyle/>
          <a:p>
            <a:r>
              <a:rPr lang="en-GB" dirty="0"/>
              <a:t>This graph shows how crime levels vary across different months of the year. Some months, especially towards the end of the year, have higher crime rates compared to others. This indicates that crime follows a seasonal pattern.</a:t>
            </a:r>
          </a:p>
        </p:txBody>
      </p:sp>
      <p:pic>
        <p:nvPicPr>
          <p:cNvPr id="2050" name="Picture 2">
            <a:extLst>
              <a:ext uri="{FF2B5EF4-FFF2-40B4-BE49-F238E27FC236}">
                <a16:creationId xmlns:a16="http://schemas.microsoft.com/office/drawing/2014/main" id="{81A5D030-9716-1234-5871-6A239C66F8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3488" y="787782"/>
            <a:ext cx="7892439" cy="5010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39063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57CED-DDB6-D9D0-7379-053A32B1DB4C}"/>
            </a:ext>
          </a:extLst>
        </p:cNvPr>
        <p:cNvGrpSpPr/>
        <p:nvPr/>
      </p:nvGrpSpPr>
      <p:grpSpPr>
        <a:xfrm>
          <a:off x="0" y="0"/>
          <a:ext cx="0" cy="0"/>
          <a:chOff x="0" y="0"/>
          <a:chExt cx="0" cy="0"/>
        </a:xfrm>
      </p:grpSpPr>
      <p:sp>
        <p:nvSpPr>
          <p:cNvPr id="1048627" name="Title 1">
            <a:extLst>
              <a:ext uri="{FF2B5EF4-FFF2-40B4-BE49-F238E27FC236}">
                <a16:creationId xmlns:a16="http://schemas.microsoft.com/office/drawing/2014/main" id="{BEAF0448-A5A0-ED53-5598-88E009874CED}"/>
              </a:ext>
            </a:extLst>
          </p:cNvPr>
          <p:cNvSpPr>
            <a:spLocks noGrp="1"/>
          </p:cNvSpPr>
          <p:nvPr>
            <p:ph type="title"/>
          </p:nvPr>
        </p:nvSpPr>
        <p:spPr>
          <a:xfrm>
            <a:off x="1565185" y="-4720"/>
            <a:ext cx="9792676" cy="645836"/>
          </a:xfrm>
        </p:spPr>
        <p:txBody>
          <a:bodyPr>
            <a:normAutofit fontScale="90000"/>
          </a:bodyPr>
          <a:lstStyle/>
          <a:p>
            <a:pPr algn="ctr"/>
            <a:r>
              <a:rPr lang="en-GB" sz="4000" b="1" dirty="0"/>
              <a:t>Top Crime Types</a:t>
            </a:r>
            <a:endParaRPr lang="en-US" sz="4000" b="1" dirty="0">
              <a:latin typeface="Times New Roman"/>
              <a:cs typeface="Times New Roman"/>
            </a:endParaRPr>
          </a:p>
        </p:txBody>
      </p:sp>
      <p:sp>
        <p:nvSpPr>
          <p:cNvPr id="3" name="Slide Number Placeholder 2">
            <a:extLst>
              <a:ext uri="{FF2B5EF4-FFF2-40B4-BE49-F238E27FC236}">
                <a16:creationId xmlns:a16="http://schemas.microsoft.com/office/drawing/2014/main" id="{6AB07416-9F11-DC52-E3BE-0300A1174C36}"/>
              </a:ext>
            </a:extLst>
          </p:cNvPr>
          <p:cNvSpPr>
            <a:spLocks noGrp="1"/>
          </p:cNvSpPr>
          <p:nvPr>
            <p:ph type="sldNum" sz="quarter" idx="12"/>
          </p:nvPr>
        </p:nvSpPr>
        <p:spPr/>
        <p:txBody>
          <a:bodyPr/>
          <a:lstStyle/>
          <a:p>
            <a:fld id="{CB4D3031-0AEB-4687-8E23-04446010D3FF}" type="slidenum">
              <a:rPr lang="en-US" smtClean="0"/>
              <a:t>10</a:t>
            </a:fld>
            <a:endParaRPr lang="en-US"/>
          </a:p>
        </p:txBody>
      </p:sp>
      <p:sp>
        <p:nvSpPr>
          <p:cNvPr id="12" name="TextBox 11">
            <a:extLst>
              <a:ext uri="{FF2B5EF4-FFF2-40B4-BE49-F238E27FC236}">
                <a16:creationId xmlns:a16="http://schemas.microsoft.com/office/drawing/2014/main" id="{660168C5-AACB-2429-4DA2-F96ED88CA699}"/>
              </a:ext>
            </a:extLst>
          </p:cNvPr>
          <p:cNvSpPr txBox="1"/>
          <p:nvPr/>
        </p:nvSpPr>
        <p:spPr>
          <a:xfrm>
            <a:off x="1781275" y="5741577"/>
            <a:ext cx="9480403" cy="923330"/>
          </a:xfrm>
          <a:prstGeom prst="rect">
            <a:avLst/>
          </a:prstGeom>
          <a:noFill/>
        </p:spPr>
        <p:txBody>
          <a:bodyPr wrap="square">
            <a:spAutoFit/>
          </a:bodyPr>
          <a:lstStyle/>
          <a:p>
            <a:r>
              <a:rPr lang="en-GB" dirty="0"/>
              <a:t>This graph shows the most common types of crime in the dataset. Violence and sexual offences have the highest count, followed by shoplifting and vehicle crime. This shows that theft-related crimes are also very frequent.</a:t>
            </a:r>
          </a:p>
        </p:txBody>
      </p:sp>
      <p:pic>
        <p:nvPicPr>
          <p:cNvPr id="3074" name="Picture 2">
            <a:extLst>
              <a:ext uri="{FF2B5EF4-FFF2-40B4-BE49-F238E27FC236}">
                <a16:creationId xmlns:a16="http://schemas.microsoft.com/office/drawing/2014/main" id="{58AE4244-FACC-8CEE-C61F-0EA92546BB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0887" y="596035"/>
            <a:ext cx="6186695" cy="51906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98542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4D409-B71D-EAB3-3D5B-9699FA285FDF}"/>
            </a:ext>
          </a:extLst>
        </p:cNvPr>
        <p:cNvGrpSpPr/>
        <p:nvPr/>
      </p:nvGrpSpPr>
      <p:grpSpPr>
        <a:xfrm>
          <a:off x="0" y="0"/>
          <a:ext cx="0" cy="0"/>
          <a:chOff x="0" y="0"/>
          <a:chExt cx="0" cy="0"/>
        </a:xfrm>
      </p:grpSpPr>
      <p:sp>
        <p:nvSpPr>
          <p:cNvPr id="1048627" name="Title 1">
            <a:extLst>
              <a:ext uri="{FF2B5EF4-FFF2-40B4-BE49-F238E27FC236}">
                <a16:creationId xmlns:a16="http://schemas.microsoft.com/office/drawing/2014/main" id="{9D7EE5FC-BAB7-D4A1-321E-CD746DB6C870}"/>
              </a:ext>
            </a:extLst>
          </p:cNvPr>
          <p:cNvSpPr>
            <a:spLocks noGrp="1"/>
          </p:cNvSpPr>
          <p:nvPr>
            <p:ph type="title"/>
          </p:nvPr>
        </p:nvSpPr>
        <p:spPr>
          <a:xfrm>
            <a:off x="1565185" y="-4720"/>
            <a:ext cx="9792676" cy="645836"/>
          </a:xfrm>
        </p:spPr>
        <p:txBody>
          <a:bodyPr>
            <a:normAutofit fontScale="90000"/>
          </a:bodyPr>
          <a:lstStyle/>
          <a:p>
            <a:pPr algn="ctr"/>
            <a:r>
              <a:rPr lang="en-GB" sz="4000" b="1" dirty="0"/>
              <a:t>Outcome Categories</a:t>
            </a:r>
            <a:endParaRPr lang="en-US" sz="4000" b="1" dirty="0">
              <a:latin typeface="Times New Roman"/>
              <a:cs typeface="Times New Roman"/>
            </a:endParaRPr>
          </a:p>
        </p:txBody>
      </p:sp>
      <p:sp>
        <p:nvSpPr>
          <p:cNvPr id="3" name="Slide Number Placeholder 2">
            <a:extLst>
              <a:ext uri="{FF2B5EF4-FFF2-40B4-BE49-F238E27FC236}">
                <a16:creationId xmlns:a16="http://schemas.microsoft.com/office/drawing/2014/main" id="{14061144-768B-205A-3114-F88A471CE600}"/>
              </a:ext>
            </a:extLst>
          </p:cNvPr>
          <p:cNvSpPr>
            <a:spLocks noGrp="1"/>
          </p:cNvSpPr>
          <p:nvPr>
            <p:ph type="sldNum" sz="quarter" idx="12"/>
          </p:nvPr>
        </p:nvSpPr>
        <p:spPr/>
        <p:txBody>
          <a:bodyPr/>
          <a:lstStyle/>
          <a:p>
            <a:fld id="{CB4D3031-0AEB-4687-8E23-04446010D3FF}" type="slidenum">
              <a:rPr lang="en-US" smtClean="0"/>
              <a:t>11</a:t>
            </a:fld>
            <a:endParaRPr lang="en-US"/>
          </a:p>
        </p:txBody>
      </p:sp>
      <p:sp>
        <p:nvSpPr>
          <p:cNvPr id="12" name="TextBox 11">
            <a:extLst>
              <a:ext uri="{FF2B5EF4-FFF2-40B4-BE49-F238E27FC236}">
                <a16:creationId xmlns:a16="http://schemas.microsoft.com/office/drawing/2014/main" id="{35669C5D-4512-53D7-48D1-4E49898709A5}"/>
              </a:ext>
            </a:extLst>
          </p:cNvPr>
          <p:cNvSpPr txBox="1"/>
          <p:nvPr/>
        </p:nvSpPr>
        <p:spPr>
          <a:xfrm>
            <a:off x="1877458" y="5755219"/>
            <a:ext cx="9480403" cy="923330"/>
          </a:xfrm>
          <a:prstGeom prst="rect">
            <a:avLst/>
          </a:prstGeom>
          <a:noFill/>
        </p:spPr>
        <p:txBody>
          <a:bodyPr wrap="square">
            <a:spAutoFit/>
          </a:bodyPr>
          <a:lstStyle/>
          <a:p>
            <a:r>
              <a:rPr lang="en-GB" dirty="0"/>
              <a:t>This graph shows the outcomes of reported crimes. Most cases end with no suspect identified or are unable to be prosecuted. </a:t>
            </a:r>
            <a:r>
              <a:rPr lang="en-GB" b="1" dirty="0"/>
              <a:t>This highlights limitations in crime resolution by police.</a:t>
            </a:r>
          </a:p>
        </p:txBody>
      </p:sp>
      <p:pic>
        <p:nvPicPr>
          <p:cNvPr id="5122" name="Picture 2">
            <a:extLst>
              <a:ext uri="{FF2B5EF4-FFF2-40B4-BE49-F238E27FC236}">
                <a16:creationId xmlns:a16="http://schemas.microsoft.com/office/drawing/2014/main" id="{3B2AE8F1-3ACE-E307-D157-D912656459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50096" y="641115"/>
            <a:ext cx="5215361" cy="50426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0865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B5929-75FF-A742-F6B1-53BE7EB8855E}"/>
            </a:ext>
          </a:extLst>
        </p:cNvPr>
        <p:cNvGrpSpPr/>
        <p:nvPr/>
      </p:nvGrpSpPr>
      <p:grpSpPr>
        <a:xfrm>
          <a:off x="0" y="0"/>
          <a:ext cx="0" cy="0"/>
          <a:chOff x="0" y="0"/>
          <a:chExt cx="0" cy="0"/>
        </a:xfrm>
      </p:grpSpPr>
      <p:sp>
        <p:nvSpPr>
          <p:cNvPr id="1048628" name="Title 1">
            <a:extLst>
              <a:ext uri="{FF2B5EF4-FFF2-40B4-BE49-F238E27FC236}">
                <a16:creationId xmlns:a16="http://schemas.microsoft.com/office/drawing/2014/main" id="{7BB65413-44B5-CA22-E916-1AD221788A5A}"/>
              </a:ext>
            </a:extLst>
          </p:cNvPr>
          <p:cNvSpPr>
            <a:spLocks noGrp="1"/>
          </p:cNvSpPr>
          <p:nvPr>
            <p:ph type="title"/>
          </p:nvPr>
        </p:nvSpPr>
        <p:spPr>
          <a:xfrm>
            <a:off x="3862945" y="368832"/>
            <a:ext cx="5649086" cy="784075"/>
          </a:xfrm>
        </p:spPr>
        <p:txBody>
          <a:bodyPr>
            <a:normAutofit fontScale="90000"/>
          </a:bodyPr>
          <a:lstStyle/>
          <a:p>
            <a:pPr algn="ctr"/>
            <a:r>
              <a:rPr lang="en-GB" sz="4000" b="1" dirty="0"/>
              <a:t>Crime Reports by Police Force</a:t>
            </a:r>
            <a:endParaRPr lang="en-US" sz="4000" b="1" dirty="0">
              <a:latin typeface="Times New Roman" panose="02020603050405020304" pitchFamily="18" charset="0"/>
              <a:cs typeface="Times New Roman" panose="02020603050405020304" pitchFamily="18" charset="0"/>
            </a:endParaRPr>
          </a:p>
        </p:txBody>
      </p:sp>
      <p:sp>
        <p:nvSpPr>
          <p:cNvPr id="1048629" name="Content Placeholder 2">
            <a:extLst>
              <a:ext uri="{FF2B5EF4-FFF2-40B4-BE49-F238E27FC236}">
                <a16:creationId xmlns:a16="http://schemas.microsoft.com/office/drawing/2014/main" id="{989E0123-5A7B-DD25-47B5-CEACBD5CFB92}"/>
              </a:ext>
            </a:extLst>
          </p:cNvPr>
          <p:cNvSpPr>
            <a:spLocks noGrp="1"/>
          </p:cNvSpPr>
          <p:nvPr>
            <p:ph idx="1"/>
          </p:nvPr>
        </p:nvSpPr>
        <p:spPr>
          <a:xfrm>
            <a:off x="1682789" y="5764665"/>
            <a:ext cx="8826421" cy="984005"/>
          </a:xfrm>
        </p:spPr>
        <p:txBody>
          <a:bodyPr>
            <a:noAutofit/>
          </a:bodyPr>
          <a:lstStyle/>
          <a:p>
            <a:pPr marL="0" indent="0">
              <a:buNone/>
            </a:pPr>
            <a:r>
              <a:rPr lang="en-GB" sz="1600" dirty="0"/>
              <a:t>This graph shows the number of crimes reported by each police force. Most of the data comes from West Midlands Police, while City of London Police contributes a much smaller portion.</a:t>
            </a:r>
          </a:p>
        </p:txBody>
      </p:sp>
      <p:sp>
        <p:nvSpPr>
          <p:cNvPr id="3" name="Slide Number Placeholder 2">
            <a:extLst>
              <a:ext uri="{FF2B5EF4-FFF2-40B4-BE49-F238E27FC236}">
                <a16:creationId xmlns:a16="http://schemas.microsoft.com/office/drawing/2014/main" id="{459DD6DA-6131-5077-B4F0-4BF3DB7BEFAB}"/>
              </a:ext>
            </a:extLst>
          </p:cNvPr>
          <p:cNvSpPr>
            <a:spLocks noGrp="1"/>
          </p:cNvSpPr>
          <p:nvPr>
            <p:ph type="sldNum" sz="quarter" idx="12"/>
          </p:nvPr>
        </p:nvSpPr>
        <p:spPr/>
        <p:txBody>
          <a:bodyPr/>
          <a:lstStyle/>
          <a:p>
            <a:fld id="{CB4D3031-0AEB-4687-8E23-04446010D3FF}" type="slidenum">
              <a:rPr lang="en-US" smtClean="0"/>
              <a:t>12</a:t>
            </a:fld>
            <a:endParaRPr lang="en-US"/>
          </a:p>
        </p:txBody>
      </p:sp>
      <p:pic>
        <p:nvPicPr>
          <p:cNvPr id="6146" name="Picture 2">
            <a:extLst>
              <a:ext uri="{FF2B5EF4-FFF2-40B4-BE49-F238E27FC236}">
                <a16:creationId xmlns:a16="http://schemas.microsoft.com/office/drawing/2014/main" id="{8E1E1C4A-ED0E-17AD-3D9E-9160708AB5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6350" y="1059796"/>
            <a:ext cx="6079300" cy="47048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55865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8" name="Title 1"/>
          <p:cNvSpPr>
            <a:spLocks noGrp="1"/>
          </p:cNvSpPr>
          <p:nvPr>
            <p:ph type="title"/>
          </p:nvPr>
        </p:nvSpPr>
        <p:spPr>
          <a:xfrm>
            <a:off x="2165378" y="64424"/>
            <a:ext cx="8085644" cy="727796"/>
          </a:xfrm>
        </p:spPr>
        <p:txBody>
          <a:bodyPr>
            <a:noAutofit/>
          </a:bodyPr>
          <a:lstStyle/>
          <a:p>
            <a:pPr algn="ctr"/>
            <a:r>
              <a:rPr lang="en-GB" b="1" dirty="0"/>
              <a:t>Spatial Distribution of Crime</a:t>
            </a:r>
            <a:endParaRPr lang="en-US"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CB4D3031-0AEB-4687-8E23-04446010D3FF}" type="slidenum">
              <a:rPr lang="en-US" smtClean="0"/>
              <a:t>13</a:t>
            </a:fld>
            <a:endParaRPr lang="en-US"/>
          </a:p>
        </p:txBody>
      </p:sp>
      <p:sp>
        <p:nvSpPr>
          <p:cNvPr id="2" name="TextBox 1">
            <a:extLst>
              <a:ext uri="{FF2B5EF4-FFF2-40B4-BE49-F238E27FC236}">
                <a16:creationId xmlns:a16="http://schemas.microsoft.com/office/drawing/2014/main" id="{5378DA6F-1306-575E-4246-D308D04003E4}"/>
              </a:ext>
            </a:extLst>
          </p:cNvPr>
          <p:cNvSpPr txBox="1"/>
          <p:nvPr/>
        </p:nvSpPr>
        <p:spPr>
          <a:xfrm>
            <a:off x="1311579" y="5559505"/>
            <a:ext cx="10754525"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This graph shows the spatial location of crimes using longitude (x-axis) and latitude (y-axis), where values such as 0, -1, and -2 represent geographic coordinates on the map. The points are not evenly distributed, and most crimes are concentrated in specific areas. This indicates that certain locations experience higher crime levels than others.</a:t>
            </a:r>
          </a:p>
        </p:txBody>
      </p:sp>
      <p:pic>
        <p:nvPicPr>
          <p:cNvPr id="7170" name="Picture 2">
            <a:extLst>
              <a:ext uri="{FF2B5EF4-FFF2-40B4-BE49-F238E27FC236}">
                <a16:creationId xmlns:a16="http://schemas.microsoft.com/office/drawing/2014/main" id="{D9CE0480-2D06-FF99-93A4-C6618039F3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6013" y="698330"/>
            <a:ext cx="7187926" cy="45989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86372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322EA-5710-A41D-1FFE-BE9726A04BF1}"/>
            </a:ext>
          </a:extLst>
        </p:cNvPr>
        <p:cNvGrpSpPr/>
        <p:nvPr/>
      </p:nvGrpSpPr>
      <p:grpSpPr>
        <a:xfrm>
          <a:off x="0" y="0"/>
          <a:ext cx="0" cy="0"/>
          <a:chOff x="0" y="0"/>
          <a:chExt cx="0" cy="0"/>
        </a:xfrm>
      </p:grpSpPr>
      <p:sp>
        <p:nvSpPr>
          <p:cNvPr id="1048628" name="Title 1">
            <a:extLst>
              <a:ext uri="{FF2B5EF4-FFF2-40B4-BE49-F238E27FC236}">
                <a16:creationId xmlns:a16="http://schemas.microsoft.com/office/drawing/2014/main" id="{57DAEFD9-7510-7097-24E6-916278D9FF15}"/>
              </a:ext>
            </a:extLst>
          </p:cNvPr>
          <p:cNvSpPr>
            <a:spLocks noGrp="1"/>
          </p:cNvSpPr>
          <p:nvPr>
            <p:ph type="title"/>
          </p:nvPr>
        </p:nvSpPr>
        <p:spPr>
          <a:xfrm>
            <a:off x="2177473" y="282138"/>
            <a:ext cx="8085644" cy="727796"/>
          </a:xfrm>
        </p:spPr>
        <p:txBody>
          <a:bodyPr>
            <a:noAutofit/>
          </a:bodyPr>
          <a:lstStyle/>
          <a:p>
            <a:pPr algn="ctr"/>
            <a:r>
              <a:rPr lang="en-GB" b="1" dirty="0"/>
              <a:t>Hotspot Detection (RQ1)</a:t>
            </a:r>
            <a:endParaRPr lang="en-US" b="1"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ED26ECE3-A4DC-60D9-EE46-019D8818FA03}"/>
              </a:ext>
            </a:extLst>
          </p:cNvPr>
          <p:cNvSpPr>
            <a:spLocks noGrp="1"/>
          </p:cNvSpPr>
          <p:nvPr>
            <p:ph type="sldNum" sz="quarter" idx="12"/>
          </p:nvPr>
        </p:nvSpPr>
        <p:spPr/>
        <p:txBody>
          <a:bodyPr/>
          <a:lstStyle/>
          <a:p>
            <a:fld id="{CB4D3031-0AEB-4687-8E23-04446010D3FF}" type="slidenum">
              <a:rPr lang="en-US" smtClean="0"/>
              <a:t>14</a:t>
            </a:fld>
            <a:endParaRPr lang="en-US"/>
          </a:p>
        </p:txBody>
      </p:sp>
      <p:sp>
        <p:nvSpPr>
          <p:cNvPr id="2" name="TextBox 1">
            <a:extLst>
              <a:ext uri="{FF2B5EF4-FFF2-40B4-BE49-F238E27FC236}">
                <a16:creationId xmlns:a16="http://schemas.microsoft.com/office/drawing/2014/main" id="{AD2BA628-B147-3418-66E4-58C63022B12A}"/>
              </a:ext>
            </a:extLst>
          </p:cNvPr>
          <p:cNvSpPr txBox="1"/>
          <p:nvPr/>
        </p:nvSpPr>
        <p:spPr>
          <a:xfrm>
            <a:off x="3128148" y="2338725"/>
            <a:ext cx="9376133" cy="21171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GB" dirty="0"/>
              <a:t>Two clustering methods were used:</a:t>
            </a:r>
          </a:p>
          <a:p>
            <a:pPr>
              <a:lnSpc>
                <a:spcPct val="150000"/>
              </a:lnSpc>
            </a:pPr>
            <a:r>
              <a:rPr lang="en-GB" b="1" dirty="0" err="1"/>
              <a:t>Kmeans</a:t>
            </a:r>
            <a:endParaRPr lang="en-GB" b="1" dirty="0"/>
          </a:p>
          <a:p>
            <a:pPr>
              <a:lnSpc>
                <a:spcPct val="150000"/>
              </a:lnSpc>
            </a:pPr>
            <a:r>
              <a:rPr lang="en-GB" dirty="0"/>
              <a:t>Groups areas into fixed clusters Based on distance/similarity</a:t>
            </a:r>
          </a:p>
          <a:p>
            <a:pPr>
              <a:lnSpc>
                <a:spcPct val="150000"/>
              </a:lnSpc>
            </a:pPr>
            <a:r>
              <a:rPr lang="en-GB" b="1" dirty="0"/>
              <a:t>DBSCAN</a:t>
            </a:r>
          </a:p>
          <a:p>
            <a:pPr>
              <a:lnSpc>
                <a:spcPct val="150000"/>
              </a:lnSpc>
            </a:pPr>
            <a:r>
              <a:rPr lang="en-GB" dirty="0"/>
              <a:t>Groups areas based on density Detects hotspots and outliers</a:t>
            </a:r>
          </a:p>
        </p:txBody>
      </p:sp>
      <p:sp>
        <p:nvSpPr>
          <p:cNvPr id="5" name="TextBox 4">
            <a:extLst>
              <a:ext uri="{FF2B5EF4-FFF2-40B4-BE49-F238E27FC236}">
                <a16:creationId xmlns:a16="http://schemas.microsoft.com/office/drawing/2014/main" id="{3397D997-FBD3-7207-9B28-AEFAF5F6EC18}"/>
              </a:ext>
            </a:extLst>
          </p:cNvPr>
          <p:cNvSpPr txBox="1"/>
          <p:nvPr/>
        </p:nvSpPr>
        <p:spPr>
          <a:xfrm>
            <a:off x="3167282" y="1152907"/>
            <a:ext cx="6106026" cy="923330"/>
          </a:xfrm>
          <a:prstGeom prst="rect">
            <a:avLst/>
          </a:prstGeom>
          <a:noFill/>
        </p:spPr>
        <p:txBody>
          <a:bodyPr wrap="square">
            <a:spAutoFit/>
          </a:bodyPr>
          <a:lstStyle/>
          <a:p>
            <a:pPr marL="285750" indent="-285750">
              <a:buFont typeface="Arial" panose="020B0604020202020204" pitchFamily="34" charset="0"/>
              <a:buChar char="•"/>
            </a:pPr>
            <a:r>
              <a:rPr lang="en-GB" dirty="0"/>
              <a:t>Crime is not evenly distributed.</a:t>
            </a:r>
          </a:p>
          <a:p>
            <a:pPr marL="285750" indent="-285750">
              <a:buFont typeface="Arial" panose="020B0604020202020204" pitchFamily="34" charset="0"/>
              <a:buChar char="•"/>
            </a:pPr>
            <a:r>
              <a:rPr lang="en-GB" dirty="0"/>
              <a:t>Some areas have much higher crime levels than others.</a:t>
            </a:r>
            <a:endParaRPr lang="en-PK" dirty="0"/>
          </a:p>
        </p:txBody>
      </p:sp>
    </p:spTree>
    <p:extLst>
      <p:ext uri="{BB962C8B-B14F-4D97-AF65-F5344CB8AC3E}">
        <p14:creationId xmlns:p14="http://schemas.microsoft.com/office/powerpoint/2010/main" val="21693330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50D02-FCCD-4CB1-4F51-3FD963DF6EB5}"/>
            </a:ext>
          </a:extLst>
        </p:cNvPr>
        <p:cNvGrpSpPr/>
        <p:nvPr/>
      </p:nvGrpSpPr>
      <p:grpSpPr>
        <a:xfrm>
          <a:off x="0" y="0"/>
          <a:ext cx="0" cy="0"/>
          <a:chOff x="0" y="0"/>
          <a:chExt cx="0" cy="0"/>
        </a:xfrm>
      </p:grpSpPr>
      <p:sp>
        <p:nvSpPr>
          <p:cNvPr id="1048628" name="Title 1">
            <a:extLst>
              <a:ext uri="{FF2B5EF4-FFF2-40B4-BE49-F238E27FC236}">
                <a16:creationId xmlns:a16="http://schemas.microsoft.com/office/drawing/2014/main" id="{08C50DFA-EB27-570B-70FB-D37877075A84}"/>
              </a:ext>
            </a:extLst>
          </p:cNvPr>
          <p:cNvSpPr>
            <a:spLocks noGrp="1"/>
          </p:cNvSpPr>
          <p:nvPr>
            <p:ph type="title"/>
          </p:nvPr>
        </p:nvSpPr>
        <p:spPr>
          <a:xfrm>
            <a:off x="2165378" y="64424"/>
            <a:ext cx="8085644" cy="727796"/>
          </a:xfrm>
        </p:spPr>
        <p:txBody>
          <a:bodyPr>
            <a:noAutofit/>
          </a:bodyPr>
          <a:lstStyle/>
          <a:p>
            <a:pPr algn="ctr"/>
            <a:r>
              <a:rPr lang="en-GB" b="1" dirty="0" err="1"/>
              <a:t>KMeans</a:t>
            </a:r>
            <a:r>
              <a:rPr lang="en-GB" b="1" dirty="0"/>
              <a:t> Clustering Results</a:t>
            </a:r>
            <a:endParaRPr lang="en-US" b="1"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59951E17-3691-D435-B2F2-452D805D8D36}"/>
              </a:ext>
            </a:extLst>
          </p:cNvPr>
          <p:cNvSpPr>
            <a:spLocks noGrp="1"/>
          </p:cNvSpPr>
          <p:nvPr>
            <p:ph type="sldNum" sz="quarter" idx="12"/>
          </p:nvPr>
        </p:nvSpPr>
        <p:spPr/>
        <p:txBody>
          <a:bodyPr/>
          <a:lstStyle/>
          <a:p>
            <a:fld id="{CB4D3031-0AEB-4687-8E23-04446010D3FF}" type="slidenum">
              <a:rPr lang="en-US" smtClean="0"/>
              <a:t>15</a:t>
            </a:fld>
            <a:endParaRPr lang="en-US" dirty="0"/>
          </a:p>
        </p:txBody>
      </p:sp>
      <p:sp>
        <p:nvSpPr>
          <p:cNvPr id="2" name="TextBox 1">
            <a:extLst>
              <a:ext uri="{FF2B5EF4-FFF2-40B4-BE49-F238E27FC236}">
                <a16:creationId xmlns:a16="http://schemas.microsoft.com/office/drawing/2014/main" id="{85660DA7-E4EB-0750-D0CF-E9E4C28671FA}"/>
              </a:ext>
            </a:extLst>
          </p:cNvPr>
          <p:cNvSpPr txBox="1"/>
          <p:nvPr/>
        </p:nvSpPr>
        <p:spPr>
          <a:xfrm>
            <a:off x="7216727" y="2345782"/>
            <a:ext cx="483928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Number of clusters: </a:t>
            </a:r>
            <a:r>
              <a:rPr lang="en-GB" b="1" dirty="0"/>
              <a:t>4</a:t>
            </a:r>
          </a:p>
          <a:p>
            <a:r>
              <a:rPr lang="en-GB" dirty="0"/>
              <a:t>Silhouette Score: </a:t>
            </a:r>
            <a:r>
              <a:rPr lang="en-GB" b="1" dirty="0"/>
              <a:t>0.26</a:t>
            </a:r>
            <a:endParaRPr lang="en-GB" dirty="0"/>
          </a:p>
        </p:txBody>
      </p:sp>
      <p:pic>
        <p:nvPicPr>
          <p:cNvPr id="8194" name="Picture 2">
            <a:extLst>
              <a:ext uri="{FF2B5EF4-FFF2-40B4-BE49-F238E27FC236}">
                <a16:creationId xmlns:a16="http://schemas.microsoft.com/office/drawing/2014/main" id="{0D9541E3-EEE3-68C1-CF64-3DA1903CC5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864" y="1649896"/>
            <a:ext cx="6825591" cy="450242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D8780C9-8580-325A-0943-D609FEF105F5}"/>
              </a:ext>
            </a:extLst>
          </p:cNvPr>
          <p:cNvSpPr txBox="1"/>
          <p:nvPr/>
        </p:nvSpPr>
        <p:spPr>
          <a:xfrm>
            <a:off x="7216726" y="3219557"/>
            <a:ext cx="4839285"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dirty="0"/>
              <a:t>Key Findings:</a:t>
            </a:r>
          </a:p>
          <a:p>
            <a:r>
              <a:rPr lang="en-GB" dirty="0"/>
              <a:t>✔ Groups locations into general regions</a:t>
            </a:r>
            <a:br>
              <a:rPr lang="en-GB" dirty="0"/>
            </a:br>
            <a:r>
              <a:rPr lang="en-PK" dirty="0"/>
              <a:t>❌ </a:t>
            </a:r>
            <a:r>
              <a:rPr lang="en-GB" dirty="0"/>
              <a:t>Weak separation between clusters</a:t>
            </a:r>
            <a:br>
              <a:rPr lang="en-GB" dirty="0"/>
            </a:br>
            <a:r>
              <a:rPr lang="en-PK" dirty="0"/>
              <a:t>❌ </a:t>
            </a:r>
            <a:r>
              <a:rPr lang="en-GB" dirty="0"/>
              <a:t>Does not clearly isolate extreme hotspots</a:t>
            </a:r>
          </a:p>
        </p:txBody>
      </p:sp>
    </p:spTree>
    <p:extLst>
      <p:ext uri="{BB962C8B-B14F-4D97-AF65-F5344CB8AC3E}">
        <p14:creationId xmlns:p14="http://schemas.microsoft.com/office/powerpoint/2010/main" val="24688530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2B322-2957-3358-C6EB-9E8D7DDED565}"/>
            </a:ext>
          </a:extLst>
        </p:cNvPr>
        <p:cNvGrpSpPr/>
        <p:nvPr/>
      </p:nvGrpSpPr>
      <p:grpSpPr>
        <a:xfrm>
          <a:off x="0" y="0"/>
          <a:ext cx="0" cy="0"/>
          <a:chOff x="0" y="0"/>
          <a:chExt cx="0" cy="0"/>
        </a:xfrm>
      </p:grpSpPr>
      <p:sp>
        <p:nvSpPr>
          <p:cNvPr id="1048628" name="Title 1">
            <a:extLst>
              <a:ext uri="{FF2B5EF4-FFF2-40B4-BE49-F238E27FC236}">
                <a16:creationId xmlns:a16="http://schemas.microsoft.com/office/drawing/2014/main" id="{9C8B1883-AB66-1B65-70B8-E0F8B756E495}"/>
              </a:ext>
            </a:extLst>
          </p:cNvPr>
          <p:cNvSpPr>
            <a:spLocks noGrp="1"/>
          </p:cNvSpPr>
          <p:nvPr>
            <p:ph type="title"/>
          </p:nvPr>
        </p:nvSpPr>
        <p:spPr>
          <a:xfrm>
            <a:off x="2177473" y="282138"/>
            <a:ext cx="8085644" cy="727796"/>
          </a:xfrm>
        </p:spPr>
        <p:txBody>
          <a:bodyPr>
            <a:noAutofit/>
          </a:bodyPr>
          <a:lstStyle/>
          <a:p>
            <a:pPr algn="ctr"/>
            <a:r>
              <a:rPr lang="en-GB" b="1" dirty="0"/>
              <a:t>DBSCAN Hotspot Detection</a:t>
            </a:r>
            <a:endParaRPr lang="en-US" b="1"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85B73F62-8234-819A-7E8B-A9E898AC2D2E}"/>
              </a:ext>
            </a:extLst>
          </p:cNvPr>
          <p:cNvSpPr>
            <a:spLocks noGrp="1"/>
          </p:cNvSpPr>
          <p:nvPr>
            <p:ph type="sldNum" sz="quarter" idx="12"/>
          </p:nvPr>
        </p:nvSpPr>
        <p:spPr/>
        <p:txBody>
          <a:bodyPr/>
          <a:lstStyle/>
          <a:p>
            <a:fld id="{CB4D3031-0AEB-4687-8E23-04446010D3FF}" type="slidenum">
              <a:rPr lang="en-US" smtClean="0"/>
              <a:t>16</a:t>
            </a:fld>
            <a:endParaRPr lang="en-US"/>
          </a:p>
        </p:txBody>
      </p:sp>
      <p:pic>
        <p:nvPicPr>
          <p:cNvPr id="9218" name="Picture 2">
            <a:extLst>
              <a:ext uri="{FF2B5EF4-FFF2-40B4-BE49-F238E27FC236}">
                <a16:creationId xmlns:a16="http://schemas.microsoft.com/office/drawing/2014/main" id="{F14E4700-C8B8-DC2A-F3C2-0AE9864A8C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2442" y="1361660"/>
            <a:ext cx="5618139" cy="443529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31CEFBF-C0E7-52FF-CADF-3E6FF621FBAA}"/>
              </a:ext>
            </a:extLst>
          </p:cNvPr>
          <p:cNvSpPr txBox="1"/>
          <p:nvPr/>
        </p:nvSpPr>
        <p:spPr>
          <a:xfrm>
            <a:off x="6828424" y="1394852"/>
            <a:ext cx="413657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Silhouette Score: </a:t>
            </a:r>
            <a:r>
              <a:rPr lang="en-GB" b="1" dirty="0"/>
              <a:t>0.74</a:t>
            </a:r>
            <a:endParaRPr lang="en-GB" dirty="0"/>
          </a:p>
        </p:txBody>
      </p:sp>
      <p:graphicFrame>
        <p:nvGraphicFramePr>
          <p:cNvPr id="6" name="Table 5">
            <a:extLst>
              <a:ext uri="{FF2B5EF4-FFF2-40B4-BE49-F238E27FC236}">
                <a16:creationId xmlns:a16="http://schemas.microsoft.com/office/drawing/2014/main" id="{89766FDB-BB5D-C65D-F35F-FB4587DEB971}"/>
              </a:ext>
            </a:extLst>
          </p:cNvPr>
          <p:cNvGraphicFramePr>
            <a:graphicFrameLocks noGrp="1"/>
          </p:cNvGraphicFramePr>
          <p:nvPr>
            <p:extLst>
              <p:ext uri="{D42A27DB-BD31-4B8C-83A1-F6EECF244321}">
                <p14:modId xmlns:p14="http://schemas.microsoft.com/office/powerpoint/2010/main" val="2557405963"/>
              </p:ext>
            </p:extLst>
          </p:nvPr>
        </p:nvGraphicFramePr>
        <p:xfrm>
          <a:off x="6828423" y="1956897"/>
          <a:ext cx="4989765" cy="2926080"/>
        </p:xfrm>
        <a:graphic>
          <a:graphicData uri="http://schemas.openxmlformats.org/drawingml/2006/table">
            <a:tbl>
              <a:tblPr>
                <a:tableStyleId>{E8B1032C-EA38-4F05-BA0D-38AFFFC7BED3}</a:tableStyleId>
              </a:tblPr>
              <a:tblGrid>
                <a:gridCol w="1559208">
                  <a:extLst>
                    <a:ext uri="{9D8B030D-6E8A-4147-A177-3AD203B41FA5}">
                      <a16:colId xmlns:a16="http://schemas.microsoft.com/office/drawing/2014/main" val="2428205747"/>
                    </a:ext>
                  </a:extLst>
                </a:gridCol>
                <a:gridCol w="3430557">
                  <a:extLst>
                    <a:ext uri="{9D8B030D-6E8A-4147-A177-3AD203B41FA5}">
                      <a16:colId xmlns:a16="http://schemas.microsoft.com/office/drawing/2014/main" val="1901363573"/>
                    </a:ext>
                  </a:extLst>
                </a:gridCol>
              </a:tblGrid>
              <a:tr h="0">
                <a:tc>
                  <a:txBody>
                    <a:bodyPr/>
                    <a:lstStyle/>
                    <a:p>
                      <a:r>
                        <a:rPr lang="en-GB" b="1" dirty="0"/>
                        <a:t>Cluster</a:t>
                      </a:r>
                    </a:p>
                  </a:txBody>
                  <a:tcPr anchor="ctr"/>
                </a:tc>
                <a:tc>
                  <a:txBody>
                    <a:bodyPr/>
                    <a:lstStyle/>
                    <a:p>
                      <a:r>
                        <a:rPr lang="en-GB" b="1" dirty="0"/>
                        <a:t>Meaning</a:t>
                      </a:r>
                    </a:p>
                  </a:txBody>
                  <a:tcPr anchor="ctr"/>
                </a:tc>
                <a:extLst>
                  <a:ext uri="{0D108BD9-81ED-4DB2-BD59-A6C34878D82A}">
                    <a16:rowId xmlns:a16="http://schemas.microsoft.com/office/drawing/2014/main" val="4236703147"/>
                  </a:ext>
                </a:extLst>
              </a:tr>
              <a:tr h="0">
                <a:tc>
                  <a:txBody>
                    <a:bodyPr/>
                    <a:lstStyle/>
                    <a:p>
                      <a:r>
                        <a:rPr lang="en-PK" dirty="0"/>
                        <a:t>2</a:t>
                      </a:r>
                    </a:p>
                  </a:txBody>
                  <a:tcPr anchor="ctr"/>
                </a:tc>
                <a:tc>
                  <a:txBody>
                    <a:bodyPr/>
                    <a:lstStyle/>
                    <a:p>
                      <a:r>
                        <a:rPr lang="en-GB"/>
                        <a:t>Very High Crime Hotspots</a:t>
                      </a:r>
                    </a:p>
                  </a:txBody>
                  <a:tcPr anchor="ctr"/>
                </a:tc>
                <a:extLst>
                  <a:ext uri="{0D108BD9-81ED-4DB2-BD59-A6C34878D82A}">
                    <a16:rowId xmlns:a16="http://schemas.microsoft.com/office/drawing/2014/main" val="3507765213"/>
                  </a:ext>
                </a:extLst>
              </a:tr>
              <a:tr h="0">
                <a:tc>
                  <a:txBody>
                    <a:bodyPr/>
                    <a:lstStyle/>
                    <a:p>
                      <a:r>
                        <a:rPr lang="en-PK" dirty="0"/>
                        <a:t>1</a:t>
                      </a:r>
                    </a:p>
                  </a:txBody>
                  <a:tcPr anchor="ctr"/>
                </a:tc>
                <a:tc>
                  <a:txBody>
                    <a:bodyPr/>
                    <a:lstStyle/>
                    <a:p>
                      <a:r>
                        <a:rPr lang="en-GB"/>
                        <a:t>Moderate Crime Areas</a:t>
                      </a:r>
                    </a:p>
                  </a:txBody>
                  <a:tcPr anchor="ctr"/>
                </a:tc>
                <a:extLst>
                  <a:ext uri="{0D108BD9-81ED-4DB2-BD59-A6C34878D82A}">
                    <a16:rowId xmlns:a16="http://schemas.microsoft.com/office/drawing/2014/main" val="2087852139"/>
                  </a:ext>
                </a:extLst>
              </a:tr>
              <a:tr h="0">
                <a:tc>
                  <a:txBody>
                    <a:bodyPr/>
                    <a:lstStyle/>
                    <a:p>
                      <a:r>
                        <a:rPr lang="en-PK"/>
                        <a:t>0</a:t>
                      </a:r>
                    </a:p>
                  </a:txBody>
                  <a:tcPr anchor="ctr"/>
                </a:tc>
                <a:tc>
                  <a:txBody>
                    <a:bodyPr/>
                    <a:lstStyle/>
                    <a:p>
                      <a:r>
                        <a:rPr lang="en-GB"/>
                        <a:t>Low Crime Areas</a:t>
                      </a:r>
                    </a:p>
                  </a:txBody>
                  <a:tcPr anchor="ctr"/>
                </a:tc>
                <a:extLst>
                  <a:ext uri="{0D108BD9-81ED-4DB2-BD59-A6C34878D82A}">
                    <a16:rowId xmlns:a16="http://schemas.microsoft.com/office/drawing/2014/main" val="2564200236"/>
                  </a:ext>
                </a:extLst>
              </a:tr>
              <a:tr h="0">
                <a:tc>
                  <a:txBody>
                    <a:bodyPr/>
                    <a:lstStyle/>
                    <a:p>
                      <a:r>
                        <a:rPr lang="en-PK" dirty="0"/>
                        <a:t>-1</a:t>
                      </a:r>
                    </a:p>
                  </a:txBody>
                  <a:tcPr anchor="ctr"/>
                </a:tc>
                <a:tc>
                  <a:txBody>
                    <a:bodyPr/>
                    <a:lstStyle/>
                    <a:p>
                      <a:r>
                        <a:rPr lang="en-GB" dirty="0"/>
                        <a:t>Outliers / Noise</a:t>
                      </a:r>
                    </a:p>
                  </a:txBody>
                  <a:tcPr anchor="ctr"/>
                </a:tc>
                <a:extLst>
                  <a:ext uri="{0D108BD9-81ED-4DB2-BD59-A6C34878D82A}">
                    <a16:rowId xmlns:a16="http://schemas.microsoft.com/office/drawing/2014/main" val="2269275299"/>
                  </a:ext>
                </a:extLst>
              </a:tr>
              <a:tr h="0">
                <a:tc>
                  <a:txBody>
                    <a:bodyPr/>
                    <a:lstStyle/>
                    <a:p>
                      <a:r>
                        <a:rPr lang="en-PK" dirty="0"/>
                        <a:t>Box</a:t>
                      </a:r>
                    </a:p>
                  </a:txBody>
                  <a:tcPr anchor="ctr"/>
                </a:tc>
                <a:tc>
                  <a:txBody>
                    <a:bodyPr/>
                    <a:lstStyle/>
                    <a:p>
                      <a:r>
                        <a:rPr lang="en-GB" dirty="0"/>
                        <a:t>Middle range of Data</a:t>
                      </a:r>
                    </a:p>
                  </a:txBody>
                  <a:tcPr anchor="ctr"/>
                </a:tc>
                <a:extLst>
                  <a:ext uri="{0D108BD9-81ED-4DB2-BD59-A6C34878D82A}">
                    <a16:rowId xmlns:a16="http://schemas.microsoft.com/office/drawing/2014/main" val="2099636140"/>
                  </a:ext>
                </a:extLst>
              </a:tr>
              <a:tr h="0">
                <a:tc>
                  <a:txBody>
                    <a:bodyPr/>
                    <a:lstStyle/>
                    <a:p>
                      <a:r>
                        <a:rPr lang="en-PK" dirty="0"/>
                        <a:t>Whiskers</a:t>
                      </a:r>
                    </a:p>
                  </a:txBody>
                  <a:tcPr anchor="ctr"/>
                </a:tc>
                <a:tc>
                  <a:txBody>
                    <a:bodyPr/>
                    <a:lstStyle/>
                    <a:p>
                      <a:r>
                        <a:rPr lang="en-GB" dirty="0"/>
                        <a:t>Spread of value</a:t>
                      </a:r>
                    </a:p>
                  </a:txBody>
                  <a:tcPr anchor="ctr"/>
                </a:tc>
                <a:extLst>
                  <a:ext uri="{0D108BD9-81ED-4DB2-BD59-A6C34878D82A}">
                    <a16:rowId xmlns:a16="http://schemas.microsoft.com/office/drawing/2014/main" val="3135999249"/>
                  </a:ext>
                </a:extLst>
              </a:tr>
              <a:tr h="0">
                <a:tc>
                  <a:txBody>
                    <a:bodyPr/>
                    <a:lstStyle/>
                    <a:p>
                      <a:r>
                        <a:rPr lang="en-PK" dirty="0"/>
                        <a:t>Circles</a:t>
                      </a:r>
                    </a:p>
                  </a:txBody>
                  <a:tcPr anchor="ctr"/>
                </a:tc>
                <a:tc>
                  <a:txBody>
                    <a:bodyPr/>
                    <a:lstStyle/>
                    <a:p>
                      <a:r>
                        <a:rPr lang="en-GB" dirty="0"/>
                        <a:t>Noise</a:t>
                      </a:r>
                    </a:p>
                  </a:txBody>
                  <a:tcPr anchor="ctr"/>
                </a:tc>
                <a:extLst>
                  <a:ext uri="{0D108BD9-81ED-4DB2-BD59-A6C34878D82A}">
                    <a16:rowId xmlns:a16="http://schemas.microsoft.com/office/drawing/2014/main" val="1687795383"/>
                  </a:ext>
                </a:extLst>
              </a:tr>
            </a:tbl>
          </a:graphicData>
        </a:graphic>
      </p:graphicFrame>
      <p:sp>
        <p:nvSpPr>
          <p:cNvPr id="11" name="TextBox 10">
            <a:extLst>
              <a:ext uri="{FF2B5EF4-FFF2-40B4-BE49-F238E27FC236}">
                <a16:creationId xmlns:a16="http://schemas.microsoft.com/office/drawing/2014/main" id="{0AA7E6D0-9BB9-16AC-ECB6-19E12830A400}"/>
              </a:ext>
            </a:extLst>
          </p:cNvPr>
          <p:cNvSpPr txBox="1"/>
          <p:nvPr/>
        </p:nvSpPr>
        <p:spPr>
          <a:xfrm>
            <a:off x="6828423" y="5196786"/>
            <a:ext cx="6176512" cy="1200329"/>
          </a:xfrm>
          <a:prstGeom prst="rect">
            <a:avLst/>
          </a:prstGeom>
          <a:noFill/>
        </p:spPr>
        <p:txBody>
          <a:bodyPr wrap="square">
            <a:spAutoFit/>
          </a:bodyPr>
          <a:lstStyle/>
          <a:p>
            <a:r>
              <a:rPr lang="en-GB" b="1" dirty="0"/>
              <a:t>Key Findings:</a:t>
            </a:r>
          </a:p>
          <a:p>
            <a:r>
              <a:rPr lang="en-GB" dirty="0"/>
              <a:t>✔ Better cluster quality</a:t>
            </a:r>
            <a:br>
              <a:rPr lang="en-GB" dirty="0"/>
            </a:br>
            <a:r>
              <a:rPr lang="en-GB" dirty="0"/>
              <a:t>✔ Detects dense hotspots</a:t>
            </a:r>
            <a:br>
              <a:rPr lang="en-GB" dirty="0"/>
            </a:br>
            <a:r>
              <a:rPr lang="en-GB" dirty="0"/>
              <a:t>✔ Identifies unusual areas</a:t>
            </a:r>
          </a:p>
        </p:txBody>
      </p:sp>
    </p:spTree>
    <p:extLst>
      <p:ext uri="{BB962C8B-B14F-4D97-AF65-F5344CB8AC3E}">
        <p14:creationId xmlns:p14="http://schemas.microsoft.com/office/powerpoint/2010/main" val="39111117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1E412-8D13-6772-F30A-0C1938F0DA03}"/>
            </a:ext>
          </a:extLst>
        </p:cNvPr>
        <p:cNvGrpSpPr/>
        <p:nvPr/>
      </p:nvGrpSpPr>
      <p:grpSpPr>
        <a:xfrm>
          <a:off x="0" y="0"/>
          <a:ext cx="0" cy="0"/>
          <a:chOff x="0" y="0"/>
          <a:chExt cx="0" cy="0"/>
        </a:xfrm>
      </p:grpSpPr>
      <p:sp>
        <p:nvSpPr>
          <p:cNvPr id="1048628" name="Title 1">
            <a:extLst>
              <a:ext uri="{FF2B5EF4-FFF2-40B4-BE49-F238E27FC236}">
                <a16:creationId xmlns:a16="http://schemas.microsoft.com/office/drawing/2014/main" id="{985101D6-9C84-266B-4A6F-6D35A45FDFE6}"/>
              </a:ext>
            </a:extLst>
          </p:cNvPr>
          <p:cNvSpPr>
            <a:spLocks noGrp="1"/>
          </p:cNvSpPr>
          <p:nvPr>
            <p:ph type="title"/>
          </p:nvPr>
        </p:nvSpPr>
        <p:spPr>
          <a:xfrm>
            <a:off x="2155439" y="532199"/>
            <a:ext cx="8085644" cy="727796"/>
          </a:xfrm>
        </p:spPr>
        <p:txBody>
          <a:bodyPr>
            <a:noAutofit/>
          </a:bodyPr>
          <a:lstStyle/>
          <a:p>
            <a:pPr algn="ctr"/>
            <a:r>
              <a:rPr lang="en-GB" b="1" dirty="0"/>
              <a:t>Crime Prediction Models (RQ2)</a:t>
            </a:r>
            <a:endParaRPr lang="en-US" b="1"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FC47E769-47E4-A5C5-5E22-83D73B74060A}"/>
              </a:ext>
            </a:extLst>
          </p:cNvPr>
          <p:cNvSpPr>
            <a:spLocks noGrp="1"/>
          </p:cNvSpPr>
          <p:nvPr>
            <p:ph type="sldNum" sz="quarter" idx="12"/>
          </p:nvPr>
        </p:nvSpPr>
        <p:spPr/>
        <p:txBody>
          <a:bodyPr/>
          <a:lstStyle/>
          <a:p>
            <a:fld id="{CB4D3031-0AEB-4687-8E23-04446010D3FF}" type="slidenum">
              <a:rPr lang="en-US" smtClean="0"/>
              <a:t>17</a:t>
            </a:fld>
            <a:endParaRPr lang="en-US"/>
          </a:p>
        </p:txBody>
      </p:sp>
      <p:graphicFrame>
        <p:nvGraphicFramePr>
          <p:cNvPr id="4" name="Table 3">
            <a:extLst>
              <a:ext uri="{FF2B5EF4-FFF2-40B4-BE49-F238E27FC236}">
                <a16:creationId xmlns:a16="http://schemas.microsoft.com/office/drawing/2014/main" id="{80CBCA2B-DF4E-17F0-6887-4998BB137178}"/>
              </a:ext>
            </a:extLst>
          </p:cNvPr>
          <p:cNvGraphicFramePr>
            <a:graphicFrameLocks noGrp="1"/>
          </p:cNvGraphicFramePr>
          <p:nvPr>
            <p:extLst>
              <p:ext uri="{D42A27DB-BD31-4B8C-83A1-F6EECF244321}">
                <p14:modId xmlns:p14="http://schemas.microsoft.com/office/powerpoint/2010/main" val="3663290103"/>
              </p:ext>
            </p:extLst>
          </p:nvPr>
        </p:nvGraphicFramePr>
        <p:xfrm>
          <a:off x="2155439" y="2299464"/>
          <a:ext cx="8915400" cy="1097280"/>
        </p:xfrm>
        <a:graphic>
          <a:graphicData uri="http://schemas.openxmlformats.org/drawingml/2006/table">
            <a:tbl>
              <a:tblPr>
                <a:tableStyleId>{BDBED569-4797-4DF1-A0F4-6AAB3CD982D8}</a:tableStyleId>
              </a:tblPr>
              <a:tblGrid>
                <a:gridCol w="4457700">
                  <a:extLst>
                    <a:ext uri="{9D8B030D-6E8A-4147-A177-3AD203B41FA5}">
                      <a16:colId xmlns:a16="http://schemas.microsoft.com/office/drawing/2014/main" val="2693261582"/>
                    </a:ext>
                  </a:extLst>
                </a:gridCol>
                <a:gridCol w="4457700">
                  <a:extLst>
                    <a:ext uri="{9D8B030D-6E8A-4147-A177-3AD203B41FA5}">
                      <a16:colId xmlns:a16="http://schemas.microsoft.com/office/drawing/2014/main" val="1593990552"/>
                    </a:ext>
                  </a:extLst>
                </a:gridCol>
              </a:tblGrid>
              <a:tr h="0">
                <a:tc>
                  <a:txBody>
                    <a:bodyPr/>
                    <a:lstStyle/>
                    <a:p>
                      <a:r>
                        <a:rPr lang="en-GB" b="1"/>
                        <a:t>Model</a:t>
                      </a:r>
                    </a:p>
                  </a:txBody>
                  <a:tcPr anchor="ctr"/>
                </a:tc>
                <a:tc>
                  <a:txBody>
                    <a:bodyPr/>
                    <a:lstStyle/>
                    <a:p>
                      <a:r>
                        <a:rPr lang="en-GB" b="1" dirty="0"/>
                        <a:t>Purpose</a:t>
                      </a:r>
                    </a:p>
                  </a:txBody>
                  <a:tcPr anchor="ctr"/>
                </a:tc>
                <a:extLst>
                  <a:ext uri="{0D108BD9-81ED-4DB2-BD59-A6C34878D82A}">
                    <a16:rowId xmlns:a16="http://schemas.microsoft.com/office/drawing/2014/main" val="55620503"/>
                  </a:ext>
                </a:extLst>
              </a:tr>
              <a:tr h="0">
                <a:tc>
                  <a:txBody>
                    <a:bodyPr/>
                    <a:lstStyle/>
                    <a:p>
                      <a:r>
                        <a:rPr lang="en-GB" dirty="0"/>
                        <a:t>Linear Regression</a:t>
                      </a:r>
                    </a:p>
                  </a:txBody>
                  <a:tcPr anchor="ctr"/>
                </a:tc>
                <a:tc>
                  <a:txBody>
                    <a:bodyPr/>
                    <a:lstStyle/>
                    <a:p>
                      <a:r>
                        <a:rPr lang="en-GB" dirty="0"/>
                        <a:t>Baseline simple model</a:t>
                      </a:r>
                    </a:p>
                  </a:txBody>
                  <a:tcPr anchor="ctr"/>
                </a:tc>
                <a:extLst>
                  <a:ext uri="{0D108BD9-81ED-4DB2-BD59-A6C34878D82A}">
                    <a16:rowId xmlns:a16="http://schemas.microsoft.com/office/drawing/2014/main" val="4070164552"/>
                  </a:ext>
                </a:extLst>
              </a:tr>
              <a:tr h="0">
                <a:tc>
                  <a:txBody>
                    <a:bodyPr/>
                    <a:lstStyle/>
                    <a:p>
                      <a:r>
                        <a:rPr lang="en-GB"/>
                        <a:t>Random Forest</a:t>
                      </a:r>
                    </a:p>
                  </a:txBody>
                  <a:tcPr anchor="ctr"/>
                </a:tc>
                <a:tc>
                  <a:txBody>
                    <a:bodyPr/>
                    <a:lstStyle/>
                    <a:p>
                      <a:r>
                        <a:rPr lang="en-GB" dirty="0"/>
                        <a:t>Advanced non-linear model</a:t>
                      </a:r>
                    </a:p>
                  </a:txBody>
                  <a:tcPr anchor="ctr"/>
                </a:tc>
                <a:extLst>
                  <a:ext uri="{0D108BD9-81ED-4DB2-BD59-A6C34878D82A}">
                    <a16:rowId xmlns:a16="http://schemas.microsoft.com/office/drawing/2014/main" val="1981497774"/>
                  </a:ext>
                </a:extLst>
              </a:tr>
            </a:tbl>
          </a:graphicData>
        </a:graphic>
      </p:graphicFrame>
      <p:sp>
        <p:nvSpPr>
          <p:cNvPr id="6" name="TextBox 5">
            <a:extLst>
              <a:ext uri="{FF2B5EF4-FFF2-40B4-BE49-F238E27FC236}">
                <a16:creationId xmlns:a16="http://schemas.microsoft.com/office/drawing/2014/main" id="{51444F33-6187-E3D0-8023-8B57BA696357}"/>
              </a:ext>
            </a:extLst>
          </p:cNvPr>
          <p:cNvSpPr txBox="1"/>
          <p:nvPr/>
        </p:nvSpPr>
        <p:spPr>
          <a:xfrm>
            <a:off x="2155439" y="1930132"/>
            <a:ext cx="6098874" cy="369332"/>
          </a:xfrm>
          <a:prstGeom prst="rect">
            <a:avLst/>
          </a:prstGeom>
          <a:noFill/>
        </p:spPr>
        <p:txBody>
          <a:bodyPr wrap="square">
            <a:spAutoFit/>
          </a:bodyPr>
          <a:lstStyle/>
          <a:p>
            <a:r>
              <a:rPr lang="en-GB" dirty="0"/>
              <a:t>We tested two models to predict future crime levels:</a:t>
            </a:r>
            <a:endParaRPr lang="en-PK" dirty="0"/>
          </a:p>
        </p:txBody>
      </p:sp>
      <p:sp>
        <p:nvSpPr>
          <p:cNvPr id="8" name="TextBox 7">
            <a:extLst>
              <a:ext uri="{FF2B5EF4-FFF2-40B4-BE49-F238E27FC236}">
                <a16:creationId xmlns:a16="http://schemas.microsoft.com/office/drawing/2014/main" id="{C0079944-84CB-77AD-B724-7EE5D45C953E}"/>
              </a:ext>
            </a:extLst>
          </p:cNvPr>
          <p:cNvSpPr txBox="1"/>
          <p:nvPr/>
        </p:nvSpPr>
        <p:spPr>
          <a:xfrm>
            <a:off x="2132707" y="3989089"/>
            <a:ext cx="6098874" cy="1477328"/>
          </a:xfrm>
          <a:prstGeom prst="rect">
            <a:avLst/>
          </a:prstGeom>
          <a:noFill/>
        </p:spPr>
        <p:txBody>
          <a:bodyPr wrap="square">
            <a:spAutoFit/>
          </a:bodyPr>
          <a:lstStyle/>
          <a:p>
            <a:r>
              <a:rPr lang="en-GB" b="1" dirty="0"/>
              <a:t>Key takeaway:</a:t>
            </a:r>
          </a:p>
          <a:p>
            <a:pPr marL="285750" indent="-285750">
              <a:buFont typeface="Arial" panose="020B0604020202020204" pitchFamily="34" charset="0"/>
              <a:buChar char="•"/>
            </a:pPr>
            <a:endParaRPr lang="en-GB" b="1" dirty="0"/>
          </a:p>
          <a:p>
            <a:pPr marL="285750" indent="-285750">
              <a:buFont typeface="Arial" panose="020B0604020202020204" pitchFamily="34" charset="0"/>
              <a:buChar char="•"/>
            </a:pPr>
            <a:r>
              <a:rPr lang="en-GB" dirty="0"/>
              <a:t>Linear Regression checks if crime follows a simple pattern </a:t>
            </a:r>
          </a:p>
          <a:p>
            <a:pPr marL="285750" indent="-285750">
              <a:buFont typeface="Arial" panose="020B0604020202020204" pitchFamily="34" charset="0"/>
              <a:buChar char="•"/>
            </a:pPr>
            <a:r>
              <a:rPr lang="en-GB" dirty="0"/>
              <a:t>Random Forest captures complex relationships</a:t>
            </a:r>
          </a:p>
        </p:txBody>
      </p:sp>
    </p:spTree>
    <p:extLst>
      <p:ext uri="{BB962C8B-B14F-4D97-AF65-F5344CB8AC3E}">
        <p14:creationId xmlns:p14="http://schemas.microsoft.com/office/powerpoint/2010/main" val="22545805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D8379-B52D-256D-2ACB-67C1D50DE380}"/>
            </a:ext>
          </a:extLst>
        </p:cNvPr>
        <p:cNvGrpSpPr/>
        <p:nvPr/>
      </p:nvGrpSpPr>
      <p:grpSpPr>
        <a:xfrm>
          <a:off x="0" y="0"/>
          <a:ext cx="0" cy="0"/>
          <a:chOff x="0" y="0"/>
          <a:chExt cx="0" cy="0"/>
        </a:xfrm>
      </p:grpSpPr>
      <p:sp>
        <p:nvSpPr>
          <p:cNvPr id="1048628" name="Title 1">
            <a:extLst>
              <a:ext uri="{FF2B5EF4-FFF2-40B4-BE49-F238E27FC236}">
                <a16:creationId xmlns:a16="http://schemas.microsoft.com/office/drawing/2014/main" id="{B1FDE795-1EDA-57FA-FFC5-C61617ECDD2B}"/>
              </a:ext>
            </a:extLst>
          </p:cNvPr>
          <p:cNvSpPr>
            <a:spLocks noGrp="1"/>
          </p:cNvSpPr>
          <p:nvPr>
            <p:ph type="title"/>
          </p:nvPr>
        </p:nvSpPr>
        <p:spPr>
          <a:xfrm>
            <a:off x="2177473" y="282138"/>
            <a:ext cx="8085644" cy="727796"/>
          </a:xfrm>
        </p:spPr>
        <p:txBody>
          <a:bodyPr>
            <a:noAutofit/>
          </a:bodyPr>
          <a:lstStyle/>
          <a:p>
            <a:pPr algn="ctr"/>
            <a:r>
              <a:rPr lang="en-GB" b="1" dirty="0"/>
              <a:t>Model Performance &amp; Comparison</a:t>
            </a:r>
            <a:endParaRPr lang="en-US" b="1"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84B640AE-EFE3-56D5-EE49-22E887A1DB0B}"/>
              </a:ext>
            </a:extLst>
          </p:cNvPr>
          <p:cNvSpPr>
            <a:spLocks noGrp="1"/>
          </p:cNvSpPr>
          <p:nvPr>
            <p:ph type="sldNum" sz="quarter" idx="12"/>
          </p:nvPr>
        </p:nvSpPr>
        <p:spPr/>
        <p:txBody>
          <a:bodyPr/>
          <a:lstStyle/>
          <a:p>
            <a:fld id="{CB4D3031-0AEB-4687-8E23-04446010D3FF}" type="slidenum">
              <a:rPr lang="en-US" smtClean="0"/>
              <a:t>18</a:t>
            </a:fld>
            <a:endParaRPr lang="en-US"/>
          </a:p>
        </p:txBody>
      </p:sp>
      <p:sp>
        <p:nvSpPr>
          <p:cNvPr id="9" name="TextBox 8">
            <a:extLst>
              <a:ext uri="{FF2B5EF4-FFF2-40B4-BE49-F238E27FC236}">
                <a16:creationId xmlns:a16="http://schemas.microsoft.com/office/drawing/2014/main" id="{2744178E-E61D-6D7D-479A-457721707FB8}"/>
              </a:ext>
            </a:extLst>
          </p:cNvPr>
          <p:cNvSpPr txBox="1"/>
          <p:nvPr/>
        </p:nvSpPr>
        <p:spPr>
          <a:xfrm>
            <a:off x="3067431" y="3582807"/>
            <a:ext cx="5519618" cy="1285288"/>
          </a:xfrm>
          <a:prstGeom prst="rect">
            <a:avLst/>
          </a:prstGeom>
          <a:noFill/>
        </p:spPr>
        <p:txBody>
          <a:bodyPr wrap="square" lIns="91440" tIns="45720" rIns="91440" bIns="45720" anchor="t">
            <a:spAutoFit/>
          </a:bodyPr>
          <a:lstStyle/>
          <a:p>
            <a:pPr>
              <a:lnSpc>
                <a:spcPct val="150000"/>
              </a:lnSpc>
            </a:pPr>
            <a:r>
              <a:rPr lang="en-GB" dirty="0"/>
              <a:t>Lower RMSE = Better performance</a:t>
            </a:r>
          </a:p>
          <a:p>
            <a:pPr>
              <a:lnSpc>
                <a:spcPct val="150000"/>
              </a:lnSpc>
            </a:pPr>
            <a:r>
              <a:rPr lang="en-GB" b="1" dirty="0"/>
              <a:t>Random Forest performs better because it handles complex patterns.</a:t>
            </a:r>
          </a:p>
        </p:txBody>
      </p:sp>
      <p:graphicFrame>
        <p:nvGraphicFramePr>
          <p:cNvPr id="2" name="Table 1">
            <a:extLst>
              <a:ext uri="{FF2B5EF4-FFF2-40B4-BE49-F238E27FC236}">
                <a16:creationId xmlns:a16="http://schemas.microsoft.com/office/drawing/2014/main" id="{CB4126B2-C153-0BD4-D357-F2BE5C315201}"/>
              </a:ext>
            </a:extLst>
          </p:cNvPr>
          <p:cNvGraphicFramePr>
            <a:graphicFrameLocks noGrp="1"/>
          </p:cNvGraphicFramePr>
          <p:nvPr>
            <p:extLst>
              <p:ext uri="{D42A27DB-BD31-4B8C-83A1-F6EECF244321}">
                <p14:modId xmlns:p14="http://schemas.microsoft.com/office/powerpoint/2010/main" val="3569924062"/>
              </p:ext>
            </p:extLst>
          </p:nvPr>
        </p:nvGraphicFramePr>
        <p:xfrm>
          <a:off x="3067431" y="2331720"/>
          <a:ext cx="5519618" cy="1097280"/>
        </p:xfrm>
        <a:graphic>
          <a:graphicData uri="http://schemas.openxmlformats.org/drawingml/2006/table">
            <a:tbl>
              <a:tblPr>
                <a:tableStyleId>{E8B1032C-EA38-4F05-BA0D-38AFFFC7BED3}</a:tableStyleId>
              </a:tblPr>
              <a:tblGrid>
                <a:gridCol w="2759809">
                  <a:extLst>
                    <a:ext uri="{9D8B030D-6E8A-4147-A177-3AD203B41FA5}">
                      <a16:colId xmlns:a16="http://schemas.microsoft.com/office/drawing/2014/main" val="1438965786"/>
                    </a:ext>
                  </a:extLst>
                </a:gridCol>
                <a:gridCol w="2759809">
                  <a:extLst>
                    <a:ext uri="{9D8B030D-6E8A-4147-A177-3AD203B41FA5}">
                      <a16:colId xmlns:a16="http://schemas.microsoft.com/office/drawing/2014/main" val="2246683725"/>
                    </a:ext>
                  </a:extLst>
                </a:gridCol>
              </a:tblGrid>
              <a:tr h="0">
                <a:tc>
                  <a:txBody>
                    <a:bodyPr/>
                    <a:lstStyle/>
                    <a:p>
                      <a:r>
                        <a:rPr lang="en-GB" b="1" dirty="0"/>
                        <a:t>Model</a:t>
                      </a:r>
                    </a:p>
                  </a:txBody>
                  <a:tcPr anchor="ctr"/>
                </a:tc>
                <a:tc>
                  <a:txBody>
                    <a:bodyPr/>
                    <a:lstStyle/>
                    <a:p>
                      <a:pPr algn="r"/>
                      <a:r>
                        <a:rPr lang="en-GB" b="1" dirty="0"/>
                        <a:t>RMSE</a:t>
                      </a:r>
                    </a:p>
                  </a:txBody>
                  <a:tcPr anchor="ctr"/>
                </a:tc>
                <a:extLst>
                  <a:ext uri="{0D108BD9-81ED-4DB2-BD59-A6C34878D82A}">
                    <a16:rowId xmlns:a16="http://schemas.microsoft.com/office/drawing/2014/main" val="2165394422"/>
                  </a:ext>
                </a:extLst>
              </a:tr>
              <a:tr h="0">
                <a:tc>
                  <a:txBody>
                    <a:bodyPr/>
                    <a:lstStyle/>
                    <a:p>
                      <a:r>
                        <a:rPr lang="en-GB"/>
                        <a:t>Linear Regression</a:t>
                      </a:r>
                    </a:p>
                  </a:txBody>
                  <a:tcPr anchor="ctr"/>
                </a:tc>
                <a:tc>
                  <a:txBody>
                    <a:bodyPr/>
                    <a:lstStyle/>
                    <a:p>
                      <a:pPr algn="r"/>
                      <a:r>
                        <a:rPr lang="en-PK"/>
                        <a:t>5.35</a:t>
                      </a:r>
                    </a:p>
                  </a:txBody>
                  <a:tcPr anchor="ctr"/>
                </a:tc>
                <a:extLst>
                  <a:ext uri="{0D108BD9-81ED-4DB2-BD59-A6C34878D82A}">
                    <a16:rowId xmlns:a16="http://schemas.microsoft.com/office/drawing/2014/main" val="1170216867"/>
                  </a:ext>
                </a:extLst>
              </a:tr>
              <a:tr h="0">
                <a:tc>
                  <a:txBody>
                    <a:bodyPr/>
                    <a:lstStyle/>
                    <a:p>
                      <a:r>
                        <a:rPr lang="en-GB"/>
                        <a:t>Random Forest</a:t>
                      </a:r>
                    </a:p>
                  </a:txBody>
                  <a:tcPr anchor="ctr"/>
                </a:tc>
                <a:tc>
                  <a:txBody>
                    <a:bodyPr/>
                    <a:lstStyle/>
                    <a:p>
                      <a:pPr algn="r"/>
                      <a:r>
                        <a:rPr lang="en-PK" dirty="0"/>
                        <a:t>4.84</a:t>
                      </a:r>
                    </a:p>
                  </a:txBody>
                  <a:tcPr anchor="ctr"/>
                </a:tc>
                <a:extLst>
                  <a:ext uri="{0D108BD9-81ED-4DB2-BD59-A6C34878D82A}">
                    <a16:rowId xmlns:a16="http://schemas.microsoft.com/office/drawing/2014/main" val="3207202469"/>
                  </a:ext>
                </a:extLst>
              </a:tr>
            </a:tbl>
          </a:graphicData>
        </a:graphic>
      </p:graphicFrame>
    </p:spTree>
    <p:extLst>
      <p:ext uri="{BB962C8B-B14F-4D97-AF65-F5344CB8AC3E}">
        <p14:creationId xmlns:p14="http://schemas.microsoft.com/office/powerpoint/2010/main" val="38090223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8" name="Title 1"/>
          <p:cNvSpPr>
            <a:spLocks noGrp="1"/>
          </p:cNvSpPr>
          <p:nvPr>
            <p:ph type="title"/>
          </p:nvPr>
        </p:nvSpPr>
        <p:spPr>
          <a:xfrm>
            <a:off x="3529137" y="65932"/>
            <a:ext cx="4683557" cy="663371"/>
          </a:xfrm>
        </p:spPr>
        <p:txBody>
          <a:bodyPr>
            <a:normAutofit fontScale="90000"/>
          </a:bodyPr>
          <a:lstStyle/>
          <a:p>
            <a:pPr algn="ctr"/>
            <a:r>
              <a:rPr lang="en-GB" sz="4000" b="1" dirty="0"/>
              <a:t>Actual vs Predicted</a:t>
            </a:r>
            <a:endParaRPr lang="en-US" sz="4000" b="1" dirty="0">
              <a:latin typeface="Times New Roman" panose="02020603050405020304" pitchFamily="18" charset="0"/>
              <a:cs typeface="Times New Roman" panose="02020603050405020304" pitchFamily="18" charset="0"/>
            </a:endParaRPr>
          </a:p>
        </p:txBody>
      </p:sp>
      <p:sp>
        <p:nvSpPr>
          <p:cNvPr id="1048629" name="Content Placeholder 2"/>
          <p:cNvSpPr>
            <a:spLocks noGrp="1"/>
          </p:cNvSpPr>
          <p:nvPr>
            <p:ph idx="1"/>
          </p:nvPr>
        </p:nvSpPr>
        <p:spPr>
          <a:xfrm>
            <a:off x="8040165" y="1483521"/>
            <a:ext cx="3985058" cy="2070562"/>
          </a:xfrm>
        </p:spPr>
        <p:txBody>
          <a:bodyPr>
            <a:normAutofit fontScale="91667"/>
          </a:bodyPr>
          <a:lstStyle/>
          <a:p>
            <a:pPr marL="0" indent="0">
              <a:buNone/>
            </a:pPr>
            <a:r>
              <a:rPr lang="en-GB" sz="2000" b="1" dirty="0"/>
              <a:t>Most points lie close to the red line, showing good prediction accuracy. </a:t>
            </a:r>
          </a:p>
          <a:p>
            <a:pPr marL="0" indent="0">
              <a:buNone/>
            </a:pPr>
            <a:r>
              <a:rPr lang="en-GB" sz="2000" dirty="0"/>
              <a:t>A few points further away indicate some prediction errors, especially at higher crime values.</a:t>
            </a:r>
          </a:p>
        </p:txBody>
      </p:sp>
      <p:sp>
        <p:nvSpPr>
          <p:cNvPr id="3" name="Slide Number Placeholder 2"/>
          <p:cNvSpPr>
            <a:spLocks noGrp="1"/>
          </p:cNvSpPr>
          <p:nvPr>
            <p:ph type="sldNum" sz="quarter" idx="12"/>
          </p:nvPr>
        </p:nvSpPr>
        <p:spPr/>
        <p:txBody>
          <a:bodyPr/>
          <a:lstStyle/>
          <a:p>
            <a:fld id="{CB4D3031-0AEB-4687-8E23-04446010D3FF}" type="slidenum">
              <a:rPr lang="en-US" smtClean="0"/>
              <a:t>19</a:t>
            </a:fld>
            <a:endParaRPr lang="en-US"/>
          </a:p>
        </p:txBody>
      </p:sp>
      <p:pic>
        <p:nvPicPr>
          <p:cNvPr id="1026" name="Picture 2">
            <a:extLst>
              <a:ext uri="{FF2B5EF4-FFF2-40B4-BE49-F238E27FC236}">
                <a16:creationId xmlns:a16="http://schemas.microsoft.com/office/drawing/2014/main" id="{3BF853B0-D534-1749-2089-E5CC6ECE51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3987" y="1332277"/>
            <a:ext cx="6254854" cy="49227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38161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8" name="Title 1"/>
          <p:cNvSpPr>
            <a:spLocks noGrp="1"/>
          </p:cNvSpPr>
          <p:nvPr>
            <p:ph type="title"/>
          </p:nvPr>
        </p:nvSpPr>
        <p:spPr>
          <a:xfrm>
            <a:off x="2975126" y="652535"/>
            <a:ext cx="6987655" cy="635618"/>
          </a:xfrm>
        </p:spPr>
        <p:txBody>
          <a:bodyPr>
            <a:noAutofit/>
          </a:bodyPr>
          <a:lstStyle/>
          <a:p>
            <a:pPr algn="ctr"/>
            <a:r>
              <a:rPr lang="en-GB" sz="3200" b="1" dirty="0"/>
              <a:t>Overfitting Analysis</a:t>
            </a:r>
            <a:endParaRPr lang="en-GB" sz="3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CB4D3031-0AEB-4687-8E23-04446010D3FF}" type="slidenum">
              <a:rPr lang="en-US" smtClean="0"/>
              <a:t>20</a:t>
            </a:fld>
            <a:endParaRPr lang="en-US"/>
          </a:p>
        </p:txBody>
      </p:sp>
      <p:sp>
        <p:nvSpPr>
          <p:cNvPr id="6" name="TextBox 5">
            <a:extLst>
              <a:ext uri="{FF2B5EF4-FFF2-40B4-BE49-F238E27FC236}">
                <a16:creationId xmlns:a16="http://schemas.microsoft.com/office/drawing/2014/main" id="{0463A953-F595-1C09-ACFE-70EB514180F2}"/>
              </a:ext>
            </a:extLst>
          </p:cNvPr>
          <p:cNvSpPr txBox="1"/>
          <p:nvPr/>
        </p:nvSpPr>
        <p:spPr>
          <a:xfrm>
            <a:off x="2975126" y="3129303"/>
            <a:ext cx="6987655" cy="1286186"/>
          </a:xfrm>
          <a:prstGeom prst="rect">
            <a:avLst/>
          </a:prstGeom>
          <a:noFill/>
        </p:spPr>
        <p:txBody>
          <a:bodyPr wrap="square">
            <a:spAutoFit/>
          </a:bodyPr>
          <a:lstStyle/>
          <a:p>
            <a:pPr>
              <a:lnSpc>
                <a:spcPct val="150000"/>
              </a:lnSpc>
            </a:pPr>
            <a:r>
              <a:rPr lang="en-GB" b="1" dirty="0"/>
              <a:t>Big gap → overfitting</a:t>
            </a:r>
            <a:endParaRPr lang="en-GB" dirty="0"/>
          </a:p>
          <a:p>
            <a:pPr>
              <a:lnSpc>
                <a:spcPct val="150000"/>
              </a:lnSpc>
            </a:pPr>
            <a:r>
              <a:rPr lang="en-GB" dirty="0"/>
              <a:t>The model performs much better on training data.</a:t>
            </a:r>
            <a:br>
              <a:rPr lang="en-GB" dirty="0"/>
            </a:br>
            <a:r>
              <a:rPr lang="en-GB" dirty="0"/>
              <a:t>This shows overfitting.</a:t>
            </a:r>
          </a:p>
        </p:txBody>
      </p:sp>
      <p:graphicFrame>
        <p:nvGraphicFramePr>
          <p:cNvPr id="2" name="Table 1">
            <a:extLst>
              <a:ext uri="{FF2B5EF4-FFF2-40B4-BE49-F238E27FC236}">
                <a16:creationId xmlns:a16="http://schemas.microsoft.com/office/drawing/2014/main" id="{F9AE4AC6-7B05-ED24-FED7-E2145D793F32}"/>
              </a:ext>
            </a:extLst>
          </p:cNvPr>
          <p:cNvGraphicFramePr>
            <a:graphicFrameLocks noGrp="1"/>
          </p:cNvGraphicFramePr>
          <p:nvPr>
            <p:extLst>
              <p:ext uri="{D42A27DB-BD31-4B8C-83A1-F6EECF244321}">
                <p14:modId xmlns:p14="http://schemas.microsoft.com/office/powerpoint/2010/main" val="2166158232"/>
              </p:ext>
            </p:extLst>
          </p:nvPr>
        </p:nvGraphicFramePr>
        <p:xfrm>
          <a:off x="3012368" y="1660088"/>
          <a:ext cx="6167264" cy="1097280"/>
        </p:xfrm>
        <a:graphic>
          <a:graphicData uri="http://schemas.openxmlformats.org/drawingml/2006/table">
            <a:tbl>
              <a:tblPr>
                <a:tableStyleId>{E8B1032C-EA38-4F05-BA0D-38AFFFC7BED3}</a:tableStyleId>
              </a:tblPr>
              <a:tblGrid>
                <a:gridCol w="3083632">
                  <a:extLst>
                    <a:ext uri="{9D8B030D-6E8A-4147-A177-3AD203B41FA5}">
                      <a16:colId xmlns:a16="http://schemas.microsoft.com/office/drawing/2014/main" val="231882164"/>
                    </a:ext>
                  </a:extLst>
                </a:gridCol>
                <a:gridCol w="3083632">
                  <a:extLst>
                    <a:ext uri="{9D8B030D-6E8A-4147-A177-3AD203B41FA5}">
                      <a16:colId xmlns:a16="http://schemas.microsoft.com/office/drawing/2014/main" val="2986881160"/>
                    </a:ext>
                  </a:extLst>
                </a:gridCol>
              </a:tblGrid>
              <a:tr h="0">
                <a:tc>
                  <a:txBody>
                    <a:bodyPr/>
                    <a:lstStyle/>
                    <a:p>
                      <a:r>
                        <a:rPr lang="en-GB" b="1" dirty="0"/>
                        <a:t>Metric</a:t>
                      </a:r>
                    </a:p>
                  </a:txBody>
                  <a:tcPr anchor="ctr"/>
                </a:tc>
                <a:tc>
                  <a:txBody>
                    <a:bodyPr/>
                    <a:lstStyle/>
                    <a:p>
                      <a:pPr algn="r"/>
                      <a:r>
                        <a:rPr lang="en-GB" b="1" dirty="0"/>
                        <a:t>Value</a:t>
                      </a:r>
                    </a:p>
                  </a:txBody>
                  <a:tcPr anchor="ctr"/>
                </a:tc>
                <a:extLst>
                  <a:ext uri="{0D108BD9-81ED-4DB2-BD59-A6C34878D82A}">
                    <a16:rowId xmlns:a16="http://schemas.microsoft.com/office/drawing/2014/main" val="3176355876"/>
                  </a:ext>
                </a:extLst>
              </a:tr>
              <a:tr h="0">
                <a:tc>
                  <a:txBody>
                    <a:bodyPr/>
                    <a:lstStyle/>
                    <a:p>
                      <a:r>
                        <a:rPr lang="en-GB"/>
                        <a:t>Train RMSE</a:t>
                      </a:r>
                    </a:p>
                  </a:txBody>
                  <a:tcPr anchor="ctr"/>
                </a:tc>
                <a:tc>
                  <a:txBody>
                    <a:bodyPr/>
                    <a:lstStyle/>
                    <a:p>
                      <a:pPr algn="r"/>
                      <a:r>
                        <a:rPr lang="en-PK"/>
                        <a:t>1.83</a:t>
                      </a:r>
                    </a:p>
                  </a:txBody>
                  <a:tcPr anchor="ctr"/>
                </a:tc>
                <a:extLst>
                  <a:ext uri="{0D108BD9-81ED-4DB2-BD59-A6C34878D82A}">
                    <a16:rowId xmlns:a16="http://schemas.microsoft.com/office/drawing/2014/main" val="2857517708"/>
                  </a:ext>
                </a:extLst>
              </a:tr>
              <a:tr h="0">
                <a:tc>
                  <a:txBody>
                    <a:bodyPr/>
                    <a:lstStyle/>
                    <a:p>
                      <a:r>
                        <a:rPr lang="en-GB"/>
                        <a:t>Test RMSE</a:t>
                      </a:r>
                    </a:p>
                  </a:txBody>
                  <a:tcPr anchor="ctr"/>
                </a:tc>
                <a:tc>
                  <a:txBody>
                    <a:bodyPr/>
                    <a:lstStyle/>
                    <a:p>
                      <a:pPr algn="r"/>
                      <a:r>
                        <a:rPr lang="en-PK" dirty="0"/>
                        <a:t>4.84</a:t>
                      </a:r>
                    </a:p>
                  </a:txBody>
                  <a:tcPr anchor="ctr"/>
                </a:tc>
                <a:extLst>
                  <a:ext uri="{0D108BD9-81ED-4DB2-BD59-A6C34878D82A}">
                    <a16:rowId xmlns:a16="http://schemas.microsoft.com/office/drawing/2014/main" val="3679248593"/>
                  </a:ext>
                </a:extLst>
              </a:tr>
            </a:tbl>
          </a:graphicData>
        </a:graphic>
      </p:graphicFrame>
    </p:spTree>
    <p:extLst>
      <p:ext uri="{BB962C8B-B14F-4D97-AF65-F5344CB8AC3E}">
        <p14:creationId xmlns:p14="http://schemas.microsoft.com/office/powerpoint/2010/main" val="11681760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136E7-CDF7-B0C1-13D8-3725112DF0AC}"/>
            </a:ext>
          </a:extLst>
        </p:cNvPr>
        <p:cNvGrpSpPr/>
        <p:nvPr/>
      </p:nvGrpSpPr>
      <p:grpSpPr>
        <a:xfrm>
          <a:off x="0" y="0"/>
          <a:ext cx="0" cy="0"/>
          <a:chOff x="0" y="0"/>
          <a:chExt cx="0" cy="0"/>
        </a:xfrm>
      </p:grpSpPr>
      <p:sp>
        <p:nvSpPr>
          <p:cNvPr id="1048628" name="Title 1">
            <a:extLst>
              <a:ext uri="{FF2B5EF4-FFF2-40B4-BE49-F238E27FC236}">
                <a16:creationId xmlns:a16="http://schemas.microsoft.com/office/drawing/2014/main" id="{BDB46876-6BBC-23FB-A67C-BF5EC0D27C5E}"/>
              </a:ext>
            </a:extLst>
          </p:cNvPr>
          <p:cNvSpPr>
            <a:spLocks noGrp="1"/>
          </p:cNvSpPr>
          <p:nvPr>
            <p:ph type="title"/>
          </p:nvPr>
        </p:nvSpPr>
        <p:spPr>
          <a:xfrm>
            <a:off x="2177473" y="229996"/>
            <a:ext cx="9068282" cy="870769"/>
          </a:xfrm>
        </p:spPr>
        <p:txBody>
          <a:bodyPr>
            <a:noAutofit/>
          </a:bodyPr>
          <a:lstStyle/>
          <a:p>
            <a:pPr algn="ctr"/>
            <a:r>
              <a:rPr lang="en-GB" b="1" dirty="0"/>
              <a:t>Model Improvement</a:t>
            </a:r>
            <a:endParaRPr lang="en-US" b="1"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198783FB-BB96-6C58-3E05-E5B2D4EEA846}"/>
              </a:ext>
            </a:extLst>
          </p:cNvPr>
          <p:cNvSpPr>
            <a:spLocks noGrp="1"/>
          </p:cNvSpPr>
          <p:nvPr>
            <p:ph type="sldNum" sz="quarter" idx="12"/>
          </p:nvPr>
        </p:nvSpPr>
        <p:spPr/>
        <p:txBody>
          <a:bodyPr/>
          <a:lstStyle/>
          <a:p>
            <a:fld id="{CB4D3031-0AEB-4687-8E23-04446010D3FF}" type="slidenum">
              <a:rPr lang="en-US" smtClean="0"/>
              <a:t>21</a:t>
            </a:fld>
            <a:endParaRPr lang="en-US"/>
          </a:p>
        </p:txBody>
      </p:sp>
      <p:pic>
        <p:nvPicPr>
          <p:cNvPr id="4" name="Picture 2">
            <a:extLst>
              <a:ext uri="{FF2B5EF4-FFF2-40B4-BE49-F238E27FC236}">
                <a16:creationId xmlns:a16="http://schemas.microsoft.com/office/drawing/2014/main" id="{63F1F008-FF97-C5C5-F9CD-4981D936AD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8409" y="1684546"/>
            <a:ext cx="6932292" cy="455198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4D0053E-C960-C220-E3A6-808453BB8D99}"/>
              </a:ext>
            </a:extLst>
          </p:cNvPr>
          <p:cNvSpPr txBox="1"/>
          <p:nvPr/>
        </p:nvSpPr>
        <p:spPr>
          <a:xfrm>
            <a:off x="4392284" y="968241"/>
            <a:ext cx="6098874" cy="369332"/>
          </a:xfrm>
          <a:prstGeom prst="rect">
            <a:avLst/>
          </a:prstGeom>
          <a:noFill/>
        </p:spPr>
        <p:txBody>
          <a:bodyPr wrap="square">
            <a:spAutoFit/>
          </a:bodyPr>
          <a:lstStyle/>
          <a:p>
            <a:r>
              <a:rPr lang="en-GB" b="1" dirty="0"/>
              <a:t>Regularisation &amp; Hyperparameter Tuning</a:t>
            </a:r>
            <a:endParaRPr lang="en-PK" b="1" dirty="0"/>
          </a:p>
        </p:txBody>
      </p:sp>
      <p:graphicFrame>
        <p:nvGraphicFramePr>
          <p:cNvPr id="6" name="Table 5">
            <a:extLst>
              <a:ext uri="{FF2B5EF4-FFF2-40B4-BE49-F238E27FC236}">
                <a16:creationId xmlns:a16="http://schemas.microsoft.com/office/drawing/2014/main" id="{5BF0A3AA-5F96-907D-D405-2681D85677E7}"/>
              </a:ext>
            </a:extLst>
          </p:cNvPr>
          <p:cNvGraphicFramePr>
            <a:graphicFrameLocks noGrp="1"/>
          </p:cNvGraphicFramePr>
          <p:nvPr>
            <p:extLst>
              <p:ext uri="{D42A27DB-BD31-4B8C-83A1-F6EECF244321}">
                <p14:modId xmlns:p14="http://schemas.microsoft.com/office/powerpoint/2010/main" val="3444455675"/>
              </p:ext>
            </p:extLst>
          </p:nvPr>
        </p:nvGraphicFramePr>
        <p:xfrm>
          <a:off x="8233655" y="2157769"/>
          <a:ext cx="3757064" cy="1463040"/>
        </p:xfrm>
        <a:graphic>
          <a:graphicData uri="http://schemas.openxmlformats.org/drawingml/2006/table">
            <a:tbl>
              <a:tblPr>
                <a:tableStyleId>{E8B1032C-EA38-4F05-BA0D-38AFFFC7BED3}</a:tableStyleId>
              </a:tblPr>
              <a:tblGrid>
                <a:gridCol w="1878532">
                  <a:extLst>
                    <a:ext uri="{9D8B030D-6E8A-4147-A177-3AD203B41FA5}">
                      <a16:colId xmlns:a16="http://schemas.microsoft.com/office/drawing/2014/main" val="986115107"/>
                    </a:ext>
                  </a:extLst>
                </a:gridCol>
                <a:gridCol w="1878532">
                  <a:extLst>
                    <a:ext uri="{9D8B030D-6E8A-4147-A177-3AD203B41FA5}">
                      <a16:colId xmlns:a16="http://schemas.microsoft.com/office/drawing/2014/main" val="147825107"/>
                    </a:ext>
                  </a:extLst>
                </a:gridCol>
              </a:tblGrid>
              <a:tr h="0">
                <a:tc>
                  <a:txBody>
                    <a:bodyPr/>
                    <a:lstStyle/>
                    <a:p>
                      <a:r>
                        <a:rPr lang="en-GB" b="1" dirty="0"/>
                        <a:t>Model Version</a:t>
                      </a:r>
                    </a:p>
                  </a:txBody>
                  <a:tcPr anchor="ctr"/>
                </a:tc>
                <a:tc>
                  <a:txBody>
                    <a:bodyPr/>
                    <a:lstStyle/>
                    <a:p>
                      <a:pPr algn="r"/>
                      <a:r>
                        <a:rPr lang="en-GB" b="1" dirty="0"/>
                        <a:t>RMSE</a:t>
                      </a:r>
                    </a:p>
                  </a:txBody>
                  <a:tcPr anchor="ctr"/>
                </a:tc>
                <a:extLst>
                  <a:ext uri="{0D108BD9-81ED-4DB2-BD59-A6C34878D82A}">
                    <a16:rowId xmlns:a16="http://schemas.microsoft.com/office/drawing/2014/main" val="2119663002"/>
                  </a:ext>
                </a:extLst>
              </a:tr>
              <a:tr h="0">
                <a:tc>
                  <a:txBody>
                    <a:bodyPr/>
                    <a:lstStyle/>
                    <a:p>
                      <a:r>
                        <a:rPr lang="en-GB"/>
                        <a:t>Initial RF</a:t>
                      </a:r>
                    </a:p>
                  </a:txBody>
                  <a:tcPr anchor="ctr"/>
                </a:tc>
                <a:tc>
                  <a:txBody>
                    <a:bodyPr/>
                    <a:lstStyle/>
                    <a:p>
                      <a:pPr algn="r"/>
                      <a:r>
                        <a:rPr lang="en-PK"/>
                        <a:t>4.84</a:t>
                      </a:r>
                    </a:p>
                  </a:txBody>
                  <a:tcPr anchor="ctr"/>
                </a:tc>
                <a:extLst>
                  <a:ext uri="{0D108BD9-81ED-4DB2-BD59-A6C34878D82A}">
                    <a16:rowId xmlns:a16="http://schemas.microsoft.com/office/drawing/2014/main" val="2993278234"/>
                  </a:ext>
                </a:extLst>
              </a:tr>
              <a:tr h="0">
                <a:tc>
                  <a:txBody>
                    <a:bodyPr/>
                    <a:lstStyle/>
                    <a:p>
                      <a:r>
                        <a:rPr lang="en-GB"/>
                        <a:t>Regularised RF</a:t>
                      </a:r>
                    </a:p>
                  </a:txBody>
                  <a:tcPr anchor="ctr"/>
                </a:tc>
                <a:tc>
                  <a:txBody>
                    <a:bodyPr/>
                    <a:lstStyle/>
                    <a:p>
                      <a:pPr algn="r"/>
                      <a:r>
                        <a:rPr lang="en-PK"/>
                        <a:t>4.85</a:t>
                      </a:r>
                    </a:p>
                  </a:txBody>
                  <a:tcPr anchor="ctr"/>
                </a:tc>
                <a:extLst>
                  <a:ext uri="{0D108BD9-81ED-4DB2-BD59-A6C34878D82A}">
                    <a16:rowId xmlns:a16="http://schemas.microsoft.com/office/drawing/2014/main" val="2624798520"/>
                  </a:ext>
                </a:extLst>
              </a:tr>
              <a:tr h="0">
                <a:tc>
                  <a:txBody>
                    <a:bodyPr/>
                    <a:lstStyle/>
                    <a:p>
                      <a:r>
                        <a:rPr lang="en-GB"/>
                        <a:t>Tuned RF</a:t>
                      </a:r>
                    </a:p>
                  </a:txBody>
                  <a:tcPr anchor="ctr"/>
                </a:tc>
                <a:tc>
                  <a:txBody>
                    <a:bodyPr/>
                    <a:lstStyle/>
                    <a:p>
                      <a:pPr algn="r"/>
                      <a:r>
                        <a:rPr lang="en-PK" dirty="0"/>
                        <a:t>4.62</a:t>
                      </a:r>
                    </a:p>
                  </a:txBody>
                  <a:tcPr anchor="ctr"/>
                </a:tc>
                <a:extLst>
                  <a:ext uri="{0D108BD9-81ED-4DB2-BD59-A6C34878D82A}">
                    <a16:rowId xmlns:a16="http://schemas.microsoft.com/office/drawing/2014/main" val="652002382"/>
                  </a:ext>
                </a:extLst>
              </a:tr>
            </a:tbl>
          </a:graphicData>
        </a:graphic>
      </p:graphicFrame>
      <p:sp>
        <p:nvSpPr>
          <p:cNvPr id="8" name="TextBox 7">
            <a:extLst>
              <a:ext uri="{FF2B5EF4-FFF2-40B4-BE49-F238E27FC236}">
                <a16:creationId xmlns:a16="http://schemas.microsoft.com/office/drawing/2014/main" id="{C1F83782-B676-BBB0-FA8E-AF4BB4DBF5BA}"/>
              </a:ext>
            </a:extLst>
          </p:cNvPr>
          <p:cNvSpPr txBox="1"/>
          <p:nvPr/>
        </p:nvSpPr>
        <p:spPr>
          <a:xfrm>
            <a:off x="8196318" y="4117839"/>
            <a:ext cx="6098874" cy="923330"/>
          </a:xfrm>
          <a:prstGeom prst="rect">
            <a:avLst/>
          </a:prstGeom>
          <a:noFill/>
        </p:spPr>
        <p:txBody>
          <a:bodyPr wrap="square">
            <a:spAutoFit/>
          </a:bodyPr>
          <a:lstStyle/>
          <a:p>
            <a:r>
              <a:rPr lang="en-GB" b="1" dirty="0"/>
              <a:t>Key takeaway:</a:t>
            </a:r>
          </a:p>
          <a:p>
            <a:endParaRPr lang="en-GB" dirty="0"/>
          </a:p>
          <a:p>
            <a:r>
              <a:rPr lang="en-GB" dirty="0"/>
              <a:t>Final tuned model performed best.</a:t>
            </a:r>
          </a:p>
        </p:txBody>
      </p:sp>
    </p:spTree>
    <p:extLst>
      <p:ext uri="{BB962C8B-B14F-4D97-AF65-F5344CB8AC3E}">
        <p14:creationId xmlns:p14="http://schemas.microsoft.com/office/powerpoint/2010/main" val="22573708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05130-5892-8886-7770-0723CDD825FD}"/>
            </a:ext>
          </a:extLst>
        </p:cNvPr>
        <p:cNvGrpSpPr/>
        <p:nvPr/>
      </p:nvGrpSpPr>
      <p:grpSpPr>
        <a:xfrm>
          <a:off x="0" y="0"/>
          <a:ext cx="0" cy="0"/>
          <a:chOff x="0" y="0"/>
          <a:chExt cx="0" cy="0"/>
        </a:xfrm>
      </p:grpSpPr>
      <p:sp>
        <p:nvSpPr>
          <p:cNvPr id="1048628" name="Title 1">
            <a:extLst>
              <a:ext uri="{FF2B5EF4-FFF2-40B4-BE49-F238E27FC236}">
                <a16:creationId xmlns:a16="http://schemas.microsoft.com/office/drawing/2014/main" id="{C80635D5-9FF9-F884-9BF4-C73E1BFD5BF7}"/>
              </a:ext>
            </a:extLst>
          </p:cNvPr>
          <p:cNvSpPr>
            <a:spLocks noGrp="1"/>
          </p:cNvSpPr>
          <p:nvPr>
            <p:ph type="title"/>
          </p:nvPr>
        </p:nvSpPr>
        <p:spPr>
          <a:xfrm>
            <a:off x="1666723" y="536138"/>
            <a:ext cx="10331054" cy="870769"/>
          </a:xfrm>
        </p:spPr>
        <p:txBody>
          <a:bodyPr>
            <a:noAutofit/>
          </a:bodyPr>
          <a:lstStyle/>
          <a:p>
            <a:pPr algn="ctr"/>
            <a:r>
              <a:rPr lang="en-GB" b="1" dirty="0"/>
              <a:t>Hyperparameter Tuning</a:t>
            </a:r>
            <a:endParaRPr lang="en-US" b="1" dirty="0">
              <a:latin typeface="Times New Roman"/>
              <a:cs typeface="Times New Roman"/>
            </a:endParaRPr>
          </a:p>
        </p:txBody>
      </p:sp>
      <p:sp>
        <p:nvSpPr>
          <p:cNvPr id="3" name="Slide Number Placeholder 2">
            <a:extLst>
              <a:ext uri="{FF2B5EF4-FFF2-40B4-BE49-F238E27FC236}">
                <a16:creationId xmlns:a16="http://schemas.microsoft.com/office/drawing/2014/main" id="{6EE36D22-297A-34EB-851D-65CC4D2F22DB}"/>
              </a:ext>
            </a:extLst>
          </p:cNvPr>
          <p:cNvSpPr>
            <a:spLocks noGrp="1"/>
          </p:cNvSpPr>
          <p:nvPr>
            <p:ph type="sldNum" sz="quarter" idx="12"/>
          </p:nvPr>
        </p:nvSpPr>
        <p:spPr/>
        <p:txBody>
          <a:bodyPr/>
          <a:lstStyle/>
          <a:p>
            <a:fld id="{CB4D3031-0AEB-4687-8E23-04446010D3FF}" type="slidenum">
              <a:rPr lang="en-US" smtClean="0"/>
              <a:t>22</a:t>
            </a:fld>
            <a:endParaRPr lang="en-US"/>
          </a:p>
        </p:txBody>
      </p:sp>
      <p:sp>
        <p:nvSpPr>
          <p:cNvPr id="5" name="TextBox 4">
            <a:extLst>
              <a:ext uri="{FF2B5EF4-FFF2-40B4-BE49-F238E27FC236}">
                <a16:creationId xmlns:a16="http://schemas.microsoft.com/office/drawing/2014/main" id="{15E28FE7-8675-F6AA-AC62-EB892DEE1DC5}"/>
              </a:ext>
            </a:extLst>
          </p:cNvPr>
          <p:cNvSpPr txBox="1"/>
          <p:nvPr/>
        </p:nvSpPr>
        <p:spPr>
          <a:xfrm>
            <a:off x="2810972" y="1160401"/>
            <a:ext cx="9381028" cy="544110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GB" dirty="0"/>
              <a:t>Initial Random Forest</a:t>
            </a:r>
          </a:p>
          <a:p>
            <a:pPr marL="742950" lvl="1" indent="-285750">
              <a:lnSpc>
                <a:spcPct val="150000"/>
              </a:lnSpc>
              <a:buFont typeface="Courier New" panose="02070309020205020404" pitchFamily="49" charset="0"/>
              <a:buChar char="o"/>
            </a:pPr>
            <a:r>
              <a:rPr lang="en-GB" dirty="0"/>
              <a:t>RMSE: </a:t>
            </a:r>
            <a:r>
              <a:rPr lang="en-GB" b="1" dirty="0"/>
              <a:t>4.84</a:t>
            </a:r>
            <a:endParaRPr lang="en-GB" dirty="0"/>
          </a:p>
          <a:p>
            <a:pPr marL="742950" lvl="1" indent="-285750">
              <a:lnSpc>
                <a:spcPct val="150000"/>
              </a:lnSpc>
              <a:buFont typeface="Courier New" panose="02070309020205020404" pitchFamily="49" charset="0"/>
              <a:buChar char="o"/>
            </a:pPr>
            <a:r>
              <a:rPr lang="en-GB" dirty="0"/>
              <a:t>Baseline model without tuning</a:t>
            </a:r>
          </a:p>
          <a:p>
            <a:pPr marL="285750" indent="-285750">
              <a:lnSpc>
                <a:spcPct val="150000"/>
              </a:lnSpc>
              <a:buFont typeface="Arial" panose="020B0604020202020204" pitchFamily="34" charset="0"/>
              <a:buChar char="•"/>
            </a:pPr>
            <a:r>
              <a:rPr lang="en-GB" dirty="0"/>
              <a:t>Regularised Random Forest</a:t>
            </a:r>
          </a:p>
          <a:p>
            <a:pPr marL="742950" lvl="1" indent="-285750">
              <a:lnSpc>
                <a:spcPct val="150000"/>
              </a:lnSpc>
              <a:buFont typeface="Courier New" panose="02070309020205020404" pitchFamily="49" charset="0"/>
              <a:buChar char="o"/>
            </a:pPr>
            <a:r>
              <a:rPr lang="en-GB" dirty="0"/>
              <a:t>RMSE: </a:t>
            </a:r>
            <a:r>
              <a:rPr lang="en-GB" b="1" dirty="0"/>
              <a:t>~4.86</a:t>
            </a:r>
            <a:endParaRPr lang="en-GB" dirty="0"/>
          </a:p>
          <a:p>
            <a:pPr marL="742950" lvl="1" indent="-285750">
              <a:lnSpc>
                <a:spcPct val="150000"/>
              </a:lnSpc>
              <a:buFont typeface="Courier New" panose="02070309020205020404" pitchFamily="49" charset="0"/>
              <a:buChar char="o"/>
            </a:pPr>
            <a:r>
              <a:rPr lang="en-GB" dirty="0"/>
              <a:t>No clear improvement</a:t>
            </a:r>
          </a:p>
          <a:p>
            <a:pPr marL="285750" indent="-285750">
              <a:lnSpc>
                <a:spcPct val="150000"/>
              </a:lnSpc>
              <a:buFont typeface="Arial" panose="020B0604020202020204" pitchFamily="34" charset="0"/>
              <a:buChar char="•"/>
            </a:pPr>
            <a:r>
              <a:rPr lang="en-GB" dirty="0"/>
              <a:t>Hyperparameter Tuning (Randomised Search)</a:t>
            </a:r>
          </a:p>
          <a:p>
            <a:pPr marL="742950" lvl="1" indent="-285750">
              <a:lnSpc>
                <a:spcPct val="150000"/>
              </a:lnSpc>
              <a:buFont typeface="Courier New" panose="02070309020205020404" pitchFamily="49" charset="0"/>
              <a:buChar char="o"/>
            </a:pPr>
            <a:r>
              <a:rPr lang="en-GB" dirty="0"/>
              <a:t>Tuned: tree depth, estimators, split size</a:t>
            </a:r>
          </a:p>
          <a:p>
            <a:pPr marL="742950" lvl="1" indent="-285750">
              <a:lnSpc>
                <a:spcPct val="150000"/>
              </a:lnSpc>
              <a:buFont typeface="Courier New" panose="02070309020205020404" pitchFamily="49" charset="0"/>
              <a:buChar char="o"/>
            </a:pPr>
            <a:r>
              <a:rPr lang="en-GB" dirty="0"/>
              <a:t>Used cross-validation for better selection</a:t>
            </a:r>
          </a:p>
          <a:p>
            <a:pPr marL="285750" indent="-285750">
              <a:lnSpc>
                <a:spcPct val="150000"/>
              </a:lnSpc>
              <a:buFont typeface="Arial" panose="020B0604020202020204" pitchFamily="34" charset="0"/>
              <a:buChar char="•"/>
            </a:pPr>
            <a:r>
              <a:rPr lang="en-GB" dirty="0"/>
              <a:t>Final Tuned Model</a:t>
            </a:r>
          </a:p>
          <a:p>
            <a:pPr marL="742950" lvl="1" indent="-285750">
              <a:lnSpc>
                <a:spcPct val="150000"/>
              </a:lnSpc>
              <a:buFont typeface="Courier New" panose="02070309020205020404" pitchFamily="49" charset="0"/>
              <a:buChar char="o"/>
            </a:pPr>
            <a:r>
              <a:rPr lang="en-GB" dirty="0"/>
              <a:t>RMSE: </a:t>
            </a:r>
            <a:r>
              <a:rPr lang="en-GB" b="1" dirty="0"/>
              <a:t>4.62</a:t>
            </a:r>
            <a:endParaRPr lang="en-GB" dirty="0"/>
          </a:p>
          <a:p>
            <a:pPr marL="742950" lvl="1" indent="-285750">
              <a:lnSpc>
                <a:spcPct val="150000"/>
              </a:lnSpc>
              <a:buFont typeface="Courier New" panose="02070309020205020404" pitchFamily="49" charset="0"/>
              <a:buChar char="o"/>
            </a:pPr>
            <a:r>
              <a:rPr lang="en-GB" dirty="0"/>
              <a:t>Best performance achieved</a:t>
            </a:r>
          </a:p>
          <a:p>
            <a:pPr marL="742950" lvl="1" indent="-285750">
              <a:lnSpc>
                <a:spcPct val="150000"/>
              </a:lnSpc>
              <a:buFont typeface="Courier New" panose="02070309020205020404" pitchFamily="49" charset="0"/>
              <a:buChar char="o"/>
            </a:pPr>
            <a:r>
              <a:rPr lang="en-GB" dirty="0"/>
              <a:t>More accurate and generalised model</a:t>
            </a:r>
          </a:p>
        </p:txBody>
      </p:sp>
    </p:spTree>
    <p:extLst>
      <p:ext uri="{BB962C8B-B14F-4D97-AF65-F5344CB8AC3E}">
        <p14:creationId xmlns:p14="http://schemas.microsoft.com/office/powerpoint/2010/main" val="2500530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35C94-69F4-E3C5-757E-87725A8C695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6A32A19-FCA3-1044-8AB1-49E3C4C70AFE}"/>
              </a:ext>
            </a:extLst>
          </p:cNvPr>
          <p:cNvSpPr>
            <a:spLocks noGrp="1"/>
          </p:cNvSpPr>
          <p:nvPr>
            <p:ph type="sldNum" sz="quarter" idx="12"/>
          </p:nvPr>
        </p:nvSpPr>
        <p:spPr/>
        <p:txBody>
          <a:bodyPr/>
          <a:lstStyle/>
          <a:p>
            <a:fld id="{CB4D3031-0AEB-4687-8E23-04446010D3FF}" type="slidenum">
              <a:rPr lang="en-US" smtClean="0"/>
              <a:t>23</a:t>
            </a:fld>
            <a:endParaRPr lang="en-US"/>
          </a:p>
        </p:txBody>
      </p:sp>
      <p:sp>
        <p:nvSpPr>
          <p:cNvPr id="5" name="TextBox 4">
            <a:extLst>
              <a:ext uri="{FF2B5EF4-FFF2-40B4-BE49-F238E27FC236}">
                <a16:creationId xmlns:a16="http://schemas.microsoft.com/office/drawing/2014/main" id="{3996ED47-A7F6-80CA-AC40-EBA2FB0FE212}"/>
              </a:ext>
            </a:extLst>
          </p:cNvPr>
          <p:cNvSpPr txBox="1"/>
          <p:nvPr/>
        </p:nvSpPr>
        <p:spPr>
          <a:xfrm>
            <a:off x="7854593" y="2264352"/>
            <a:ext cx="4745180" cy="1754326"/>
          </a:xfrm>
          <a:prstGeom prst="rect">
            <a:avLst/>
          </a:prstGeom>
          <a:noFill/>
        </p:spPr>
        <p:txBody>
          <a:bodyPr wrap="square" lIns="91440" tIns="45720" rIns="91440" bIns="45720" anchor="t">
            <a:spAutoFit/>
          </a:bodyPr>
          <a:lstStyle/>
          <a:p>
            <a:r>
              <a:rPr lang="en-GB" dirty="0"/>
              <a:t>Top features:</a:t>
            </a:r>
          </a:p>
          <a:p>
            <a:r>
              <a:rPr lang="en-GB" dirty="0"/>
              <a:t>Previous crime (lag1) </a:t>
            </a:r>
          </a:p>
          <a:p>
            <a:r>
              <a:rPr lang="en-GB" dirty="0"/>
              <a:t>Dominant crime type </a:t>
            </a:r>
          </a:p>
          <a:p>
            <a:r>
              <a:rPr lang="en-GB" dirty="0"/>
              <a:t>Location </a:t>
            </a:r>
          </a:p>
          <a:p>
            <a:r>
              <a:rPr lang="en-GB" dirty="0"/>
              <a:t>Previous crime is the most important factor.</a:t>
            </a:r>
          </a:p>
        </p:txBody>
      </p:sp>
      <p:sp>
        <p:nvSpPr>
          <p:cNvPr id="8" name="Title 1">
            <a:extLst>
              <a:ext uri="{FF2B5EF4-FFF2-40B4-BE49-F238E27FC236}">
                <a16:creationId xmlns:a16="http://schemas.microsoft.com/office/drawing/2014/main" id="{30F857BF-6596-B37A-3290-6ADBD6C189DB}"/>
              </a:ext>
            </a:extLst>
          </p:cNvPr>
          <p:cNvSpPr>
            <a:spLocks noGrp="1"/>
          </p:cNvSpPr>
          <p:nvPr>
            <p:ph type="title"/>
          </p:nvPr>
        </p:nvSpPr>
        <p:spPr>
          <a:xfrm>
            <a:off x="1545771" y="282138"/>
            <a:ext cx="10331054" cy="483722"/>
          </a:xfrm>
        </p:spPr>
        <p:txBody>
          <a:bodyPr>
            <a:noAutofit/>
          </a:bodyPr>
          <a:lstStyle/>
          <a:p>
            <a:r>
              <a:rPr lang="en-GB" sz="3200" b="1" dirty="0"/>
              <a:t>Feature Importance (RQ3)</a:t>
            </a:r>
          </a:p>
        </p:txBody>
      </p:sp>
      <p:pic>
        <p:nvPicPr>
          <p:cNvPr id="12290" name="Picture 2">
            <a:extLst>
              <a:ext uri="{FF2B5EF4-FFF2-40B4-BE49-F238E27FC236}">
                <a16:creationId xmlns:a16="http://schemas.microsoft.com/office/drawing/2014/main" id="{D4800AA6-5787-DA23-8D04-A6D83924A5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1812" y="1405968"/>
            <a:ext cx="7130521" cy="52254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64214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E2A21-15BC-D427-5706-EE4091531C0E}"/>
            </a:ext>
          </a:extLst>
        </p:cNvPr>
        <p:cNvGrpSpPr/>
        <p:nvPr/>
      </p:nvGrpSpPr>
      <p:grpSpPr>
        <a:xfrm>
          <a:off x="0" y="0"/>
          <a:ext cx="0" cy="0"/>
          <a:chOff x="0" y="0"/>
          <a:chExt cx="0" cy="0"/>
        </a:xfrm>
      </p:grpSpPr>
      <p:sp>
        <p:nvSpPr>
          <p:cNvPr id="1048628" name="Title 1">
            <a:extLst>
              <a:ext uri="{FF2B5EF4-FFF2-40B4-BE49-F238E27FC236}">
                <a16:creationId xmlns:a16="http://schemas.microsoft.com/office/drawing/2014/main" id="{701AE77A-D651-CEBD-945C-195230B36BF9}"/>
              </a:ext>
            </a:extLst>
          </p:cNvPr>
          <p:cNvSpPr>
            <a:spLocks noGrp="1"/>
          </p:cNvSpPr>
          <p:nvPr>
            <p:ph type="title"/>
          </p:nvPr>
        </p:nvSpPr>
        <p:spPr>
          <a:xfrm>
            <a:off x="1545771" y="100168"/>
            <a:ext cx="10331054" cy="870769"/>
          </a:xfrm>
        </p:spPr>
        <p:txBody>
          <a:bodyPr>
            <a:noAutofit/>
          </a:bodyPr>
          <a:lstStyle/>
          <a:p>
            <a:pPr algn="ctr"/>
            <a:r>
              <a:rPr lang="en-GB" b="1" dirty="0"/>
              <a:t>SHAP Analysis</a:t>
            </a:r>
            <a:endParaRPr lang="en-US" b="1"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C0A55828-8AD5-5AEE-5437-B1507376F025}"/>
              </a:ext>
            </a:extLst>
          </p:cNvPr>
          <p:cNvSpPr>
            <a:spLocks noGrp="1"/>
          </p:cNvSpPr>
          <p:nvPr>
            <p:ph type="sldNum" sz="quarter" idx="12"/>
          </p:nvPr>
        </p:nvSpPr>
        <p:spPr/>
        <p:txBody>
          <a:bodyPr/>
          <a:lstStyle/>
          <a:p>
            <a:fld id="{CB4D3031-0AEB-4687-8E23-04446010D3FF}" type="slidenum">
              <a:rPr lang="en-US" smtClean="0"/>
              <a:t>24</a:t>
            </a:fld>
            <a:endParaRPr lang="en-US"/>
          </a:p>
        </p:txBody>
      </p:sp>
      <p:pic>
        <p:nvPicPr>
          <p:cNvPr id="13314" name="Picture 2">
            <a:extLst>
              <a:ext uri="{FF2B5EF4-FFF2-40B4-BE49-F238E27FC236}">
                <a16:creationId xmlns:a16="http://schemas.microsoft.com/office/drawing/2014/main" id="{58C19CF2-705D-E6C1-85C1-8DEFE5EB39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134" y="2579816"/>
            <a:ext cx="5202083" cy="2306008"/>
          </a:xfrm>
          <a:prstGeom prst="rect">
            <a:avLst/>
          </a:prstGeom>
          <a:noFill/>
          <a:extLst>
            <a:ext uri="{909E8E84-426E-40DD-AFC4-6F175D3DCCD1}">
              <a14:hiddenFill xmlns:a14="http://schemas.microsoft.com/office/drawing/2010/main">
                <a:solidFill>
                  <a:srgbClr val="FFFFFF"/>
                </a:solidFill>
              </a14:hiddenFill>
            </a:ext>
          </a:extLst>
        </p:spPr>
      </p:pic>
      <p:pic>
        <p:nvPicPr>
          <p:cNvPr id="13316" name="Picture 4">
            <a:extLst>
              <a:ext uri="{FF2B5EF4-FFF2-40B4-BE49-F238E27FC236}">
                <a16:creationId xmlns:a16="http://schemas.microsoft.com/office/drawing/2014/main" id="{5B531E56-0C2F-2D65-0898-74364BA154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03076" y="2436440"/>
            <a:ext cx="5691216" cy="244938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B98DADB-BB07-9A02-3412-CE29AD70CB1B}"/>
              </a:ext>
            </a:extLst>
          </p:cNvPr>
          <p:cNvSpPr txBox="1"/>
          <p:nvPr/>
        </p:nvSpPr>
        <p:spPr>
          <a:xfrm>
            <a:off x="1180476" y="5297070"/>
            <a:ext cx="10813816" cy="1200329"/>
          </a:xfrm>
          <a:prstGeom prst="rect">
            <a:avLst/>
          </a:prstGeom>
          <a:noFill/>
        </p:spPr>
        <p:txBody>
          <a:bodyPr wrap="square">
            <a:spAutoFit/>
          </a:bodyPr>
          <a:lstStyle/>
          <a:p>
            <a:pPr>
              <a:buNone/>
            </a:pPr>
            <a:r>
              <a:rPr lang="en-GB" dirty="0"/>
              <a:t>This figure shows SHAP analysis using two plots. The left plot shows how each feature affects individual predictions, while the right plot shows overall feature importance. It is clear that dominant crime type and past crime (lag1) have the highest impact on predictions, while location features have a smaller effect.</a:t>
            </a:r>
          </a:p>
        </p:txBody>
      </p:sp>
      <p:sp>
        <p:nvSpPr>
          <p:cNvPr id="2" name="TextBox 1">
            <a:extLst>
              <a:ext uri="{FF2B5EF4-FFF2-40B4-BE49-F238E27FC236}">
                <a16:creationId xmlns:a16="http://schemas.microsoft.com/office/drawing/2014/main" id="{AA9B8006-A8FB-1855-DB80-DE17D4FA20D4}"/>
              </a:ext>
            </a:extLst>
          </p:cNvPr>
          <p:cNvSpPr txBox="1"/>
          <p:nvPr/>
        </p:nvSpPr>
        <p:spPr>
          <a:xfrm>
            <a:off x="2882365" y="1447335"/>
            <a:ext cx="7657866" cy="369332"/>
          </a:xfrm>
          <a:prstGeom prst="rect">
            <a:avLst/>
          </a:prstGeom>
          <a:noFill/>
        </p:spPr>
        <p:txBody>
          <a:bodyPr wrap="none" rtlCol="0">
            <a:spAutoFit/>
          </a:bodyPr>
          <a:lstStyle/>
          <a:p>
            <a:r>
              <a:rPr lang="en-GB" b="1" dirty="0"/>
              <a:t>How exactly does each feature influence the model’s predictions?</a:t>
            </a:r>
            <a:endParaRPr lang="en-PK" b="1" dirty="0"/>
          </a:p>
        </p:txBody>
      </p:sp>
    </p:spTree>
    <p:extLst>
      <p:ext uri="{BB962C8B-B14F-4D97-AF65-F5344CB8AC3E}">
        <p14:creationId xmlns:p14="http://schemas.microsoft.com/office/powerpoint/2010/main" val="27522349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83F58-EA9D-DA53-BEC2-92E11E43BD69}"/>
            </a:ext>
          </a:extLst>
        </p:cNvPr>
        <p:cNvGrpSpPr/>
        <p:nvPr/>
      </p:nvGrpSpPr>
      <p:grpSpPr>
        <a:xfrm>
          <a:off x="0" y="0"/>
          <a:ext cx="0" cy="0"/>
          <a:chOff x="0" y="0"/>
          <a:chExt cx="0" cy="0"/>
        </a:xfrm>
      </p:grpSpPr>
      <p:sp>
        <p:nvSpPr>
          <p:cNvPr id="1048628" name="Title 1">
            <a:extLst>
              <a:ext uri="{FF2B5EF4-FFF2-40B4-BE49-F238E27FC236}">
                <a16:creationId xmlns:a16="http://schemas.microsoft.com/office/drawing/2014/main" id="{CF87683E-9F8F-5C62-5C5F-55B8F9D559D3}"/>
              </a:ext>
            </a:extLst>
          </p:cNvPr>
          <p:cNvSpPr>
            <a:spLocks noGrp="1"/>
          </p:cNvSpPr>
          <p:nvPr>
            <p:ph type="title"/>
          </p:nvPr>
        </p:nvSpPr>
        <p:spPr>
          <a:xfrm>
            <a:off x="-853295" y="282138"/>
            <a:ext cx="10331054" cy="870769"/>
          </a:xfrm>
        </p:spPr>
        <p:txBody>
          <a:bodyPr>
            <a:noAutofit/>
          </a:bodyPr>
          <a:lstStyle/>
          <a:p>
            <a:pPr algn="ctr"/>
            <a:r>
              <a:rPr lang="en-GB" b="1" dirty="0"/>
              <a:t>Model Validation</a:t>
            </a:r>
            <a:endParaRPr lang="en-US" b="1" dirty="0"/>
          </a:p>
        </p:txBody>
      </p:sp>
      <p:sp>
        <p:nvSpPr>
          <p:cNvPr id="3" name="Slide Number Placeholder 2">
            <a:extLst>
              <a:ext uri="{FF2B5EF4-FFF2-40B4-BE49-F238E27FC236}">
                <a16:creationId xmlns:a16="http://schemas.microsoft.com/office/drawing/2014/main" id="{2DD1CDEC-CE76-3E72-63D8-D689AB5295AB}"/>
              </a:ext>
            </a:extLst>
          </p:cNvPr>
          <p:cNvSpPr>
            <a:spLocks noGrp="1"/>
          </p:cNvSpPr>
          <p:nvPr>
            <p:ph type="sldNum" sz="quarter" idx="12"/>
          </p:nvPr>
        </p:nvSpPr>
        <p:spPr/>
        <p:txBody>
          <a:bodyPr/>
          <a:lstStyle/>
          <a:p>
            <a:fld id="{CB4D3031-0AEB-4687-8E23-04446010D3FF}" type="slidenum">
              <a:rPr lang="en-US" smtClean="0"/>
              <a:t>25</a:t>
            </a:fld>
            <a:endParaRPr lang="en-US"/>
          </a:p>
        </p:txBody>
      </p:sp>
      <p:sp>
        <p:nvSpPr>
          <p:cNvPr id="9" name="TextBox 8">
            <a:extLst>
              <a:ext uri="{FF2B5EF4-FFF2-40B4-BE49-F238E27FC236}">
                <a16:creationId xmlns:a16="http://schemas.microsoft.com/office/drawing/2014/main" id="{B200E055-53EA-EF26-82B1-3B47527C698A}"/>
              </a:ext>
            </a:extLst>
          </p:cNvPr>
          <p:cNvSpPr txBox="1"/>
          <p:nvPr/>
        </p:nvSpPr>
        <p:spPr>
          <a:xfrm>
            <a:off x="7863616" y="1794851"/>
            <a:ext cx="3540505" cy="2554545"/>
          </a:xfrm>
          <a:prstGeom prst="rect">
            <a:avLst/>
          </a:prstGeom>
          <a:noFill/>
        </p:spPr>
        <p:txBody>
          <a:bodyPr wrap="square" lIns="91440" tIns="45720" rIns="91440" bIns="45720" anchor="t">
            <a:spAutoFit/>
          </a:bodyPr>
          <a:lstStyle/>
          <a:p>
            <a:r>
              <a:rPr lang="en-GB" sz="2000" dirty="0"/>
              <a:t>✔ Most errors are close to zero</a:t>
            </a:r>
          </a:p>
          <a:p>
            <a:br>
              <a:rPr lang="en-GB" sz="2000" dirty="0"/>
            </a:br>
            <a:r>
              <a:rPr lang="en-GB" sz="2000" dirty="0"/>
              <a:t>✔ Predictions are generally accurate</a:t>
            </a:r>
            <a:br>
              <a:rPr lang="en-GB" sz="2000" dirty="0"/>
            </a:br>
            <a:endParaRPr lang="en-GB" sz="2000" dirty="0"/>
          </a:p>
          <a:p>
            <a:r>
              <a:rPr lang="en-GB" sz="2000" dirty="0"/>
              <a:t>✔ Model is stable and reliable</a:t>
            </a:r>
          </a:p>
        </p:txBody>
      </p:sp>
      <p:pic>
        <p:nvPicPr>
          <p:cNvPr id="14340" name="Picture 4">
            <a:extLst>
              <a:ext uri="{FF2B5EF4-FFF2-40B4-BE49-F238E27FC236}">
                <a16:creationId xmlns:a16="http://schemas.microsoft.com/office/drawing/2014/main" id="{20AD7AC6-A2C0-6442-C401-34F706DCED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1579" y="1501553"/>
            <a:ext cx="6383183" cy="4618344"/>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239EDD9-BAC9-FB16-6AFB-9CF1BD94BA9D}"/>
              </a:ext>
            </a:extLst>
          </p:cNvPr>
          <p:cNvSpPr txBox="1"/>
          <p:nvPr/>
        </p:nvSpPr>
        <p:spPr>
          <a:xfrm>
            <a:off x="6349609" y="260186"/>
            <a:ext cx="3722859" cy="646331"/>
          </a:xfrm>
          <a:prstGeom prst="rect">
            <a:avLst/>
          </a:prstGeom>
          <a:noFill/>
        </p:spPr>
        <p:txBody>
          <a:bodyPr wrap="square" rtlCol="0">
            <a:spAutoFit/>
          </a:bodyPr>
          <a:lstStyle/>
          <a:p>
            <a:r>
              <a:rPr lang="en-GB" dirty="0"/>
              <a:t>Are the model errors reasonable and well-behaved?</a:t>
            </a:r>
            <a:endParaRPr lang="en-PK" dirty="0"/>
          </a:p>
        </p:txBody>
      </p:sp>
    </p:spTree>
    <p:extLst>
      <p:ext uri="{BB962C8B-B14F-4D97-AF65-F5344CB8AC3E}">
        <p14:creationId xmlns:p14="http://schemas.microsoft.com/office/powerpoint/2010/main" val="22456857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04E64-4F05-41DE-74B3-5CEC443BC5BA}"/>
            </a:ext>
          </a:extLst>
        </p:cNvPr>
        <p:cNvGrpSpPr/>
        <p:nvPr/>
      </p:nvGrpSpPr>
      <p:grpSpPr>
        <a:xfrm>
          <a:off x="0" y="0"/>
          <a:ext cx="0" cy="0"/>
          <a:chOff x="0" y="0"/>
          <a:chExt cx="0" cy="0"/>
        </a:xfrm>
      </p:grpSpPr>
      <p:sp>
        <p:nvSpPr>
          <p:cNvPr id="1048628" name="Title 1">
            <a:extLst>
              <a:ext uri="{FF2B5EF4-FFF2-40B4-BE49-F238E27FC236}">
                <a16:creationId xmlns:a16="http://schemas.microsoft.com/office/drawing/2014/main" id="{DBF9F5D8-58ED-013F-69F6-04F3F625DC73}"/>
              </a:ext>
            </a:extLst>
          </p:cNvPr>
          <p:cNvSpPr>
            <a:spLocks noGrp="1"/>
          </p:cNvSpPr>
          <p:nvPr>
            <p:ph type="title"/>
          </p:nvPr>
        </p:nvSpPr>
        <p:spPr>
          <a:xfrm>
            <a:off x="1666723" y="536138"/>
            <a:ext cx="10331054" cy="870769"/>
          </a:xfrm>
        </p:spPr>
        <p:txBody>
          <a:bodyPr>
            <a:noAutofit/>
          </a:bodyPr>
          <a:lstStyle/>
          <a:p>
            <a:pPr algn="ctr">
              <a:lnSpc>
                <a:spcPct val="150000"/>
              </a:lnSpc>
            </a:pPr>
            <a:r>
              <a:rPr lang="en-GB" b="1" dirty="0"/>
              <a:t>Function – </a:t>
            </a:r>
            <a:r>
              <a:rPr lang="en-GB" b="1" dirty="0" err="1"/>
              <a:t>predictNextMonthCrime</a:t>
            </a:r>
            <a:endParaRPr lang="en-US" b="1" dirty="0">
              <a:latin typeface="Times New Roman"/>
              <a:cs typeface="Times New Roman"/>
            </a:endParaRPr>
          </a:p>
        </p:txBody>
      </p:sp>
      <p:sp>
        <p:nvSpPr>
          <p:cNvPr id="3" name="Slide Number Placeholder 2">
            <a:extLst>
              <a:ext uri="{FF2B5EF4-FFF2-40B4-BE49-F238E27FC236}">
                <a16:creationId xmlns:a16="http://schemas.microsoft.com/office/drawing/2014/main" id="{AA166DCC-4D1D-5700-FC9E-F5E12FE5F77F}"/>
              </a:ext>
            </a:extLst>
          </p:cNvPr>
          <p:cNvSpPr>
            <a:spLocks noGrp="1"/>
          </p:cNvSpPr>
          <p:nvPr>
            <p:ph type="sldNum" sz="quarter" idx="12"/>
          </p:nvPr>
        </p:nvSpPr>
        <p:spPr/>
        <p:txBody>
          <a:bodyPr/>
          <a:lstStyle/>
          <a:p>
            <a:pPr>
              <a:lnSpc>
                <a:spcPct val="150000"/>
              </a:lnSpc>
            </a:pPr>
            <a:fld id="{CB4D3031-0AEB-4687-8E23-04446010D3FF}" type="slidenum">
              <a:rPr lang="en-US" smtClean="0"/>
              <a:pPr>
                <a:lnSpc>
                  <a:spcPct val="150000"/>
                </a:lnSpc>
              </a:pPr>
              <a:t>26</a:t>
            </a:fld>
            <a:endParaRPr lang="en-US"/>
          </a:p>
        </p:txBody>
      </p:sp>
      <p:sp>
        <p:nvSpPr>
          <p:cNvPr id="5" name="TextBox 4">
            <a:extLst>
              <a:ext uri="{FF2B5EF4-FFF2-40B4-BE49-F238E27FC236}">
                <a16:creationId xmlns:a16="http://schemas.microsoft.com/office/drawing/2014/main" id="{20101D3F-94E0-A7DD-27DB-4E11B5129D0D}"/>
              </a:ext>
            </a:extLst>
          </p:cNvPr>
          <p:cNvSpPr txBox="1"/>
          <p:nvPr/>
        </p:nvSpPr>
        <p:spPr>
          <a:xfrm>
            <a:off x="2616749" y="1951234"/>
            <a:ext cx="9381028" cy="211711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GB" dirty="0"/>
              <a:t>Predicts next month’s crime for a given location</a:t>
            </a:r>
          </a:p>
          <a:p>
            <a:pPr marL="285750" indent="-285750">
              <a:lnSpc>
                <a:spcPct val="150000"/>
              </a:lnSpc>
              <a:buFont typeface="Arial" panose="020B0604020202020204" pitchFamily="34" charset="0"/>
              <a:buChar char="•"/>
            </a:pPr>
            <a:r>
              <a:rPr lang="en-GB" dirty="0"/>
              <a:t>Accepts input: area name, street, or coordinates</a:t>
            </a:r>
          </a:p>
          <a:p>
            <a:pPr marL="285750" indent="-285750">
              <a:lnSpc>
                <a:spcPct val="150000"/>
              </a:lnSpc>
              <a:buFont typeface="Arial" panose="020B0604020202020204" pitchFamily="34" charset="0"/>
              <a:buChar char="•"/>
            </a:pPr>
            <a:r>
              <a:rPr lang="en-GB" dirty="0"/>
              <a:t>Matches input to LSOA area</a:t>
            </a:r>
          </a:p>
          <a:p>
            <a:pPr marL="285750" indent="-285750">
              <a:lnSpc>
                <a:spcPct val="150000"/>
              </a:lnSpc>
              <a:buFont typeface="Arial" panose="020B0604020202020204" pitchFamily="34" charset="0"/>
              <a:buChar char="•"/>
            </a:pPr>
            <a:r>
              <a:rPr lang="en-GB" dirty="0"/>
              <a:t>Uses trained model to estimate crime count</a:t>
            </a:r>
          </a:p>
          <a:p>
            <a:pPr marL="285750" indent="-285750">
              <a:lnSpc>
                <a:spcPct val="150000"/>
              </a:lnSpc>
              <a:buFont typeface="Arial" panose="020B0604020202020204" pitchFamily="34" charset="0"/>
              <a:buChar char="•"/>
            </a:pPr>
            <a:r>
              <a:rPr lang="en-GB" dirty="0"/>
              <a:t>Assigns a risk level (Low, Medium, High, Very High)</a:t>
            </a:r>
          </a:p>
        </p:txBody>
      </p:sp>
    </p:spTree>
    <p:extLst>
      <p:ext uri="{BB962C8B-B14F-4D97-AF65-F5344CB8AC3E}">
        <p14:creationId xmlns:p14="http://schemas.microsoft.com/office/powerpoint/2010/main" val="13819868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8" name="Title 1"/>
          <p:cNvSpPr>
            <a:spLocks noGrp="1"/>
          </p:cNvSpPr>
          <p:nvPr>
            <p:ph type="title"/>
          </p:nvPr>
        </p:nvSpPr>
        <p:spPr>
          <a:xfrm>
            <a:off x="4467130" y="657366"/>
            <a:ext cx="5430632" cy="625956"/>
          </a:xfrm>
        </p:spPr>
        <p:txBody>
          <a:bodyPr>
            <a:noAutofit/>
          </a:bodyPr>
          <a:lstStyle/>
          <a:p>
            <a:r>
              <a:rPr lang="en-GB" b="1" dirty="0"/>
              <a:t>Real World Example</a:t>
            </a:r>
            <a:endParaRPr lang="en-US"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CB4D3031-0AEB-4687-8E23-04446010D3FF}" type="slidenum">
              <a:rPr lang="en-US" smtClean="0"/>
              <a:t>27</a:t>
            </a:fld>
            <a:endParaRPr lang="en-US"/>
          </a:p>
        </p:txBody>
      </p:sp>
      <p:sp>
        <p:nvSpPr>
          <p:cNvPr id="4" name="Rectangle 3"/>
          <p:cNvSpPr/>
          <p:nvPr/>
        </p:nvSpPr>
        <p:spPr>
          <a:xfrm>
            <a:off x="1785256" y="1720465"/>
            <a:ext cx="9241972" cy="4194610"/>
          </a:xfrm>
          <a:prstGeom prst="rect">
            <a:avLst/>
          </a:prstGeom>
        </p:spPr>
        <p:txBody>
          <a:bodyPr wrap="square" lIns="91440" tIns="45720" rIns="91440" bIns="45720" anchor="t">
            <a:spAutoFit/>
          </a:bodyPr>
          <a:lstStyle/>
          <a:p>
            <a:pPr>
              <a:lnSpc>
                <a:spcPct val="150000"/>
              </a:lnSpc>
            </a:pPr>
            <a:r>
              <a:rPr lang="en-GB" b="1" dirty="0"/>
              <a:t>Example 1:</a:t>
            </a:r>
          </a:p>
          <a:p>
            <a:pPr marL="742950" lvl="1" indent="-285750">
              <a:lnSpc>
                <a:spcPct val="150000"/>
              </a:lnSpc>
              <a:buFont typeface="Arial" panose="020B0604020202020204" pitchFamily="34" charset="0"/>
              <a:buChar char="•"/>
            </a:pPr>
            <a:r>
              <a:rPr lang="en-GB" dirty="0"/>
              <a:t>Location: Chancery Lane</a:t>
            </a:r>
          </a:p>
          <a:p>
            <a:pPr marL="742950" lvl="1" indent="-285750">
              <a:lnSpc>
                <a:spcPct val="150000"/>
              </a:lnSpc>
              <a:buFont typeface="Arial" panose="020B0604020202020204" pitchFamily="34" charset="0"/>
              <a:buChar char="•"/>
            </a:pPr>
            <a:r>
              <a:rPr lang="en-GB" dirty="0"/>
              <a:t>Predicted crime: 3.7</a:t>
            </a:r>
          </a:p>
          <a:p>
            <a:pPr marL="742950" lvl="1" indent="-285750">
              <a:lnSpc>
                <a:spcPct val="150000"/>
              </a:lnSpc>
              <a:buFont typeface="Arial" panose="020B0604020202020204" pitchFamily="34" charset="0"/>
              <a:buChar char="•"/>
            </a:pPr>
            <a:r>
              <a:rPr lang="en-GB" dirty="0"/>
              <a:t>Risk level: Low</a:t>
            </a:r>
          </a:p>
          <a:p>
            <a:pPr>
              <a:lnSpc>
                <a:spcPct val="150000"/>
              </a:lnSpc>
            </a:pPr>
            <a:r>
              <a:rPr lang="en-GB" b="1" dirty="0"/>
              <a:t>Example 2:</a:t>
            </a:r>
          </a:p>
          <a:p>
            <a:pPr marL="742950" lvl="1" indent="-285750">
              <a:lnSpc>
                <a:spcPct val="150000"/>
              </a:lnSpc>
              <a:buFont typeface="Arial" panose="020B0604020202020204" pitchFamily="34" charset="0"/>
              <a:buChar char="•"/>
            </a:pPr>
            <a:r>
              <a:rPr lang="en-GB" dirty="0"/>
              <a:t>High crime area</a:t>
            </a:r>
          </a:p>
          <a:p>
            <a:pPr marL="742950" lvl="1" indent="-285750">
              <a:lnSpc>
                <a:spcPct val="150000"/>
              </a:lnSpc>
              <a:buFont typeface="Arial" panose="020B0604020202020204" pitchFamily="34" charset="0"/>
              <a:buChar char="•"/>
            </a:pPr>
            <a:r>
              <a:rPr lang="en-GB" dirty="0"/>
              <a:t>Predicted crime: 490</a:t>
            </a:r>
          </a:p>
          <a:p>
            <a:pPr marL="742950" lvl="1" indent="-285750">
              <a:lnSpc>
                <a:spcPct val="150000"/>
              </a:lnSpc>
              <a:buFont typeface="Arial" panose="020B0604020202020204" pitchFamily="34" charset="0"/>
              <a:buChar char="•"/>
            </a:pPr>
            <a:r>
              <a:rPr lang="en-GB" dirty="0"/>
              <a:t>Risk level: Very High</a:t>
            </a:r>
          </a:p>
          <a:p>
            <a:pPr>
              <a:lnSpc>
                <a:spcPct val="150000"/>
              </a:lnSpc>
            </a:pPr>
            <a:r>
              <a:rPr lang="en-GB" dirty="0"/>
              <a:t>Shows how the system can be used in real life</a:t>
            </a:r>
          </a:p>
          <a:p>
            <a:pPr>
              <a:lnSpc>
                <a:spcPct val="150000"/>
              </a:lnSpc>
            </a:pPr>
            <a:r>
              <a:rPr lang="en-GB" dirty="0"/>
              <a:t>Helps users quickly understand crime risk in different areas</a:t>
            </a:r>
          </a:p>
        </p:txBody>
      </p:sp>
    </p:spTree>
    <p:extLst>
      <p:ext uri="{BB962C8B-B14F-4D97-AF65-F5344CB8AC3E}">
        <p14:creationId xmlns:p14="http://schemas.microsoft.com/office/powerpoint/2010/main" val="22662070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AB304-C980-A983-626B-03D6581FC912}"/>
            </a:ext>
          </a:extLst>
        </p:cNvPr>
        <p:cNvGrpSpPr/>
        <p:nvPr/>
      </p:nvGrpSpPr>
      <p:grpSpPr>
        <a:xfrm>
          <a:off x="0" y="0"/>
          <a:ext cx="0" cy="0"/>
          <a:chOff x="0" y="0"/>
          <a:chExt cx="0" cy="0"/>
        </a:xfrm>
      </p:grpSpPr>
      <p:sp>
        <p:nvSpPr>
          <p:cNvPr id="1048628" name="Title 1">
            <a:extLst>
              <a:ext uri="{FF2B5EF4-FFF2-40B4-BE49-F238E27FC236}">
                <a16:creationId xmlns:a16="http://schemas.microsoft.com/office/drawing/2014/main" id="{6087153E-E243-FF11-CA39-EC7A7CBB1F42}"/>
              </a:ext>
            </a:extLst>
          </p:cNvPr>
          <p:cNvSpPr>
            <a:spLocks noGrp="1"/>
          </p:cNvSpPr>
          <p:nvPr>
            <p:ph type="title"/>
          </p:nvPr>
        </p:nvSpPr>
        <p:spPr>
          <a:xfrm>
            <a:off x="4467130" y="657366"/>
            <a:ext cx="5430632" cy="625956"/>
          </a:xfrm>
        </p:spPr>
        <p:txBody>
          <a:bodyPr>
            <a:noAutofit/>
          </a:bodyPr>
          <a:lstStyle/>
          <a:p>
            <a:r>
              <a:rPr lang="en-GB" b="1"/>
              <a:t>Practical Use</a:t>
            </a:r>
            <a:endParaRPr lang="en-US" b="1"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B08428F7-0488-0299-9466-CA3E0FB2682D}"/>
              </a:ext>
            </a:extLst>
          </p:cNvPr>
          <p:cNvSpPr>
            <a:spLocks noGrp="1"/>
          </p:cNvSpPr>
          <p:nvPr>
            <p:ph type="sldNum" sz="quarter" idx="12"/>
          </p:nvPr>
        </p:nvSpPr>
        <p:spPr/>
        <p:txBody>
          <a:bodyPr/>
          <a:lstStyle/>
          <a:p>
            <a:fld id="{CB4D3031-0AEB-4687-8E23-04446010D3FF}" type="slidenum">
              <a:rPr lang="en-US" smtClean="0"/>
              <a:t>28</a:t>
            </a:fld>
            <a:endParaRPr lang="en-US"/>
          </a:p>
        </p:txBody>
      </p:sp>
      <p:sp>
        <p:nvSpPr>
          <p:cNvPr id="4" name="Rectangle 3">
            <a:extLst>
              <a:ext uri="{FF2B5EF4-FFF2-40B4-BE49-F238E27FC236}">
                <a16:creationId xmlns:a16="http://schemas.microsoft.com/office/drawing/2014/main" id="{50EDAFB2-05FD-8D54-EDF3-FB45936B8E13}"/>
              </a:ext>
            </a:extLst>
          </p:cNvPr>
          <p:cNvSpPr/>
          <p:nvPr/>
        </p:nvSpPr>
        <p:spPr>
          <a:xfrm>
            <a:off x="1785256" y="1720465"/>
            <a:ext cx="9241972" cy="3265446"/>
          </a:xfrm>
          <a:prstGeom prst="rect">
            <a:avLst/>
          </a:prstGeom>
        </p:spPr>
        <p:txBody>
          <a:bodyPr wrap="square" lIns="91440" tIns="45720" rIns="91440" bIns="45720" anchor="t">
            <a:spAutoFit/>
          </a:bodyPr>
          <a:lstStyle/>
          <a:p>
            <a:pPr>
              <a:lnSpc>
                <a:spcPct val="150000"/>
              </a:lnSpc>
            </a:pPr>
            <a:r>
              <a:rPr lang="en-GB" sz="2000" dirty="0"/>
              <a:t>Police:</a:t>
            </a:r>
          </a:p>
          <a:p>
            <a:pPr marL="800100" lvl="1" indent="-342900">
              <a:lnSpc>
                <a:spcPct val="150000"/>
              </a:lnSpc>
              <a:buFont typeface="Arial" panose="020B0604020202020204" pitchFamily="34" charset="0"/>
              <a:buChar char="•"/>
            </a:pPr>
            <a:r>
              <a:rPr lang="en-GB" sz="2000" dirty="0"/>
              <a:t>Plan patrol routes </a:t>
            </a:r>
          </a:p>
          <a:p>
            <a:pPr marL="800100" lvl="1" indent="-342900">
              <a:lnSpc>
                <a:spcPct val="150000"/>
              </a:lnSpc>
              <a:buFont typeface="Arial" panose="020B0604020202020204" pitchFamily="34" charset="0"/>
              <a:buChar char="•"/>
            </a:pPr>
            <a:r>
              <a:rPr lang="en-GB" sz="2000" dirty="0"/>
              <a:t>Focus on high-risk areas </a:t>
            </a:r>
          </a:p>
          <a:p>
            <a:pPr>
              <a:lnSpc>
                <a:spcPct val="150000"/>
              </a:lnSpc>
            </a:pPr>
            <a:r>
              <a:rPr lang="en-GB" sz="2000" dirty="0"/>
              <a:t>Public:</a:t>
            </a:r>
          </a:p>
          <a:p>
            <a:pPr marL="800100" lvl="1" indent="-342900">
              <a:lnSpc>
                <a:spcPct val="150000"/>
              </a:lnSpc>
              <a:buFont typeface="Arial" panose="020B0604020202020204" pitchFamily="34" charset="0"/>
              <a:buChar char="•"/>
            </a:pPr>
            <a:r>
              <a:rPr lang="en-GB" sz="2000" dirty="0"/>
              <a:t>Check safety before renting </a:t>
            </a:r>
          </a:p>
          <a:p>
            <a:pPr>
              <a:lnSpc>
                <a:spcPct val="150000"/>
              </a:lnSpc>
            </a:pPr>
            <a:r>
              <a:rPr lang="en-GB" sz="2000" dirty="0"/>
              <a:t>Government:</a:t>
            </a:r>
          </a:p>
          <a:p>
            <a:pPr marL="800100" lvl="1" indent="-342900">
              <a:lnSpc>
                <a:spcPct val="150000"/>
              </a:lnSpc>
              <a:buFont typeface="Arial" panose="020B0604020202020204" pitchFamily="34" charset="0"/>
              <a:buChar char="•"/>
            </a:pPr>
            <a:r>
              <a:rPr lang="en-GB" sz="2000" dirty="0"/>
              <a:t>Improve safety planning</a:t>
            </a:r>
          </a:p>
        </p:txBody>
      </p:sp>
    </p:spTree>
    <p:extLst>
      <p:ext uri="{BB962C8B-B14F-4D97-AF65-F5344CB8AC3E}">
        <p14:creationId xmlns:p14="http://schemas.microsoft.com/office/powerpoint/2010/main" val="13972123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821AE-1D8D-805D-6EAA-7BC654E29DB9}"/>
            </a:ext>
          </a:extLst>
        </p:cNvPr>
        <p:cNvGrpSpPr/>
        <p:nvPr/>
      </p:nvGrpSpPr>
      <p:grpSpPr>
        <a:xfrm>
          <a:off x="0" y="0"/>
          <a:ext cx="0" cy="0"/>
          <a:chOff x="0" y="0"/>
          <a:chExt cx="0" cy="0"/>
        </a:xfrm>
      </p:grpSpPr>
      <p:sp>
        <p:nvSpPr>
          <p:cNvPr id="1048628" name="Title 1">
            <a:extLst>
              <a:ext uri="{FF2B5EF4-FFF2-40B4-BE49-F238E27FC236}">
                <a16:creationId xmlns:a16="http://schemas.microsoft.com/office/drawing/2014/main" id="{22FAFD00-6474-6288-1F2E-0D7CE0439EB0}"/>
              </a:ext>
            </a:extLst>
          </p:cNvPr>
          <p:cNvSpPr>
            <a:spLocks noGrp="1"/>
          </p:cNvSpPr>
          <p:nvPr>
            <p:ph type="title"/>
          </p:nvPr>
        </p:nvSpPr>
        <p:spPr>
          <a:xfrm>
            <a:off x="4467130" y="657366"/>
            <a:ext cx="5430632" cy="625956"/>
          </a:xfrm>
        </p:spPr>
        <p:txBody>
          <a:bodyPr>
            <a:noAutofit/>
          </a:bodyPr>
          <a:lstStyle/>
          <a:p>
            <a:r>
              <a:rPr lang="en-GB" b="1" dirty="0"/>
              <a:t>Conclusion</a:t>
            </a:r>
            <a:endParaRPr lang="en-US" b="1"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CDD02ADD-C91F-0872-772D-50A51AA1EBC9}"/>
              </a:ext>
            </a:extLst>
          </p:cNvPr>
          <p:cNvSpPr>
            <a:spLocks noGrp="1"/>
          </p:cNvSpPr>
          <p:nvPr>
            <p:ph type="sldNum" sz="quarter" idx="12"/>
          </p:nvPr>
        </p:nvSpPr>
        <p:spPr/>
        <p:txBody>
          <a:bodyPr/>
          <a:lstStyle/>
          <a:p>
            <a:fld id="{CB4D3031-0AEB-4687-8E23-04446010D3FF}" type="slidenum">
              <a:rPr lang="en-US" smtClean="0"/>
              <a:t>29</a:t>
            </a:fld>
            <a:endParaRPr lang="en-US"/>
          </a:p>
        </p:txBody>
      </p:sp>
      <p:sp>
        <p:nvSpPr>
          <p:cNvPr id="4" name="Rectangle 3">
            <a:extLst>
              <a:ext uri="{FF2B5EF4-FFF2-40B4-BE49-F238E27FC236}">
                <a16:creationId xmlns:a16="http://schemas.microsoft.com/office/drawing/2014/main" id="{140B29CA-EFCD-8721-93C0-927B84D5AFF7}"/>
              </a:ext>
            </a:extLst>
          </p:cNvPr>
          <p:cNvSpPr/>
          <p:nvPr/>
        </p:nvSpPr>
        <p:spPr>
          <a:xfrm>
            <a:off x="1785256" y="1720465"/>
            <a:ext cx="9241972" cy="1323439"/>
          </a:xfrm>
          <a:prstGeom prst="rect">
            <a:avLst/>
          </a:prstGeom>
        </p:spPr>
        <p:txBody>
          <a:bodyPr wrap="square" lIns="91440" tIns="45720" rIns="91440" bIns="45720" anchor="t">
            <a:spAutoFit/>
          </a:bodyPr>
          <a:lstStyle/>
          <a:p>
            <a:r>
              <a:rPr lang="en-GB" sz="2000" dirty="0"/>
              <a:t>DBSCAN is best for hotspot detection.</a:t>
            </a:r>
            <a:br>
              <a:rPr lang="en-GB" sz="2000" dirty="0"/>
            </a:br>
            <a:r>
              <a:rPr lang="en-GB" sz="2000" dirty="0"/>
              <a:t>Random Forest is best for prediction.</a:t>
            </a:r>
          </a:p>
          <a:p>
            <a:r>
              <a:rPr lang="en-GB" sz="2000" dirty="0"/>
              <a:t>Past crime and location are the most important features.</a:t>
            </a:r>
          </a:p>
          <a:p>
            <a:r>
              <a:rPr lang="en-GB" sz="2000" dirty="0"/>
              <a:t>This system can support real-world decision making.</a:t>
            </a:r>
          </a:p>
        </p:txBody>
      </p:sp>
    </p:spTree>
    <p:extLst>
      <p:ext uri="{BB962C8B-B14F-4D97-AF65-F5344CB8AC3E}">
        <p14:creationId xmlns:p14="http://schemas.microsoft.com/office/powerpoint/2010/main" val="22983210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06475" y="2488195"/>
            <a:ext cx="6937668" cy="1785104"/>
          </a:xfrm>
          <a:prstGeom prst="rect">
            <a:avLst/>
          </a:prstGeom>
        </p:spPr>
        <p:txBody>
          <a:bodyPr wrap="none">
            <a:spAutoFit/>
          </a:bodyPr>
          <a:lstStyle/>
          <a:p>
            <a:pPr algn="just"/>
            <a:r>
              <a:rPr lang="en-GB" sz="5400" dirty="0">
                <a:latin typeface="Times New Roman" panose="02020603050405020304" pitchFamily="18" charset="0"/>
                <a:cs typeface="Times New Roman" panose="02020603050405020304" pitchFamily="18" charset="0"/>
              </a:rPr>
              <a:t>  </a:t>
            </a:r>
            <a:r>
              <a:rPr lang="en-GB" sz="5500" b="1" dirty="0">
                <a:latin typeface="Times New Roman" panose="02020603050405020304" pitchFamily="18" charset="0"/>
                <a:cs typeface="Times New Roman" panose="02020603050405020304" pitchFamily="18" charset="0"/>
              </a:rPr>
              <a:t>THANK YOU FOR </a:t>
            </a:r>
          </a:p>
          <a:p>
            <a:pPr algn="just"/>
            <a:r>
              <a:rPr lang="en-GB" sz="5500" b="1" dirty="0">
                <a:latin typeface="Times New Roman" panose="02020603050405020304" pitchFamily="18" charset="0"/>
                <a:cs typeface="Times New Roman" panose="02020603050405020304" pitchFamily="18" charset="0"/>
              </a:rPr>
              <a:t>YOUR TIME TODAY</a:t>
            </a:r>
          </a:p>
        </p:txBody>
      </p:sp>
      <p:sp>
        <p:nvSpPr>
          <p:cNvPr id="4" name="Slide Number Placeholder 3"/>
          <p:cNvSpPr>
            <a:spLocks noGrp="1"/>
          </p:cNvSpPr>
          <p:nvPr>
            <p:ph type="sldNum" sz="quarter" idx="12"/>
          </p:nvPr>
        </p:nvSpPr>
        <p:spPr/>
        <p:txBody>
          <a:bodyPr/>
          <a:lstStyle/>
          <a:p>
            <a:fld id="{CB4D3031-0AEB-4687-8E23-04446010D3FF}" type="slidenum">
              <a:rPr lang="en-US" smtClean="0"/>
              <a:t>30</a:t>
            </a:fld>
            <a:endParaRPr lang="en-US"/>
          </a:p>
        </p:txBody>
      </p:sp>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5709</TotalTime>
  <Words>2295</Words>
  <Application>Microsoft Macintosh PowerPoint</Application>
  <PresentationFormat>Widescreen</PresentationFormat>
  <Paragraphs>372</Paragraphs>
  <Slides>30</Slides>
  <Notes>18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Arial</vt:lpstr>
      <vt:lpstr>Calibri</vt:lpstr>
      <vt:lpstr>Century Gothic</vt:lpstr>
      <vt:lpstr>Courier New</vt:lpstr>
      <vt:lpstr>Google Sans</vt:lpstr>
      <vt:lpstr>Google Sans Text</vt:lpstr>
      <vt:lpstr>Times New Roman</vt:lpstr>
      <vt:lpstr>Wingdings 3</vt:lpstr>
      <vt:lpstr>Wisp</vt:lpstr>
      <vt:lpstr>Crime Analysis and Prediction using Machine Learning</vt:lpstr>
      <vt:lpstr>Problem</vt:lpstr>
      <vt:lpstr>Solution (RQs)</vt:lpstr>
      <vt:lpstr>PowerPoint Presentation</vt:lpstr>
      <vt:lpstr>PowerPoint Presentation</vt:lpstr>
      <vt:lpstr>PowerPoint Presentation</vt:lpstr>
      <vt:lpstr>Feature Correlation Heatmap</vt:lpstr>
      <vt:lpstr>Monthly Crime Trend</vt:lpstr>
      <vt:lpstr>Seasonal Crime Pattern</vt:lpstr>
      <vt:lpstr>Top Crime Types</vt:lpstr>
      <vt:lpstr>Outcome Categories</vt:lpstr>
      <vt:lpstr>Crime Reports by Police Force</vt:lpstr>
      <vt:lpstr>Spatial Distribution of Crime</vt:lpstr>
      <vt:lpstr>Hotspot Detection (RQ1)</vt:lpstr>
      <vt:lpstr>KMeans Clustering Results</vt:lpstr>
      <vt:lpstr>DBSCAN Hotspot Detection</vt:lpstr>
      <vt:lpstr>Crime Prediction Models (RQ2)</vt:lpstr>
      <vt:lpstr>Model Performance &amp; Comparison</vt:lpstr>
      <vt:lpstr>Actual vs Predicted</vt:lpstr>
      <vt:lpstr>Overfitting Analysis</vt:lpstr>
      <vt:lpstr>Model Improvement</vt:lpstr>
      <vt:lpstr>Hyperparameter Tuning</vt:lpstr>
      <vt:lpstr>Feature Importance (RQ3)</vt:lpstr>
      <vt:lpstr>SHAP Analysis</vt:lpstr>
      <vt:lpstr>Model Validation</vt:lpstr>
      <vt:lpstr>Function – predictNextMonthCrime</vt:lpstr>
      <vt:lpstr>Real World Example</vt:lpstr>
      <vt:lpstr>Practical Use</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FYP-Defence 1</dc:title>
  <dc:creator>Tabish Nadeem</dc:creator>
  <cp:lastModifiedBy>MUHAMMAD RUSLAN BABAR</cp:lastModifiedBy>
  <cp:revision>615</cp:revision>
  <dcterms:created xsi:type="dcterms:W3CDTF">2023-11-30T05:42:34Z</dcterms:created>
  <dcterms:modified xsi:type="dcterms:W3CDTF">2026-04-29T20:12:40Z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204bc99ef2804537acab07fcc0f84301</vt:lpwstr>
  </property>
</Properties>
</file>