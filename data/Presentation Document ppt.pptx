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7">
  <p:sldMasterIdLst>
    <p:sldMasterId id="2147483648" r:id="rId1"/>
  </p:sldMasterIdLst>
  <p:notesMasterIdLst>
    <p:notesMasterId r:id="rId33"/>
  </p:notesMasterIdLst>
  <p:sldIdLst>
    <p:sldId id="292" r:id="rId2"/>
    <p:sldId id="279" r:id="rId3"/>
    <p:sldId id="327" r:id="rId4"/>
    <p:sldId id="328" r:id="rId5"/>
    <p:sldId id="335" r:id="rId6"/>
    <p:sldId id="342" r:id="rId7"/>
    <p:sldId id="343" r:id="rId8"/>
    <p:sldId id="309" r:id="rId9"/>
    <p:sldId id="348" r:id="rId10"/>
    <p:sldId id="329" r:id="rId11"/>
    <p:sldId id="330" r:id="rId12"/>
    <p:sldId id="344" r:id="rId13"/>
    <p:sldId id="312" r:id="rId14"/>
    <p:sldId id="283" r:id="rId15"/>
    <p:sldId id="336" r:id="rId16"/>
    <p:sldId id="338" r:id="rId17"/>
    <p:sldId id="339" r:id="rId18"/>
    <p:sldId id="337" r:id="rId19"/>
    <p:sldId id="340" r:id="rId20"/>
    <p:sldId id="282" r:id="rId21"/>
    <p:sldId id="290" r:id="rId22"/>
    <p:sldId id="317" r:id="rId23"/>
    <p:sldId id="318" r:id="rId24"/>
    <p:sldId id="333" r:id="rId25"/>
    <p:sldId id="334" r:id="rId26"/>
    <p:sldId id="341" r:id="rId27"/>
    <p:sldId id="347" r:id="rId28"/>
    <p:sldId id="291" r:id="rId29"/>
    <p:sldId id="345" r:id="rId30"/>
    <p:sldId id="346" r:id="rId31"/>
    <p:sldId id="275"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89" autoAdjust="0"/>
    <p:restoredTop sz="85179"/>
  </p:normalViewPr>
  <p:slideViewPr>
    <p:cSldViewPr snapToGrid="0">
      <p:cViewPr>
        <p:scale>
          <a:sx n="91" d="100"/>
          <a:sy n="91" d="100"/>
        </p:scale>
        <p:origin x="1360" y="232"/>
      </p:cViewPr>
      <p:guideLst/>
    </p:cSldViewPr>
  </p:slideViewPr>
  <p:notesTextViewPr>
    <p:cViewPr>
      <p:scale>
        <a:sx n="1" d="1"/>
        <a:sy n="1" d="1"/>
      </p:scale>
      <p:origin x="0" y="-76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50"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751"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752"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753"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4"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755"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extLst>
      <p:ext uri="{BB962C8B-B14F-4D97-AF65-F5344CB8AC3E}">
        <p14:creationId xmlns:p14="http://schemas.microsoft.com/office/powerpoint/2010/main" val="116884078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GB" b="1" i="0" dirty="0">
                <a:solidFill>
                  <a:srgbClr val="E6E8F0"/>
                </a:solidFill>
                <a:effectLst/>
                <a:latin typeface="Google Sans"/>
              </a:rPr>
              <a:t>LSOA: </a:t>
            </a:r>
            <a:r>
              <a:rPr lang="en-GB" b="0" i="0" dirty="0">
                <a:solidFill>
                  <a:srgbClr val="E6E8F0"/>
                </a:solidFill>
                <a:effectLst/>
                <a:latin typeface="Google Sans"/>
              </a:rPr>
              <a:t>Lower Layer Super Output Areas (LSOAs) are </a:t>
            </a:r>
            <a:r>
              <a:rPr lang="en-GB" dirty="0"/>
              <a:t>small, consistent geographic units used in England and Wales for collecting and publishing statistical data</a:t>
            </a:r>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5</a:t>
            </a:fld>
            <a:endParaRPr lang="en-US"/>
          </a:p>
        </p:txBody>
      </p:sp>
    </p:spTree>
    <p:extLst>
      <p:ext uri="{BB962C8B-B14F-4D97-AF65-F5344CB8AC3E}">
        <p14:creationId xmlns:p14="http://schemas.microsoft.com/office/powerpoint/2010/main" val="3700240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GB" b="1" dirty="0"/>
              <a:t>Longitude (X-axis)</a:t>
            </a:r>
          </a:p>
          <a:p>
            <a:pPr>
              <a:buFont typeface="Arial" panose="020B0604020202020204" pitchFamily="34" charset="0"/>
              <a:buChar char="•"/>
            </a:pPr>
            <a:r>
              <a:rPr lang="en-GB" dirty="0"/>
              <a:t>Moves </a:t>
            </a:r>
            <a:r>
              <a:rPr lang="en-GB" b="1" dirty="0"/>
              <a:t>left → west</a:t>
            </a:r>
            <a:r>
              <a:rPr lang="en-GB" dirty="0"/>
              <a:t> </a:t>
            </a:r>
          </a:p>
          <a:p>
            <a:pPr>
              <a:buFont typeface="Arial" panose="020B0604020202020204" pitchFamily="34" charset="0"/>
              <a:buChar char="•"/>
            </a:pPr>
            <a:r>
              <a:rPr lang="en-GB" dirty="0"/>
              <a:t>Moves </a:t>
            </a:r>
            <a:r>
              <a:rPr lang="en-GB" b="1" dirty="0"/>
              <a:t>right → east</a:t>
            </a:r>
            <a:r>
              <a:rPr lang="en-GB" dirty="0"/>
              <a:t> </a:t>
            </a:r>
          </a:p>
          <a:p>
            <a:r>
              <a:rPr lang="en-GB" dirty="0"/>
              <a:t>Examples:</a:t>
            </a:r>
          </a:p>
          <a:p>
            <a:pPr>
              <a:buFont typeface="Arial" panose="020B0604020202020204" pitchFamily="34" charset="0"/>
              <a:buChar char="•"/>
            </a:pPr>
            <a:r>
              <a:rPr lang="en-GB" dirty="0"/>
              <a:t>-5 = far west (like Wales side) </a:t>
            </a:r>
          </a:p>
          <a:p>
            <a:pPr>
              <a:buFont typeface="Arial" panose="020B0604020202020204" pitchFamily="34" charset="0"/>
              <a:buChar char="•"/>
            </a:pPr>
            <a:r>
              <a:rPr lang="en-GB" dirty="0"/>
              <a:t>-2 = central UK (Manchester area) </a:t>
            </a:r>
          </a:p>
          <a:p>
            <a:pPr>
              <a:buFont typeface="Arial" panose="020B0604020202020204" pitchFamily="34" charset="0"/>
              <a:buChar char="•"/>
            </a:pPr>
            <a:r>
              <a:rPr lang="en-GB" dirty="0"/>
              <a:t>0 = east side (London region) </a:t>
            </a:r>
          </a:p>
          <a:p>
            <a:r>
              <a:rPr lang="en-GB" b="1" dirty="0"/>
              <a:t>Latitude (Y-axis)</a:t>
            </a:r>
          </a:p>
          <a:p>
            <a:pPr>
              <a:buFont typeface="Arial" panose="020B0604020202020204" pitchFamily="34" charset="0"/>
              <a:buChar char="•"/>
            </a:pPr>
            <a:r>
              <a:rPr lang="en-GB" dirty="0"/>
              <a:t>Moves </a:t>
            </a:r>
            <a:r>
              <a:rPr lang="en-GB" b="1" dirty="0"/>
              <a:t>down → south</a:t>
            </a:r>
            <a:r>
              <a:rPr lang="en-GB" dirty="0"/>
              <a:t> </a:t>
            </a:r>
          </a:p>
          <a:p>
            <a:pPr>
              <a:buFont typeface="Arial" panose="020B0604020202020204" pitchFamily="34" charset="0"/>
              <a:buChar char="•"/>
            </a:pPr>
            <a:r>
              <a:rPr lang="en-GB" dirty="0"/>
              <a:t>Moves </a:t>
            </a:r>
            <a:r>
              <a:rPr lang="en-GB" b="1" dirty="0"/>
              <a:t>up → north</a:t>
            </a:r>
            <a:r>
              <a:rPr lang="en-GB" dirty="0"/>
              <a:t> </a:t>
            </a:r>
          </a:p>
          <a:p>
            <a:r>
              <a:rPr lang="en-GB" dirty="0"/>
              <a:t>Examples:</a:t>
            </a:r>
          </a:p>
          <a:p>
            <a:pPr>
              <a:buFont typeface="Arial" panose="020B0604020202020204" pitchFamily="34" charset="0"/>
              <a:buChar char="•"/>
            </a:pPr>
            <a:r>
              <a:rPr lang="en-GB" dirty="0"/>
              <a:t>51.5 = London area </a:t>
            </a:r>
          </a:p>
          <a:p>
            <a:pPr>
              <a:buFont typeface="Arial" panose="020B0604020202020204" pitchFamily="34" charset="0"/>
              <a:buChar char="•"/>
            </a:pPr>
            <a:r>
              <a:rPr lang="en-GB" dirty="0"/>
              <a:t>52.5 = Midlands / Manchester </a:t>
            </a:r>
          </a:p>
          <a:p>
            <a:pPr>
              <a:buFont typeface="Arial" panose="020B0604020202020204" pitchFamily="34" charset="0"/>
              <a:buChar char="•"/>
            </a:pPr>
            <a:r>
              <a:rPr lang="en-GB" dirty="0"/>
              <a:t>54+ = northern UK</a:t>
            </a:r>
          </a:p>
          <a:p>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14</a:t>
            </a:fld>
            <a:endParaRPr lang="en-US"/>
          </a:p>
        </p:txBody>
      </p:sp>
    </p:spTree>
    <p:extLst>
      <p:ext uri="{BB962C8B-B14F-4D97-AF65-F5344CB8AC3E}">
        <p14:creationId xmlns:p14="http://schemas.microsoft.com/office/powerpoint/2010/main" val="2721712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GB" b="1" dirty="0"/>
              <a:t>What K-Means does</a:t>
            </a:r>
          </a:p>
          <a:p>
            <a:r>
              <a:rPr lang="en-GB" dirty="0"/>
              <a:t>K-Means:</a:t>
            </a:r>
          </a:p>
          <a:p>
            <a:pPr>
              <a:buFont typeface="Arial" panose="020B0604020202020204" pitchFamily="34" charset="0"/>
              <a:buChar char="•"/>
            </a:pPr>
            <a:r>
              <a:rPr lang="en-GB" dirty="0"/>
              <a:t>Divides data into </a:t>
            </a:r>
            <a:r>
              <a:rPr lang="en-GB" b="1" dirty="0"/>
              <a:t>K fixed clusters</a:t>
            </a:r>
            <a:r>
              <a:rPr lang="en-GB" dirty="0"/>
              <a:t> </a:t>
            </a:r>
          </a:p>
          <a:p>
            <a:pPr>
              <a:buFont typeface="Arial" panose="020B0604020202020204" pitchFamily="34" charset="0"/>
              <a:buChar char="•"/>
            </a:pPr>
            <a:r>
              <a:rPr lang="en-GB" b="1" dirty="0"/>
              <a:t>Each cluster has a </a:t>
            </a:r>
            <a:r>
              <a:rPr lang="en-GB" b="1" dirty="0" err="1"/>
              <a:t>center</a:t>
            </a:r>
            <a:r>
              <a:rPr lang="en-GB" b="1" dirty="0"/>
              <a:t> (</a:t>
            </a:r>
            <a:r>
              <a:rPr lang="en-GB" b="1" i="1" dirty="0"/>
              <a:t>centroid</a:t>
            </a:r>
            <a:r>
              <a:rPr lang="en-GB" b="1" dirty="0"/>
              <a:t>) </a:t>
            </a:r>
          </a:p>
          <a:p>
            <a:pPr>
              <a:buFont typeface="Arial" panose="020B0604020202020204" pitchFamily="34" charset="0"/>
              <a:buChar char="•"/>
            </a:pPr>
            <a:r>
              <a:rPr lang="en-GB" dirty="0"/>
              <a:t>Points are assigned to the nearest </a:t>
            </a:r>
            <a:r>
              <a:rPr lang="en-GB" dirty="0" err="1"/>
              <a:t>center</a:t>
            </a:r>
            <a:r>
              <a:rPr lang="en-GB" dirty="0"/>
              <a:t> </a:t>
            </a:r>
          </a:p>
          <a:p>
            <a:r>
              <a:rPr lang="en-GB" b="1" dirty="0"/>
              <a:t>Key assumption:</a:t>
            </a:r>
          </a:p>
          <a:p>
            <a:r>
              <a:rPr lang="en-GB" dirty="0"/>
              <a:t>Clusters are:</a:t>
            </a:r>
          </a:p>
          <a:p>
            <a:pPr>
              <a:buFont typeface="Arial" panose="020B0604020202020204" pitchFamily="34" charset="0"/>
              <a:buChar char="•"/>
            </a:pPr>
            <a:r>
              <a:rPr lang="en-GB" dirty="0"/>
              <a:t>Circular </a:t>
            </a:r>
          </a:p>
          <a:p>
            <a:pPr>
              <a:buFont typeface="Arial" panose="020B0604020202020204" pitchFamily="34" charset="0"/>
              <a:buChar char="•"/>
            </a:pPr>
            <a:r>
              <a:rPr lang="en-GB" dirty="0"/>
              <a:t>Similar size </a:t>
            </a:r>
          </a:p>
          <a:p>
            <a:pPr>
              <a:buFont typeface="Arial" panose="020B0604020202020204" pitchFamily="34" charset="0"/>
              <a:buChar char="•"/>
            </a:pPr>
            <a:r>
              <a:rPr lang="en-GB" dirty="0"/>
              <a:t>Evenly distributed</a:t>
            </a:r>
          </a:p>
          <a:p>
            <a:endParaRPr lang="en-PK" dirty="0"/>
          </a:p>
          <a:p>
            <a:endParaRPr lang="en-PK" dirty="0"/>
          </a:p>
          <a:p>
            <a:r>
              <a:rPr lang="en-GB" b="1" dirty="0"/>
              <a:t>What DBSCAN does</a:t>
            </a:r>
          </a:p>
          <a:p>
            <a:r>
              <a:rPr lang="en-GB" dirty="0"/>
              <a:t>DBSCAN groups points based on </a:t>
            </a:r>
            <a:r>
              <a:rPr lang="en-GB" b="1" dirty="0"/>
              <a:t>density</a:t>
            </a:r>
            <a:r>
              <a:rPr lang="en-GB" dirty="0"/>
              <a:t>, not distance to a </a:t>
            </a:r>
            <a:r>
              <a:rPr lang="en-GB" dirty="0" err="1"/>
              <a:t>center</a:t>
            </a:r>
            <a:r>
              <a:rPr lang="en-GB" dirty="0"/>
              <a:t>.</a:t>
            </a:r>
          </a:p>
          <a:p>
            <a:r>
              <a:rPr lang="en-GB" dirty="0"/>
              <a:t>It uses two main ideas:</a:t>
            </a:r>
          </a:p>
          <a:p>
            <a:pPr>
              <a:buFont typeface="Arial" panose="020B0604020202020204" pitchFamily="34" charset="0"/>
              <a:buChar char="•"/>
            </a:pPr>
            <a:r>
              <a:rPr lang="en-GB" dirty="0"/>
              <a:t> Points close together → cluster </a:t>
            </a:r>
          </a:p>
          <a:p>
            <a:pPr>
              <a:buFont typeface="Arial" panose="020B0604020202020204" pitchFamily="34" charset="0"/>
              <a:buChar char="•"/>
            </a:pPr>
            <a:r>
              <a:rPr lang="en-GB" dirty="0"/>
              <a:t> Sparse points → noise</a:t>
            </a:r>
          </a:p>
          <a:p>
            <a:endParaRPr lang="en-PK" dirty="0"/>
          </a:p>
          <a:p>
            <a:endParaRPr lang="en-PK" dirty="0"/>
          </a:p>
          <a:p>
            <a:r>
              <a:rPr lang="en-PK" dirty="0"/>
              <a:t>Silhouette Score: Goodness of clustering.</a:t>
            </a:r>
          </a:p>
        </p:txBody>
      </p:sp>
      <p:sp>
        <p:nvSpPr>
          <p:cNvPr id="4" name="Slide Number Placeholder 3"/>
          <p:cNvSpPr>
            <a:spLocks noGrp="1"/>
          </p:cNvSpPr>
          <p:nvPr>
            <p:ph type="sldNum" sz="quarter" idx="5"/>
          </p:nvPr>
        </p:nvSpPr>
        <p:spPr/>
        <p:txBody>
          <a:bodyPr/>
          <a:lstStyle/>
          <a:p>
            <a:fld id="{A9A0EA98-5831-4853-B862-C702E6EB345C}" type="slidenum">
              <a:rPr lang="en-US" smtClean="0"/>
              <a:t>15</a:t>
            </a:fld>
            <a:endParaRPr lang="en-US"/>
          </a:p>
        </p:txBody>
      </p:sp>
    </p:spTree>
    <p:extLst>
      <p:ext uri="{BB962C8B-B14F-4D97-AF65-F5344CB8AC3E}">
        <p14:creationId xmlns:p14="http://schemas.microsoft.com/office/powerpoint/2010/main" val="3338981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GB" b="1" dirty="0"/>
              <a:t>Strengths</a:t>
            </a:r>
          </a:p>
          <a:p>
            <a:pPr>
              <a:buFont typeface="Arial" panose="020B0604020202020204" pitchFamily="34" charset="0"/>
              <a:buChar char="•"/>
            </a:pPr>
            <a:r>
              <a:rPr lang="en-GB" dirty="0"/>
              <a:t>Simple and easy to understand </a:t>
            </a:r>
          </a:p>
          <a:p>
            <a:pPr>
              <a:buFont typeface="Arial" panose="020B0604020202020204" pitchFamily="34" charset="0"/>
              <a:buChar char="•"/>
            </a:pPr>
            <a:r>
              <a:rPr lang="en-GB" dirty="0"/>
              <a:t>Fast </a:t>
            </a:r>
          </a:p>
          <a:p>
            <a:pPr>
              <a:buFont typeface="Arial" panose="020B0604020202020204" pitchFamily="34" charset="0"/>
              <a:buChar char="•"/>
            </a:pPr>
            <a:r>
              <a:rPr lang="en-GB" dirty="0"/>
              <a:t>Good baseline model </a:t>
            </a:r>
          </a:p>
          <a:p>
            <a:r>
              <a:rPr lang="en-GB" b="1" dirty="0"/>
              <a:t>Weaknesses (important)</a:t>
            </a:r>
          </a:p>
          <a:p>
            <a:pPr>
              <a:buFont typeface="Arial" panose="020B0604020202020204" pitchFamily="34" charset="0"/>
              <a:buChar char="•"/>
            </a:pPr>
            <a:r>
              <a:rPr lang="en-GB" dirty="0"/>
              <a:t>Cannot capture complex patterns </a:t>
            </a:r>
          </a:p>
          <a:p>
            <a:pPr>
              <a:buFont typeface="Arial" panose="020B0604020202020204" pitchFamily="34" charset="0"/>
              <a:buChar char="•"/>
            </a:pPr>
            <a:r>
              <a:rPr lang="en-GB" dirty="0"/>
              <a:t>Struggles with: </a:t>
            </a:r>
          </a:p>
          <a:p>
            <a:pPr marL="742950" lvl="1" indent="-285750">
              <a:buFont typeface="Arial" panose="020B0604020202020204" pitchFamily="34" charset="0"/>
              <a:buChar char="•"/>
            </a:pPr>
            <a:r>
              <a:rPr lang="en-GB" dirty="0"/>
              <a:t>Non-linear data </a:t>
            </a:r>
          </a:p>
          <a:p>
            <a:pPr marL="742950" lvl="1" indent="-285750">
              <a:buFont typeface="Arial" panose="020B0604020202020204" pitchFamily="34" charset="0"/>
              <a:buChar char="•"/>
            </a:pPr>
            <a:r>
              <a:rPr lang="en-GB" dirty="0"/>
              <a:t>Interactions between features </a:t>
            </a:r>
          </a:p>
          <a:p>
            <a:pPr>
              <a:buFont typeface="Arial" panose="020B0604020202020204" pitchFamily="34" charset="0"/>
              <a:buChar char="•"/>
            </a:pPr>
            <a:r>
              <a:rPr lang="en-GB" dirty="0"/>
              <a:t>Sensitive to multicollinearity (you saw this in heatmap)</a:t>
            </a:r>
          </a:p>
          <a:p>
            <a:endParaRPr lang="en-PK"/>
          </a:p>
          <a:p>
            <a:endParaRPr lang="en-GB" b="1" dirty="0"/>
          </a:p>
          <a:p>
            <a:r>
              <a:rPr lang="en-GB" b="1" dirty="0"/>
              <a:t>What it does</a:t>
            </a:r>
          </a:p>
          <a:p>
            <a:r>
              <a:rPr lang="en-GB" dirty="0"/>
              <a:t>Random Forest is:</a:t>
            </a:r>
          </a:p>
          <a:p>
            <a:r>
              <a:rPr lang="en-GB" dirty="0"/>
              <a:t>A collection of many decision trees</a:t>
            </a:r>
          </a:p>
          <a:p>
            <a:r>
              <a:rPr lang="en-GB" dirty="0"/>
              <a:t>Each tree:</a:t>
            </a:r>
          </a:p>
          <a:p>
            <a:pPr>
              <a:buFont typeface="Arial" panose="020B0604020202020204" pitchFamily="34" charset="0"/>
              <a:buChar char="•"/>
            </a:pPr>
            <a:r>
              <a:rPr lang="en-GB" dirty="0"/>
              <a:t>Makes a prediction </a:t>
            </a:r>
          </a:p>
          <a:p>
            <a:pPr>
              <a:buFont typeface="Arial" panose="020B0604020202020204" pitchFamily="34" charset="0"/>
              <a:buChar char="•"/>
            </a:pPr>
            <a:r>
              <a:rPr lang="en-GB" dirty="0"/>
              <a:t>Final result = average of all trees </a:t>
            </a:r>
          </a:p>
          <a:p>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18</a:t>
            </a:fld>
            <a:endParaRPr lang="en-US"/>
          </a:p>
        </p:txBody>
      </p:sp>
    </p:spTree>
    <p:extLst>
      <p:ext uri="{BB962C8B-B14F-4D97-AF65-F5344CB8AC3E}">
        <p14:creationId xmlns:p14="http://schemas.microsoft.com/office/powerpoint/2010/main" val="1419939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19</a:t>
            </a:fld>
            <a:endParaRPr lang="en-US"/>
          </a:p>
        </p:txBody>
      </p:sp>
    </p:spTree>
    <p:extLst>
      <p:ext uri="{BB962C8B-B14F-4D97-AF65-F5344CB8AC3E}">
        <p14:creationId xmlns:p14="http://schemas.microsoft.com/office/powerpoint/2010/main" val="1110769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06"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1048607"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48608" name="Date Placeholder 3"/>
          <p:cNvSpPr>
            <a:spLocks noGrp="1"/>
          </p:cNvSpPr>
          <p:nvPr>
            <p:ph type="dt" sz="half" idx="10"/>
          </p:nvPr>
        </p:nvSpPr>
        <p:spPr/>
        <p:txBody>
          <a:bodyPr/>
          <a:lstStyle/>
          <a:p>
            <a:fld id="{3D6AE9DE-14C1-42EC-89CF-CB898A150C53}" type="datetime1">
              <a:rPr lang="en-US" smtClean="0"/>
              <a:t>4/16/26</a:t>
            </a:fld>
            <a:endParaRPr lang="en-US"/>
          </a:p>
        </p:txBody>
      </p:sp>
      <p:sp>
        <p:nvSpPr>
          <p:cNvPr id="1048609" name="Footer Placeholder 4"/>
          <p:cNvSpPr>
            <a:spLocks noGrp="1"/>
          </p:cNvSpPr>
          <p:nvPr>
            <p:ph type="ftr" sz="quarter" idx="11"/>
          </p:nvPr>
        </p:nvSpPr>
        <p:spPr/>
        <p:txBody>
          <a:bodyPr/>
          <a:lstStyle/>
          <a:p>
            <a:r>
              <a:rPr lang="en-US"/>
              <a:t>FYP-Defence</a:t>
            </a:r>
          </a:p>
        </p:txBody>
      </p:sp>
      <p:sp>
        <p:nvSpPr>
          <p:cNvPr id="1048610"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1048611" name="Slide Number Placeholder 5"/>
          <p:cNvSpPr>
            <a:spLocks noGrp="1"/>
          </p:cNvSpPr>
          <p:nvPr>
            <p:ph type="sldNum" sz="quarter" idx="12"/>
          </p:nvPr>
        </p:nvSpPr>
        <p:spPr>
          <a:xfrm>
            <a:off x="531812" y="4529540"/>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17"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1048618"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19" name="Date Placeholder 3"/>
          <p:cNvSpPr>
            <a:spLocks noGrp="1"/>
          </p:cNvSpPr>
          <p:nvPr>
            <p:ph type="dt" sz="half" idx="10"/>
          </p:nvPr>
        </p:nvSpPr>
        <p:spPr/>
        <p:txBody>
          <a:bodyPr/>
          <a:lstStyle/>
          <a:p>
            <a:fld id="{57AE3903-2F96-43E5-B3FD-F3D7F89C074D}" type="datetime1">
              <a:rPr lang="en-US" smtClean="0"/>
              <a:t>4/16/26</a:t>
            </a:fld>
            <a:endParaRPr lang="en-US"/>
          </a:p>
        </p:txBody>
      </p:sp>
      <p:sp>
        <p:nvSpPr>
          <p:cNvPr id="1048620" name="Footer Placeholder 4"/>
          <p:cNvSpPr>
            <a:spLocks noGrp="1"/>
          </p:cNvSpPr>
          <p:nvPr>
            <p:ph type="ftr" sz="quarter" idx="11"/>
          </p:nvPr>
        </p:nvSpPr>
        <p:spPr/>
        <p:txBody>
          <a:bodyPr/>
          <a:lstStyle/>
          <a:p>
            <a:r>
              <a:rPr lang="en-US"/>
              <a:t>FYP-Defence</a:t>
            </a:r>
          </a:p>
        </p:txBody>
      </p:sp>
      <p:sp>
        <p:nvSpPr>
          <p:cNvPr id="1048621"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PK"/>
          </a:p>
        </p:txBody>
      </p:sp>
      <p:sp>
        <p:nvSpPr>
          <p:cNvPr id="1048622" name="Slide Number Placeholder 5"/>
          <p:cNvSpPr>
            <a:spLocks noGrp="1"/>
          </p:cNvSpPr>
          <p:nvPr>
            <p:ph type="sldNum" sz="quarter" idx="12"/>
          </p:nvPr>
        </p:nvSpPr>
        <p:spPr/>
        <p:txBody>
          <a:bodyPr/>
          <a:lstStyle/>
          <a:p>
            <a:fld id="{CB4D3031-0AEB-4687-8E23-04446010D3F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9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104869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94" name="Date Placeholder 3"/>
          <p:cNvSpPr>
            <a:spLocks noGrp="1"/>
          </p:cNvSpPr>
          <p:nvPr>
            <p:ph type="dt" sz="half" idx="10"/>
          </p:nvPr>
        </p:nvSpPr>
        <p:spPr/>
        <p:txBody>
          <a:bodyPr/>
          <a:lstStyle/>
          <a:p>
            <a:fld id="{C02B9BB9-46B6-4775-AE31-DA327B45056F}" type="datetime1">
              <a:rPr lang="en-US" smtClean="0"/>
              <a:t>4/16/26</a:t>
            </a:fld>
            <a:endParaRPr lang="en-US"/>
          </a:p>
        </p:txBody>
      </p:sp>
      <p:sp>
        <p:nvSpPr>
          <p:cNvPr id="1048695" name="Footer Placeholder 4"/>
          <p:cNvSpPr>
            <a:spLocks noGrp="1"/>
          </p:cNvSpPr>
          <p:nvPr>
            <p:ph type="ftr" sz="quarter" idx="11"/>
          </p:nvPr>
        </p:nvSpPr>
        <p:spPr/>
        <p:txBody>
          <a:bodyPr/>
          <a:lstStyle/>
          <a:p>
            <a:r>
              <a:rPr lang="en-US"/>
              <a:t>FYP-Defence</a:t>
            </a:r>
          </a:p>
        </p:txBody>
      </p:sp>
      <p:sp>
        <p:nvSpPr>
          <p:cNvPr id="1048696"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97" name="Slide Number Placeholder 5"/>
          <p:cNvSpPr>
            <a:spLocks noGrp="1"/>
          </p:cNvSpPr>
          <p:nvPr>
            <p:ph type="sldNum" sz="quarter" idx="12"/>
          </p:nvPr>
        </p:nvSpPr>
        <p:spPr>
          <a:xfrm>
            <a:off x="531812" y="3244139"/>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3" name="Title 7"/>
          <p:cNvSpPr>
            <a:spLocks noGrp="1"/>
          </p:cNvSpPr>
          <p:nvPr>
            <p:ph type="title"/>
          </p:nvPr>
        </p:nvSpPr>
        <p:spPr/>
        <p:txBody>
          <a:bodyPr/>
          <a:lstStyle/>
          <a:p>
            <a:r>
              <a:rPr lang="en-US"/>
              <a:t>Click to edit Master title style</a:t>
            </a:r>
            <a:endParaRPr lang="en-US" dirty="0"/>
          </a:p>
        </p:txBody>
      </p:sp>
      <p:sp>
        <p:nvSpPr>
          <p:cNvPr id="1048724"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25"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26" name="Date Placeholder 4"/>
          <p:cNvSpPr>
            <a:spLocks noGrp="1"/>
          </p:cNvSpPr>
          <p:nvPr>
            <p:ph type="dt" sz="half" idx="10"/>
          </p:nvPr>
        </p:nvSpPr>
        <p:spPr/>
        <p:txBody>
          <a:bodyPr/>
          <a:lstStyle/>
          <a:p>
            <a:fld id="{50CA13ED-6BF8-4D10-B877-346C758DCD3A}" type="datetime1">
              <a:rPr lang="en-US" smtClean="0"/>
              <a:t>4/16/26</a:t>
            </a:fld>
            <a:endParaRPr lang="en-US"/>
          </a:p>
        </p:txBody>
      </p:sp>
      <p:sp>
        <p:nvSpPr>
          <p:cNvPr id="1048727" name="Footer Placeholder 5"/>
          <p:cNvSpPr>
            <a:spLocks noGrp="1"/>
          </p:cNvSpPr>
          <p:nvPr>
            <p:ph type="ftr" sz="quarter" idx="11"/>
          </p:nvPr>
        </p:nvSpPr>
        <p:spPr/>
        <p:txBody>
          <a:bodyPr/>
          <a:lstStyle/>
          <a:p>
            <a:r>
              <a:rPr lang="en-US"/>
              <a:t>FYP-Defence</a:t>
            </a:r>
          </a:p>
        </p:txBody>
      </p:sp>
      <p:sp>
        <p:nvSpPr>
          <p:cNvPr id="104872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29" name="Slide Number Placeholder 5"/>
          <p:cNvSpPr>
            <a:spLocks noGrp="1"/>
          </p:cNvSpPr>
          <p:nvPr>
            <p:ph type="sldNum" sz="quarter" idx="12"/>
          </p:nvPr>
        </p:nvSpPr>
        <p:spPr>
          <a:xfrm>
            <a:off x="531812" y="787782"/>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98" name="Title 9"/>
          <p:cNvSpPr>
            <a:spLocks noGrp="1"/>
          </p:cNvSpPr>
          <p:nvPr>
            <p:ph type="title"/>
          </p:nvPr>
        </p:nvSpPr>
        <p:spPr/>
        <p:txBody>
          <a:bodyPr/>
          <a:lstStyle/>
          <a:p>
            <a:r>
              <a:rPr lang="en-US"/>
              <a:t>Click to edit Master title style</a:t>
            </a:r>
            <a:endParaRPr lang="en-US" dirty="0"/>
          </a:p>
        </p:txBody>
      </p:sp>
      <p:sp>
        <p:nvSpPr>
          <p:cNvPr id="1048699"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00"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01"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02"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03" name="Date Placeholder 6"/>
          <p:cNvSpPr>
            <a:spLocks noGrp="1"/>
          </p:cNvSpPr>
          <p:nvPr>
            <p:ph type="dt" sz="half" idx="10"/>
          </p:nvPr>
        </p:nvSpPr>
        <p:spPr/>
        <p:txBody>
          <a:bodyPr/>
          <a:lstStyle/>
          <a:p>
            <a:fld id="{D9817360-F361-4993-BBE6-4A9D23B8696F}" type="datetime1">
              <a:rPr lang="en-US" smtClean="0"/>
              <a:t>4/16/26</a:t>
            </a:fld>
            <a:endParaRPr lang="en-US"/>
          </a:p>
        </p:txBody>
      </p:sp>
      <p:sp>
        <p:nvSpPr>
          <p:cNvPr id="1048704" name="Footer Placeholder 7"/>
          <p:cNvSpPr>
            <a:spLocks noGrp="1"/>
          </p:cNvSpPr>
          <p:nvPr>
            <p:ph type="ftr" sz="quarter" idx="11"/>
          </p:nvPr>
        </p:nvSpPr>
        <p:spPr/>
        <p:txBody>
          <a:bodyPr/>
          <a:lstStyle/>
          <a:p>
            <a:r>
              <a:rPr lang="en-US"/>
              <a:t>FYP-Defence</a:t>
            </a:r>
          </a:p>
        </p:txBody>
      </p:sp>
      <p:sp>
        <p:nvSpPr>
          <p:cNvPr id="1048705"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06" name="Slide Number Placeholder 5"/>
          <p:cNvSpPr>
            <a:spLocks noGrp="1"/>
          </p:cNvSpPr>
          <p:nvPr>
            <p:ph type="sldNum" sz="quarter" idx="12"/>
          </p:nvPr>
        </p:nvSpPr>
        <p:spPr>
          <a:xfrm>
            <a:off x="531812" y="787782"/>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56" name="Title 1"/>
          <p:cNvSpPr>
            <a:spLocks noGrp="1"/>
          </p:cNvSpPr>
          <p:nvPr>
            <p:ph type="title"/>
          </p:nvPr>
        </p:nvSpPr>
        <p:spPr/>
        <p:txBody>
          <a:bodyPr/>
          <a:lstStyle/>
          <a:p>
            <a:r>
              <a:rPr lang="en-US"/>
              <a:t>Click to edit Master title style</a:t>
            </a:r>
            <a:endParaRPr lang="en-US" dirty="0"/>
          </a:p>
        </p:txBody>
      </p:sp>
      <p:sp>
        <p:nvSpPr>
          <p:cNvPr id="1048657" name="Date Placeholder 2"/>
          <p:cNvSpPr>
            <a:spLocks noGrp="1"/>
          </p:cNvSpPr>
          <p:nvPr>
            <p:ph type="dt" sz="half" idx="10"/>
          </p:nvPr>
        </p:nvSpPr>
        <p:spPr/>
        <p:txBody>
          <a:bodyPr/>
          <a:lstStyle/>
          <a:p>
            <a:fld id="{868EECFF-6E5F-4144-B1A7-5F715C8B017C}" type="datetime1">
              <a:rPr lang="en-US" smtClean="0"/>
              <a:t>4/16/26</a:t>
            </a:fld>
            <a:endParaRPr lang="en-US"/>
          </a:p>
        </p:txBody>
      </p:sp>
      <p:sp>
        <p:nvSpPr>
          <p:cNvPr id="1048658" name="Footer Placeholder 3"/>
          <p:cNvSpPr>
            <a:spLocks noGrp="1"/>
          </p:cNvSpPr>
          <p:nvPr>
            <p:ph type="ftr" sz="quarter" idx="11"/>
          </p:nvPr>
        </p:nvSpPr>
        <p:spPr/>
        <p:txBody>
          <a:bodyPr/>
          <a:lstStyle/>
          <a:p>
            <a:r>
              <a:rPr lang="en-US"/>
              <a:t>FYP-Defence</a:t>
            </a:r>
          </a:p>
        </p:txBody>
      </p:sp>
      <p:sp>
        <p:nvSpPr>
          <p:cNvPr id="104865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60" name="Slide Number Placeholder 4"/>
          <p:cNvSpPr>
            <a:spLocks noGrp="1"/>
          </p:cNvSpPr>
          <p:nvPr>
            <p:ph type="sldNum" sz="quarter" idx="12"/>
          </p:nvPr>
        </p:nvSpPr>
        <p:spPr/>
        <p:txBody>
          <a:bodyPr/>
          <a:lstStyle/>
          <a:p>
            <a:fld id="{CB4D3031-0AEB-4687-8E23-04446010D3F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07" name="Date Placeholder 1"/>
          <p:cNvSpPr>
            <a:spLocks noGrp="1"/>
          </p:cNvSpPr>
          <p:nvPr>
            <p:ph type="dt" sz="half" idx="10"/>
          </p:nvPr>
        </p:nvSpPr>
        <p:spPr/>
        <p:txBody>
          <a:bodyPr/>
          <a:lstStyle/>
          <a:p>
            <a:fld id="{94E2C67B-2D48-4378-BE5B-AFE93FBEE3F7}" type="datetime1">
              <a:rPr lang="en-US" smtClean="0"/>
              <a:t>4/16/26</a:t>
            </a:fld>
            <a:endParaRPr lang="en-US"/>
          </a:p>
        </p:txBody>
      </p:sp>
      <p:sp>
        <p:nvSpPr>
          <p:cNvPr id="1048708" name="Footer Placeholder 2"/>
          <p:cNvSpPr>
            <a:spLocks noGrp="1"/>
          </p:cNvSpPr>
          <p:nvPr>
            <p:ph type="ftr" sz="quarter" idx="11"/>
          </p:nvPr>
        </p:nvSpPr>
        <p:spPr/>
        <p:txBody>
          <a:bodyPr/>
          <a:lstStyle/>
          <a:p>
            <a:r>
              <a:rPr lang="en-US"/>
              <a:t>FYP-Defence</a:t>
            </a:r>
          </a:p>
        </p:txBody>
      </p:sp>
      <p:sp>
        <p:nvSpPr>
          <p:cNvPr id="104870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10" name="Slide Number Placeholder 3"/>
          <p:cNvSpPr>
            <a:spLocks noGrp="1"/>
          </p:cNvSpPr>
          <p:nvPr>
            <p:ph type="sldNum" sz="quarter" idx="12"/>
          </p:nvPr>
        </p:nvSpPr>
        <p:spPr/>
        <p:txBody>
          <a:bodyPr/>
          <a:lstStyle/>
          <a:p>
            <a:fld id="{CB4D3031-0AEB-4687-8E23-04446010D3F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7"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1048738"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39"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40" name="Date Placeholder 4"/>
          <p:cNvSpPr>
            <a:spLocks noGrp="1"/>
          </p:cNvSpPr>
          <p:nvPr>
            <p:ph type="dt" sz="half" idx="10"/>
          </p:nvPr>
        </p:nvSpPr>
        <p:spPr/>
        <p:txBody>
          <a:bodyPr/>
          <a:lstStyle/>
          <a:p>
            <a:fld id="{73DCF2FD-A8F1-4D60-90F2-0DDC7378D159}" type="datetime1">
              <a:rPr lang="en-US" smtClean="0"/>
              <a:t>4/16/26</a:t>
            </a:fld>
            <a:endParaRPr lang="en-US"/>
          </a:p>
        </p:txBody>
      </p:sp>
      <p:sp>
        <p:nvSpPr>
          <p:cNvPr id="1048741" name="Footer Placeholder 5"/>
          <p:cNvSpPr>
            <a:spLocks noGrp="1"/>
          </p:cNvSpPr>
          <p:nvPr>
            <p:ph type="ftr" sz="quarter" idx="11"/>
          </p:nvPr>
        </p:nvSpPr>
        <p:spPr/>
        <p:txBody>
          <a:bodyPr/>
          <a:lstStyle/>
          <a:p>
            <a:r>
              <a:rPr lang="en-US"/>
              <a:t>FYP-Defence</a:t>
            </a:r>
          </a:p>
        </p:txBody>
      </p:sp>
      <p:sp>
        <p:nvSpPr>
          <p:cNvPr id="104874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43" name="Slide Number Placeholder 6"/>
          <p:cNvSpPr>
            <a:spLocks noGrp="1"/>
          </p:cNvSpPr>
          <p:nvPr>
            <p:ph type="sldNum" sz="quarter" idx="12"/>
          </p:nvPr>
        </p:nvSpPr>
        <p:spPr/>
        <p:txBody>
          <a:bodyPr/>
          <a:lstStyle/>
          <a:p>
            <a:fld id="{CB4D3031-0AEB-4687-8E23-04446010D3F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79"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1048680"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048681"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82" name="Date Placeholder 4"/>
          <p:cNvSpPr>
            <a:spLocks noGrp="1"/>
          </p:cNvSpPr>
          <p:nvPr>
            <p:ph type="dt" sz="half" idx="10"/>
          </p:nvPr>
        </p:nvSpPr>
        <p:spPr/>
        <p:txBody>
          <a:bodyPr/>
          <a:lstStyle/>
          <a:p>
            <a:fld id="{08167FE4-9878-4871-AC11-DACD246D7D40}" type="datetime1">
              <a:rPr lang="en-US" smtClean="0"/>
              <a:t>4/16/26</a:t>
            </a:fld>
            <a:endParaRPr lang="en-US"/>
          </a:p>
        </p:txBody>
      </p:sp>
      <p:sp>
        <p:nvSpPr>
          <p:cNvPr id="1048683" name="Footer Placeholder 5"/>
          <p:cNvSpPr>
            <a:spLocks noGrp="1"/>
          </p:cNvSpPr>
          <p:nvPr>
            <p:ph type="ftr" sz="quarter" idx="11"/>
          </p:nvPr>
        </p:nvSpPr>
        <p:spPr/>
        <p:txBody>
          <a:bodyPr/>
          <a:lstStyle/>
          <a:p>
            <a:r>
              <a:rPr lang="en-US"/>
              <a:t>FYP-Defence</a:t>
            </a:r>
          </a:p>
        </p:txBody>
      </p:sp>
      <p:sp>
        <p:nvSpPr>
          <p:cNvPr id="1048684"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85" name="Slide Number Placeholder 6"/>
          <p:cNvSpPr>
            <a:spLocks noGrp="1"/>
          </p:cNvSpPr>
          <p:nvPr>
            <p:ph type="sldNum" sz="quarter" idx="12"/>
          </p:nvPr>
        </p:nvSpPr>
        <p:spPr>
          <a:xfrm>
            <a:off x="531812" y="4983087"/>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1048717"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1048718"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19" name="Date Placeholder 3"/>
          <p:cNvSpPr>
            <a:spLocks noGrp="1"/>
          </p:cNvSpPr>
          <p:nvPr>
            <p:ph type="dt" sz="half" idx="10"/>
          </p:nvPr>
        </p:nvSpPr>
        <p:spPr/>
        <p:txBody>
          <a:bodyPr/>
          <a:lstStyle/>
          <a:p>
            <a:fld id="{D81304C3-B8E3-446C-91D8-4B24F523B1EE}" type="datetime1">
              <a:rPr lang="en-US" smtClean="0"/>
              <a:t>4/16/26</a:t>
            </a:fld>
            <a:endParaRPr lang="en-US"/>
          </a:p>
        </p:txBody>
      </p:sp>
      <p:sp>
        <p:nvSpPr>
          <p:cNvPr id="1048720" name="Footer Placeholder 4"/>
          <p:cNvSpPr>
            <a:spLocks noGrp="1"/>
          </p:cNvSpPr>
          <p:nvPr>
            <p:ph type="ftr" sz="quarter" idx="11"/>
          </p:nvPr>
        </p:nvSpPr>
        <p:spPr/>
        <p:txBody>
          <a:bodyPr/>
          <a:lstStyle/>
          <a:p>
            <a:r>
              <a:rPr lang="en-US"/>
              <a:t>FYP-Defence</a:t>
            </a:r>
          </a:p>
        </p:txBody>
      </p:sp>
      <p:sp>
        <p:nvSpPr>
          <p:cNvPr id="104872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22" name="Slide Number Placeholder 5"/>
          <p:cNvSpPr>
            <a:spLocks noGrp="1"/>
          </p:cNvSpPr>
          <p:nvPr>
            <p:ph type="sldNum" sz="quarter" idx="12"/>
          </p:nvPr>
        </p:nvSpPr>
        <p:spPr>
          <a:xfrm>
            <a:off x="531812" y="3244139"/>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048670"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048671"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lvl2pPr>
            <a:lvl3pPr marL="914400" indent="0">
              <a:buFontTx/>
              <a:buNone/>
            </a:lvl3pPr>
            <a:lvl4pPr marL="1371600" indent="0">
              <a:buFontTx/>
              <a:buNone/>
            </a:lvl4pPr>
            <a:lvl5pPr marL="1828800" indent="0">
              <a:buFontTx/>
              <a:buNone/>
            </a:lvl5pPr>
          </a:lstStyle>
          <a:p>
            <a:pPr lvl="0"/>
            <a:r>
              <a:rPr lang="en-US"/>
              <a:t>Click to edit Master text styles</a:t>
            </a:r>
          </a:p>
        </p:txBody>
      </p:sp>
      <p:sp>
        <p:nvSpPr>
          <p:cNvPr id="1048672"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73" name="Date Placeholder 3"/>
          <p:cNvSpPr>
            <a:spLocks noGrp="1"/>
          </p:cNvSpPr>
          <p:nvPr>
            <p:ph type="dt" sz="half" idx="10"/>
          </p:nvPr>
        </p:nvSpPr>
        <p:spPr/>
        <p:txBody>
          <a:bodyPr/>
          <a:lstStyle/>
          <a:p>
            <a:fld id="{1C0554CE-59EF-4699-AE39-6FFD206A32FA}" type="datetime1">
              <a:rPr lang="en-US" smtClean="0"/>
              <a:t>4/16/26</a:t>
            </a:fld>
            <a:endParaRPr lang="en-US"/>
          </a:p>
        </p:txBody>
      </p:sp>
      <p:sp>
        <p:nvSpPr>
          <p:cNvPr id="1048674" name="Footer Placeholder 4"/>
          <p:cNvSpPr>
            <a:spLocks noGrp="1"/>
          </p:cNvSpPr>
          <p:nvPr>
            <p:ph type="ftr" sz="quarter" idx="11"/>
          </p:nvPr>
        </p:nvSpPr>
        <p:spPr/>
        <p:txBody>
          <a:bodyPr/>
          <a:lstStyle/>
          <a:p>
            <a:r>
              <a:rPr lang="en-US"/>
              <a:t>FYP-Defence</a:t>
            </a:r>
          </a:p>
        </p:txBody>
      </p:sp>
      <p:sp>
        <p:nvSpPr>
          <p:cNvPr id="1048675"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76" name="Slide Number Placeholder 5"/>
          <p:cNvSpPr>
            <a:spLocks noGrp="1"/>
          </p:cNvSpPr>
          <p:nvPr>
            <p:ph type="sldNum" sz="quarter" idx="12"/>
          </p:nvPr>
        </p:nvSpPr>
        <p:spPr>
          <a:xfrm>
            <a:off x="531812" y="3244139"/>
            <a:ext cx="779767" cy="365125"/>
          </a:xfrm>
        </p:spPr>
        <p:txBody>
          <a:bodyPr/>
          <a:lstStyle/>
          <a:p>
            <a:fld id="{CB4D3031-0AEB-4687-8E23-04446010D3FF}" type="slidenum">
              <a:rPr lang="en-US" smtClean="0"/>
              <a:t>‹#›</a:t>
            </a:fld>
            <a:endParaRPr lang="en-US"/>
          </a:p>
        </p:txBody>
      </p:sp>
      <p:sp>
        <p:nvSpPr>
          <p:cNvPr id="1048677"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048678"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1048711"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1048712"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1048713" name="Date Placeholder 4"/>
          <p:cNvSpPr>
            <a:spLocks noGrp="1"/>
          </p:cNvSpPr>
          <p:nvPr>
            <p:ph type="dt" sz="half" idx="10"/>
          </p:nvPr>
        </p:nvSpPr>
        <p:spPr/>
        <p:txBody>
          <a:bodyPr/>
          <a:lstStyle/>
          <a:p>
            <a:fld id="{6952E827-2AB2-427E-8828-A42F60B2588F}" type="datetime1">
              <a:rPr lang="en-US" smtClean="0"/>
              <a:t>4/16/26</a:t>
            </a:fld>
            <a:endParaRPr lang="en-US"/>
          </a:p>
        </p:txBody>
      </p:sp>
      <p:sp>
        <p:nvSpPr>
          <p:cNvPr id="1048714" name="Footer Placeholder 5"/>
          <p:cNvSpPr>
            <a:spLocks noGrp="1"/>
          </p:cNvSpPr>
          <p:nvPr>
            <p:ph type="ftr" sz="quarter" idx="11"/>
          </p:nvPr>
        </p:nvSpPr>
        <p:spPr/>
        <p:txBody>
          <a:bodyPr/>
          <a:lstStyle/>
          <a:p>
            <a:r>
              <a:rPr lang="en-US"/>
              <a:t>FYP-Defence</a:t>
            </a:r>
          </a:p>
        </p:txBody>
      </p:sp>
      <p:sp>
        <p:nvSpPr>
          <p:cNvPr id="1048715"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16" name="Slide Number Placeholder 6"/>
          <p:cNvSpPr>
            <a:spLocks noGrp="1"/>
          </p:cNvSpPr>
          <p:nvPr>
            <p:ph type="sldNum" sz="quarter" idx="12"/>
          </p:nvPr>
        </p:nvSpPr>
        <p:spPr>
          <a:xfrm>
            <a:off x="531812" y="4983087"/>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048661"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048662"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lvl2pPr>
            <a:lvl3pPr marL="914400" indent="0">
              <a:buFontTx/>
              <a:buNone/>
            </a:lvl3pPr>
            <a:lvl4pPr marL="1371600" indent="0">
              <a:buFontTx/>
              <a:buNone/>
            </a:lvl4pPr>
            <a:lvl5pPr marL="1828800" indent="0">
              <a:buFontTx/>
              <a:buNone/>
            </a:lvl5pPr>
          </a:lstStyle>
          <a:p>
            <a:pPr lvl="0"/>
            <a:r>
              <a:rPr lang="en-US"/>
              <a:t>Click to edit Master text styles</a:t>
            </a:r>
          </a:p>
        </p:txBody>
      </p:sp>
      <p:sp>
        <p:nvSpPr>
          <p:cNvPr id="1048663"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1048664" name="Date Placeholder 4"/>
          <p:cNvSpPr>
            <a:spLocks noGrp="1"/>
          </p:cNvSpPr>
          <p:nvPr>
            <p:ph type="dt" sz="half" idx="10"/>
          </p:nvPr>
        </p:nvSpPr>
        <p:spPr/>
        <p:txBody>
          <a:bodyPr/>
          <a:lstStyle/>
          <a:p>
            <a:fld id="{34BA49D2-3DB7-4226-A7DB-AFD9BAA55DEF}" type="datetime1">
              <a:rPr lang="en-US" smtClean="0"/>
              <a:t>4/16/26</a:t>
            </a:fld>
            <a:endParaRPr lang="en-US"/>
          </a:p>
        </p:txBody>
      </p:sp>
      <p:sp>
        <p:nvSpPr>
          <p:cNvPr id="1048665" name="Footer Placeholder 5"/>
          <p:cNvSpPr>
            <a:spLocks noGrp="1"/>
          </p:cNvSpPr>
          <p:nvPr>
            <p:ph type="ftr" sz="quarter" idx="11"/>
          </p:nvPr>
        </p:nvSpPr>
        <p:spPr/>
        <p:txBody>
          <a:bodyPr/>
          <a:lstStyle/>
          <a:p>
            <a:r>
              <a:rPr lang="en-US"/>
              <a:t>FYP-Defence</a:t>
            </a:r>
          </a:p>
        </p:txBody>
      </p:sp>
      <p:sp>
        <p:nvSpPr>
          <p:cNvPr id="1048666"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67" name="Slide Number Placeholder 6"/>
          <p:cNvSpPr>
            <a:spLocks noGrp="1"/>
          </p:cNvSpPr>
          <p:nvPr>
            <p:ph type="sldNum" sz="quarter" idx="12"/>
          </p:nvPr>
        </p:nvSpPr>
        <p:spPr>
          <a:xfrm>
            <a:off x="531812" y="4983087"/>
            <a:ext cx="779767" cy="365125"/>
          </a:xfrm>
        </p:spPr>
        <p:txBody>
          <a:bodyPr/>
          <a:lstStyle/>
          <a:p>
            <a:fld id="{CB4D3031-0AEB-4687-8E23-04446010D3FF}" type="slidenum">
              <a:rPr lang="en-US" smtClean="0"/>
              <a:t>‹#›</a:t>
            </a:fld>
            <a:endParaRPr lang="en-US"/>
          </a:p>
        </p:txBody>
      </p:sp>
      <p:sp>
        <p:nvSpPr>
          <p:cNvPr id="1048668"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048669"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1048730"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104873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lvl2pPr>
            <a:lvl3pPr marL="914400" indent="0">
              <a:buFontTx/>
              <a:buNone/>
            </a:lvl3pPr>
            <a:lvl4pPr marL="1371600" indent="0">
              <a:buFontTx/>
              <a:buNone/>
            </a:lvl4pPr>
            <a:lvl5pPr marL="1828800" indent="0">
              <a:buFontTx/>
              <a:buNone/>
            </a:lvl5pPr>
          </a:lstStyle>
          <a:p>
            <a:pPr lvl="0"/>
            <a:r>
              <a:rPr lang="en-US"/>
              <a:t>Click to edit Master text styles</a:t>
            </a:r>
          </a:p>
        </p:txBody>
      </p:sp>
      <p:sp>
        <p:nvSpPr>
          <p:cNvPr id="1048732"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1048733" name="Date Placeholder 4"/>
          <p:cNvSpPr>
            <a:spLocks noGrp="1"/>
          </p:cNvSpPr>
          <p:nvPr>
            <p:ph type="dt" sz="half" idx="10"/>
          </p:nvPr>
        </p:nvSpPr>
        <p:spPr/>
        <p:txBody>
          <a:bodyPr/>
          <a:lstStyle/>
          <a:p>
            <a:fld id="{F6F66DF9-0589-431D-8672-DC90B910BD17}" type="datetime1">
              <a:rPr lang="en-US" smtClean="0"/>
              <a:t>4/16/26</a:t>
            </a:fld>
            <a:endParaRPr lang="en-US"/>
          </a:p>
        </p:txBody>
      </p:sp>
      <p:sp>
        <p:nvSpPr>
          <p:cNvPr id="1048734" name="Footer Placeholder 5"/>
          <p:cNvSpPr>
            <a:spLocks noGrp="1"/>
          </p:cNvSpPr>
          <p:nvPr>
            <p:ph type="ftr" sz="quarter" idx="11"/>
          </p:nvPr>
        </p:nvSpPr>
        <p:spPr/>
        <p:txBody>
          <a:bodyPr/>
          <a:lstStyle/>
          <a:p>
            <a:r>
              <a:rPr lang="en-US"/>
              <a:t>FYP-Defence</a:t>
            </a:r>
          </a:p>
        </p:txBody>
      </p:sp>
      <p:sp>
        <p:nvSpPr>
          <p:cNvPr id="1048735"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36" name="Slide Number Placeholder 6"/>
          <p:cNvSpPr>
            <a:spLocks noGrp="1"/>
          </p:cNvSpPr>
          <p:nvPr>
            <p:ph type="sldNum" sz="quarter" idx="12"/>
          </p:nvPr>
        </p:nvSpPr>
        <p:spPr>
          <a:xfrm>
            <a:off x="531812" y="4983087"/>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86" name="Title 1"/>
          <p:cNvSpPr>
            <a:spLocks noGrp="1"/>
          </p:cNvSpPr>
          <p:nvPr>
            <p:ph type="title"/>
          </p:nvPr>
        </p:nvSpPr>
        <p:spPr/>
        <p:txBody>
          <a:bodyPr/>
          <a:lstStyle/>
          <a:p>
            <a:r>
              <a:rPr lang="en-US"/>
              <a:t>Click to edit Master title style</a:t>
            </a:r>
            <a:endParaRPr lang="en-US" dirty="0"/>
          </a:p>
        </p:txBody>
      </p:sp>
      <p:sp>
        <p:nvSpPr>
          <p:cNvPr id="1048687"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88" name="Date Placeholder 3"/>
          <p:cNvSpPr>
            <a:spLocks noGrp="1"/>
          </p:cNvSpPr>
          <p:nvPr>
            <p:ph type="dt" sz="half" idx="10"/>
          </p:nvPr>
        </p:nvSpPr>
        <p:spPr/>
        <p:txBody>
          <a:bodyPr/>
          <a:lstStyle/>
          <a:p>
            <a:fld id="{3A818E7B-2E1C-43C3-A6DD-DC057E6BA6F1}" type="datetime1">
              <a:rPr lang="en-US" smtClean="0"/>
              <a:t>4/16/26</a:t>
            </a:fld>
            <a:endParaRPr lang="en-US"/>
          </a:p>
        </p:txBody>
      </p:sp>
      <p:sp>
        <p:nvSpPr>
          <p:cNvPr id="1048689" name="Footer Placeholder 4"/>
          <p:cNvSpPr>
            <a:spLocks noGrp="1"/>
          </p:cNvSpPr>
          <p:nvPr>
            <p:ph type="ftr" sz="quarter" idx="11"/>
          </p:nvPr>
        </p:nvSpPr>
        <p:spPr/>
        <p:txBody>
          <a:bodyPr/>
          <a:lstStyle/>
          <a:p>
            <a:r>
              <a:rPr lang="en-US"/>
              <a:t>FYP-Defence</a:t>
            </a:r>
          </a:p>
        </p:txBody>
      </p:sp>
      <p:sp>
        <p:nvSpPr>
          <p:cNvPr id="104869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91" name="Slide Number Placeholder 5"/>
          <p:cNvSpPr>
            <a:spLocks noGrp="1"/>
          </p:cNvSpPr>
          <p:nvPr>
            <p:ph type="sldNum" sz="quarter" idx="12"/>
          </p:nvPr>
        </p:nvSpPr>
        <p:spPr/>
        <p:txBody>
          <a:bodyPr/>
          <a:lstStyle/>
          <a:p>
            <a:fld id="{CB4D3031-0AEB-4687-8E23-04446010D3FF}"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44"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1048745"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46" name="Date Placeholder 3"/>
          <p:cNvSpPr>
            <a:spLocks noGrp="1"/>
          </p:cNvSpPr>
          <p:nvPr>
            <p:ph type="dt" sz="half" idx="10"/>
          </p:nvPr>
        </p:nvSpPr>
        <p:spPr/>
        <p:txBody>
          <a:bodyPr/>
          <a:lstStyle/>
          <a:p>
            <a:fld id="{60510C91-D168-484E-8A33-FD7F08A96286}" type="datetime1">
              <a:rPr lang="en-US" smtClean="0"/>
              <a:t>4/16/26</a:t>
            </a:fld>
            <a:endParaRPr lang="en-US"/>
          </a:p>
        </p:txBody>
      </p:sp>
      <p:sp>
        <p:nvSpPr>
          <p:cNvPr id="1048747" name="Footer Placeholder 4"/>
          <p:cNvSpPr>
            <a:spLocks noGrp="1"/>
          </p:cNvSpPr>
          <p:nvPr>
            <p:ph type="ftr" sz="quarter" idx="11"/>
          </p:nvPr>
        </p:nvSpPr>
        <p:spPr/>
        <p:txBody>
          <a:bodyPr/>
          <a:lstStyle/>
          <a:p>
            <a:r>
              <a:rPr lang="en-US"/>
              <a:t>FYP-Defence</a:t>
            </a:r>
          </a:p>
        </p:txBody>
      </p:sp>
      <p:sp>
        <p:nvSpPr>
          <p:cNvPr id="104874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49" name="Slide Number Placeholder 5"/>
          <p:cNvSpPr>
            <a:spLocks noGrp="1"/>
          </p:cNvSpPr>
          <p:nvPr>
            <p:ph type="sldNum" sz="quarter" idx="12"/>
          </p:nvPr>
        </p:nvSpPr>
        <p:spPr/>
        <p:txBody>
          <a:bodyPr/>
          <a:lstStyle/>
          <a:p>
            <a:fld id="{CB4D3031-0AEB-4687-8E23-04446010D3F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2" name="Group 22"/>
          <p:cNvGrpSpPr/>
          <p:nvPr/>
        </p:nvGrpSpPr>
        <p:grpSpPr>
          <a:xfrm>
            <a:off x="1" y="228600"/>
            <a:ext cx="2851516" cy="6638628"/>
            <a:chOff x="2487613" y="285750"/>
            <a:chExt cx="2428875" cy="5654676"/>
          </a:xfrm>
        </p:grpSpPr>
        <p:sp>
          <p:nvSpPr>
            <p:cNvPr id="1048576"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048577"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048578"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048579"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048580"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048581"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048582"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048583"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1048584"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1048585"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1048586"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1048587"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3" name="Group 9"/>
          <p:cNvGrpSpPr/>
          <p:nvPr/>
        </p:nvGrpSpPr>
        <p:grpSpPr>
          <a:xfrm>
            <a:off x="27221" y="-786"/>
            <a:ext cx="2356674" cy="6854039"/>
            <a:chOff x="6627813" y="194833"/>
            <a:chExt cx="1952625" cy="5678918"/>
          </a:xfrm>
        </p:grpSpPr>
        <p:sp>
          <p:nvSpPr>
            <p:cNvPr id="1048588"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048589"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048590"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048591"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048592"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048593"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048594"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048595"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048596"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1048597"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1048598"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1048599"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1048600"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8601"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1048602"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03"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3D06A4-B070-4BFD-AF55-2779036C349E}" type="datetime1">
              <a:rPr lang="en-US" smtClean="0"/>
              <a:t>4/16/26</a:t>
            </a:fld>
            <a:endParaRPr lang="en-US"/>
          </a:p>
        </p:txBody>
      </p:sp>
      <p:sp>
        <p:nvSpPr>
          <p:cNvPr id="1048604"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FYP-Defence</a:t>
            </a:r>
          </a:p>
        </p:txBody>
      </p:sp>
      <p:sp>
        <p:nvSpPr>
          <p:cNvPr id="1048605"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B4D3031-0AEB-4687-8E23-04446010D3F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13EF0-56F8-78B9-EF53-7AC389F0A1A1}"/>
              </a:ext>
            </a:extLst>
          </p:cNvPr>
          <p:cNvSpPr>
            <a:spLocks noGrp="1"/>
          </p:cNvSpPr>
          <p:nvPr>
            <p:ph type="ctrTitle"/>
          </p:nvPr>
        </p:nvSpPr>
        <p:spPr>
          <a:xfrm>
            <a:off x="1511615" y="1383282"/>
            <a:ext cx="9168769" cy="1750844"/>
          </a:xfrm>
        </p:spPr>
        <p:txBody>
          <a:bodyPr>
            <a:normAutofit/>
          </a:bodyPr>
          <a:lstStyle/>
          <a:p>
            <a:pPr algn="ctr"/>
            <a:r>
              <a:rPr lang="en-GB" sz="4000" b="1" dirty="0"/>
              <a:t>Crime Analysis and Prediction using Machine Learning</a:t>
            </a:r>
            <a:endParaRPr lang="en-US" sz="4000" b="1" dirty="0">
              <a:latin typeface="Times New Roman"/>
              <a:ea typeface="Calibri"/>
              <a:cs typeface="Times New Roman"/>
            </a:endParaRPr>
          </a:p>
        </p:txBody>
      </p:sp>
      <p:sp>
        <p:nvSpPr>
          <p:cNvPr id="3" name="Subtitle 2">
            <a:extLst>
              <a:ext uri="{FF2B5EF4-FFF2-40B4-BE49-F238E27FC236}">
                <a16:creationId xmlns:a16="http://schemas.microsoft.com/office/drawing/2014/main" id="{EFB5D668-F89F-A825-0E45-B8A656E10B52}"/>
              </a:ext>
            </a:extLst>
          </p:cNvPr>
          <p:cNvSpPr>
            <a:spLocks noGrp="1"/>
          </p:cNvSpPr>
          <p:nvPr>
            <p:ph type="subTitle" idx="1"/>
          </p:nvPr>
        </p:nvSpPr>
        <p:spPr>
          <a:xfrm>
            <a:off x="4431870" y="5145206"/>
            <a:ext cx="3811588" cy="1110846"/>
          </a:xfrm>
        </p:spPr>
        <p:txBody>
          <a:bodyPr>
            <a:normAutofit/>
          </a:bodyPr>
          <a:lstStyle/>
          <a:p>
            <a:r>
              <a:rPr lang="en-GB" sz="2000" dirty="0"/>
              <a:t>Presented by:</a:t>
            </a:r>
            <a:br>
              <a:rPr lang="en-GB" sz="2000" dirty="0"/>
            </a:br>
            <a:r>
              <a:rPr lang="en-GB" sz="2000" dirty="0"/>
              <a:t>Student ID: </a:t>
            </a:r>
          </a:p>
        </p:txBody>
      </p:sp>
    </p:spTree>
    <p:extLst>
      <p:ext uri="{BB962C8B-B14F-4D97-AF65-F5344CB8AC3E}">
        <p14:creationId xmlns:p14="http://schemas.microsoft.com/office/powerpoint/2010/main" val="1507110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Title 1"/>
          <p:cNvSpPr>
            <a:spLocks noGrp="1"/>
          </p:cNvSpPr>
          <p:nvPr>
            <p:ph type="title"/>
          </p:nvPr>
        </p:nvSpPr>
        <p:spPr>
          <a:xfrm>
            <a:off x="3516374" y="741403"/>
            <a:ext cx="5159252" cy="823008"/>
          </a:xfrm>
        </p:spPr>
        <p:txBody>
          <a:bodyPr>
            <a:normAutofit/>
          </a:bodyPr>
          <a:lstStyle/>
          <a:p>
            <a:pPr algn="ctr"/>
            <a:r>
              <a:rPr lang="en-GB" sz="4800" b="1" dirty="0"/>
              <a:t>Introduction</a:t>
            </a:r>
            <a:endParaRPr lang="en-US" sz="4500" b="1" dirty="0">
              <a:solidFill>
                <a:schemeClr val="tx1"/>
              </a:solidFill>
            </a:endParaRPr>
          </a:p>
        </p:txBody>
      </p:sp>
      <p:sp>
        <p:nvSpPr>
          <p:cNvPr id="1048624" name="Content Placeholder 2"/>
          <p:cNvSpPr>
            <a:spLocks noGrp="1"/>
          </p:cNvSpPr>
          <p:nvPr>
            <p:ph idx="1"/>
          </p:nvPr>
        </p:nvSpPr>
        <p:spPr>
          <a:xfrm>
            <a:off x="2243293" y="1791939"/>
            <a:ext cx="8661268" cy="3626222"/>
          </a:xfrm>
        </p:spPr>
        <p:txBody>
          <a:bodyPr>
            <a:normAutofit fontScale="92500" lnSpcReduction="10000"/>
          </a:bodyPr>
          <a:lstStyle/>
          <a:p>
            <a:r>
              <a:rPr lang="en-GB" sz="2400" dirty="0"/>
              <a:t>Crime affects people’s safety and daily life. Police collect large amounts of crime data, but it is difficult to study it manually.</a:t>
            </a:r>
          </a:p>
          <a:p>
            <a:r>
              <a:rPr lang="en-GB" sz="2400" dirty="0"/>
              <a:t>Machine learning can help by:</a:t>
            </a:r>
          </a:p>
          <a:p>
            <a:r>
              <a:rPr lang="en-GB" sz="2400" dirty="0"/>
              <a:t>Finding patterns in crime data </a:t>
            </a:r>
          </a:p>
          <a:p>
            <a:r>
              <a:rPr lang="en-GB" sz="2400" dirty="0"/>
              <a:t>Identifying high-risk areas </a:t>
            </a:r>
          </a:p>
          <a:p>
            <a:r>
              <a:rPr lang="en-GB" sz="2400" dirty="0"/>
              <a:t>Predicting future crime levels </a:t>
            </a:r>
          </a:p>
          <a:p>
            <a:r>
              <a:rPr lang="en-GB" sz="2400" dirty="0"/>
              <a:t>This project uses real crime data to support better decisions for safety and planning.</a:t>
            </a:r>
          </a:p>
        </p:txBody>
      </p:sp>
      <p:sp>
        <p:nvSpPr>
          <p:cNvPr id="3" name="Slide Number Placeholder 2"/>
          <p:cNvSpPr>
            <a:spLocks noGrp="1"/>
          </p:cNvSpPr>
          <p:nvPr>
            <p:ph type="sldNum" sz="quarter" idx="12"/>
          </p:nvPr>
        </p:nvSpPr>
        <p:spPr/>
        <p:txBody>
          <a:bodyPr/>
          <a:lstStyle/>
          <a:p>
            <a:fld id="{CB4D3031-0AEB-4687-8E23-04446010D3FF}" type="slidenum">
              <a:rPr lang="en-US" smtClean="0"/>
              <a:t>2</a:t>
            </a:fld>
            <a:endParaRPr lang="en-US"/>
          </a:p>
        </p:txBody>
      </p:sp>
    </p:spTree>
    <p:extLst>
      <p:ext uri="{BB962C8B-B14F-4D97-AF65-F5344CB8AC3E}">
        <p14:creationId xmlns:p14="http://schemas.microsoft.com/office/powerpoint/2010/main" val="266546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1B1BD-1EA3-DCE5-5A53-1AFA331CEA7E}"/>
            </a:ext>
          </a:extLst>
        </p:cNvPr>
        <p:cNvGrpSpPr/>
        <p:nvPr/>
      </p:nvGrpSpPr>
      <p:grpSpPr>
        <a:xfrm>
          <a:off x="0" y="0"/>
          <a:ext cx="0" cy="0"/>
          <a:chOff x="0" y="0"/>
          <a:chExt cx="0" cy="0"/>
        </a:xfrm>
      </p:grpSpPr>
      <p:sp>
        <p:nvSpPr>
          <p:cNvPr id="1048633" name="Content Placeholder 2">
            <a:extLst>
              <a:ext uri="{FF2B5EF4-FFF2-40B4-BE49-F238E27FC236}">
                <a16:creationId xmlns:a16="http://schemas.microsoft.com/office/drawing/2014/main" id="{4B6CEB1D-2083-BBEC-0EAC-B58254F66D80}"/>
              </a:ext>
            </a:extLst>
          </p:cNvPr>
          <p:cNvSpPr>
            <a:spLocks noGrp="1"/>
          </p:cNvSpPr>
          <p:nvPr>
            <p:ph idx="1"/>
          </p:nvPr>
        </p:nvSpPr>
        <p:spPr>
          <a:xfrm>
            <a:off x="2261796" y="1974803"/>
            <a:ext cx="8312425" cy="2515310"/>
          </a:xfrm>
        </p:spPr>
        <p:txBody>
          <a:bodyPr>
            <a:normAutofit fontScale="96154"/>
          </a:bodyPr>
          <a:lstStyle/>
          <a:p>
            <a:r>
              <a:rPr lang="en-GB" sz="2400" dirty="0"/>
              <a:t>To analyse crime patterns over time and location </a:t>
            </a:r>
          </a:p>
          <a:p>
            <a:r>
              <a:rPr lang="en-GB" sz="2400" dirty="0"/>
              <a:t>To identify crime hotspots </a:t>
            </a:r>
          </a:p>
          <a:p>
            <a:r>
              <a:rPr lang="en-GB" sz="2400" dirty="0"/>
              <a:t>To predict future crime levels </a:t>
            </a:r>
          </a:p>
          <a:p>
            <a:r>
              <a:rPr lang="en-GB" sz="2400" dirty="0"/>
              <a:t>To understand which factors affect crime the most </a:t>
            </a:r>
          </a:p>
        </p:txBody>
      </p:sp>
      <p:sp>
        <p:nvSpPr>
          <p:cNvPr id="2" name="TextBox 1">
            <a:extLst>
              <a:ext uri="{FF2B5EF4-FFF2-40B4-BE49-F238E27FC236}">
                <a16:creationId xmlns:a16="http://schemas.microsoft.com/office/drawing/2014/main" id="{A911228F-13B6-4790-B8D1-1E879858C600}"/>
              </a:ext>
            </a:extLst>
          </p:cNvPr>
          <p:cNvSpPr txBox="1"/>
          <p:nvPr/>
        </p:nvSpPr>
        <p:spPr>
          <a:xfrm>
            <a:off x="3024674" y="787782"/>
            <a:ext cx="6786668" cy="830997"/>
          </a:xfrm>
          <a:prstGeom prst="rect">
            <a:avLst/>
          </a:prstGeom>
          <a:noFill/>
        </p:spPr>
        <p:txBody>
          <a:bodyPr wrap="square" rtlCol="0">
            <a:spAutoFit/>
          </a:bodyPr>
          <a:lstStyle/>
          <a:p>
            <a:r>
              <a:rPr lang="en-GB" sz="4800" b="1" dirty="0"/>
              <a:t>Research Objectives</a:t>
            </a:r>
            <a:endParaRPr lang="en-US" sz="45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1E2BFDD-8A09-51C4-ED9E-32F393CD09EA}"/>
              </a:ext>
            </a:extLst>
          </p:cNvPr>
          <p:cNvSpPr>
            <a:spLocks noGrp="1"/>
          </p:cNvSpPr>
          <p:nvPr>
            <p:ph type="sldNum" sz="quarter" idx="12"/>
          </p:nvPr>
        </p:nvSpPr>
        <p:spPr/>
        <p:txBody>
          <a:bodyPr/>
          <a:lstStyle/>
          <a:p>
            <a:fld id="{CB4D3031-0AEB-4687-8E23-04446010D3FF}" type="slidenum">
              <a:rPr lang="en-US" smtClean="0"/>
              <a:t>3</a:t>
            </a:fld>
            <a:endParaRPr lang="en-US"/>
          </a:p>
        </p:txBody>
      </p:sp>
    </p:spTree>
    <p:extLst>
      <p:ext uri="{BB962C8B-B14F-4D97-AF65-F5344CB8AC3E}">
        <p14:creationId xmlns:p14="http://schemas.microsoft.com/office/powerpoint/2010/main" val="988336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3994A-ED48-48E8-A261-21A1BA436EF6}"/>
            </a:ext>
          </a:extLst>
        </p:cNvPr>
        <p:cNvGrpSpPr/>
        <p:nvPr/>
      </p:nvGrpSpPr>
      <p:grpSpPr>
        <a:xfrm>
          <a:off x="0" y="0"/>
          <a:ext cx="0" cy="0"/>
          <a:chOff x="0" y="0"/>
          <a:chExt cx="0" cy="0"/>
        </a:xfrm>
      </p:grpSpPr>
      <p:sp>
        <p:nvSpPr>
          <p:cNvPr id="1048633" name="Content Placeholder 2">
            <a:extLst>
              <a:ext uri="{FF2B5EF4-FFF2-40B4-BE49-F238E27FC236}">
                <a16:creationId xmlns:a16="http://schemas.microsoft.com/office/drawing/2014/main" id="{6F8BDB70-1CE5-77A8-F7D4-4AE82FA5D333}"/>
              </a:ext>
            </a:extLst>
          </p:cNvPr>
          <p:cNvSpPr>
            <a:spLocks noGrp="1"/>
          </p:cNvSpPr>
          <p:nvPr>
            <p:ph idx="1"/>
          </p:nvPr>
        </p:nvSpPr>
        <p:spPr>
          <a:xfrm>
            <a:off x="2261796" y="1974803"/>
            <a:ext cx="8312425" cy="2515310"/>
          </a:xfrm>
        </p:spPr>
        <p:txBody>
          <a:bodyPr>
            <a:normAutofit fontScale="96154"/>
          </a:bodyPr>
          <a:lstStyle/>
          <a:p>
            <a:r>
              <a:rPr lang="en-GB" sz="2400" dirty="0"/>
              <a:t>RQ1: Which areas are crime hotspots? </a:t>
            </a:r>
          </a:p>
          <a:p>
            <a:r>
              <a:rPr lang="en-GB" sz="2400" dirty="0"/>
              <a:t>RQ2: Can we predict future crime levels? </a:t>
            </a:r>
          </a:p>
          <a:p>
            <a:r>
              <a:rPr lang="en-GB" sz="2400" dirty="0"/>
              <a:t>RQ3: Which features are most important for prediction? </a:t>
            </a:r>
          </a:p>
        </p:txBody>
      </p:sp>
      <p:sp>
        <p:nvSpPr>
          <p:cNvPr id="2" name="TextBox 1">
            <a:extLst>
              <a:ext uri="{FF2B5EF4-FFF2-40B4-BE49-F238E27FC236}">
                <a16:creationId xmlns:a16="http://schemas.microsoft.com/office/drawing/2014/main" id="{53FA7DF6-C812-DA3C-0353-876C36E5A02A}"/>
              </a:ext>
            </a:extLst>
          </p:cNvPr>
          <p:cNvSpPr txBox="1"/>
          <p:nvPr/>
        </p:nvSpPr>
        <p:spPr>
          <a:xfrm>
            <a:off x="3787553" y="577929"/>
            <a:ext cx="6022369" cy="830997"/>
          </a:xfrm>
          <a:prstGeom prst="rect">
            <a:avLst/>
          </a:prstGeom>
          <a:noFill/>
        </p:spPr>
        <p:txBody>
          <a:bodyPr wrap="square" rtlCol="0">
            <a:spAutoFit/>
          </a:bodyPr>
          <a:lstStyle/>
          <a:p>
            <a:r>
              <a:rPr lang="en-GB" sz="4800" b="1" dirty="0"/>
              <a:t>Research Questions</a:t>
            </a:r>
            <a:endParaRPr lang="en-US" sz="45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CAA7980-46D1-6B75-7BFD-CAE16739006E}"/>
              </a:ext>
            </a:extLst>
          </p:cNvPr>
          <p:cNvSpPr>
            <a:spLocks noGrp="1"/>
          </p:cNvSpPr>
          <p:nvPr>
            <p:ph type="sldNum" sz="quarter" idx="12"/>
          </p:nvPr>
        </p:nvSpPr>
        <p:spPr/>
        <p:txBody>
          <a:bodyPr/>
          <a:lstStyle/>
          <a:p>
            <a:fld id="{CB4D3031-0AEB-4687-8E23-04446010D3FF}" type="slidenum">
              <a:rPr lang="en-US" smtClean="0"/>
              <a:t>4</a:t>
            </a:fld>
            <a:endParaRPr lang="en-US"/>
          </a:p>
        </p:txBody>
      </p:sp>
    </p:spTree>
    <p:extLst>
      <p:ext uri="{BB962C8B-B14F-4D97-AF65-F5344CB8AC3E}">
        <p14:creationId xmlns:p14="http://schemas.microsoft.com/office/powerpoint/2010/main" val="305539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2756A-87FF-5AFE-8200-17AA04AD1595}"/>
            </a:ext>
          </a:extLst>
        </p:cNvPr>
        <p:cNvGrpSpPr/>
        <p:nvPr/>
      </p:nvGrpSpPr>
      <p:grpSpPr>
        <a:xfrm>
          <a:off x="0" y="0"/>
          <a:ext cx="0" cy="0"/>
          <a:chOff x="0" y="0"/>
          <a:chExt cx="0" cy="0"/>
        </a:xfrm>
      </p:grpSpPr>
      <p:sp>
        <p:nvSpPr>
          <p:cNvPr id="1048633" name="Content Placeholder 2">
            <a:extLst>
              <a:ext uri="{FF2B5EF4-FFF2-40B4-BE49-F238E27FC236}">
                <a16:creationId xmlns:a16="http://schemas.microsoft.com/office/drawing/2014/main" id="{87F23FF7-523E-25E9-17E9-DC47E2212B1E}"/>
              </a:ext>
            </a:extLst>
          </p:cNvPr>
          <p:cNvSpPr>
            <a:spLocks noGrp="1"/>
          </p:cNvSpPr>
          <p:nvPr>
            <p:ph idx="1"/>
          </p:nvPr>
        </p:nvSpPr>
        <p:spPr>
          <a:xfrm>
            <a:off x="2261796" y="1974803"/>
            <a:ext cx="8312425" cy="3712738"/>
          </a:xfrm>
        </p:spPr>
        <p:txBody>
          <a:bodyPr vert="horz" lIns="91440" tIns="45720" rIns="91440" bIns="45720" rtlCol="0" anchor="t">
            <a:normAutofit fontScale="96154"/>
          </a:bodyPr>
          <a:lstStyle/>
          <a:p>
            <a:r>
              <a:rPr lang="en-GB" dirty="0"/>
              <a:t>Source: UK Police Open Data </a:t>
            </a:r>
          </a:p>
          <a:p>
            <a:r>
              <a:rPr lang="en-GB" dirty="0"/>
              <a:t>Total records: 772,974 </a:t>
            </a:r>
          </a:p>
          <a:p>
            <a:r>
              <a:rPr lang="en-GB" dirty="0"/>
              <a:t>Time period: October 2023 to December 2025 </a:t>
            </a:r>
          </a:p>
          <a:p>
            <a:r>
              <a:rPr lang="en-GB" dirty="0"/>
              <a:t>Areas covered: 1963 LSOA regions </a:t>
            </a:r>
          </a:p>
          <a:p>
            <a:r>
              <a:rPr lang="en-GB" dirty="0"/>
              <a:t>Police forces: </a:t>
            </a:r>
          </a:p>
          <a:p>
            <a:pPr lvl="1"/>
            <a:r>
              <a:rPr lang="en-GB" dirty="0"/>
              <a:t>West Midlands Police </a:t>
            </a:r>
          </a:p>
          <a:p>
            <a:pPr lvl="1"/>
            <a:r>
              <a:rPr lang="en-GB" dirty="0"/>
              <a:t>City of London Police </a:t>
            </a:r>
          </a:p>
          <a:p>
            <a:r>
              <a:rPr lang="en-GB" dirty="0"/>
              <a:t>The dataset does not contain personal data and is safe for research use.</a:t>
            </a:r>
          </a:p>
        </p:txBody>
      </p:sp>
      <p:sp>
        <p:nvSpPr>
          <p:cNvPr id="2" name="TextBox 1">
            <a:extLst>
              <a:ext uri="{FF2B5EF4-FFF2-40B4-BE49-F238E27FC236}">
                <a16:creationId xmlns:a16="http://schemas.microsoft.com/office/drawing/2014/main" id="{1DA00063-7A27-8A19-566A-42978E949433}"/>
              </a:ext>
            </a:extLst>
          </p:cNvPr>
          <p:cNvSpPr txBox="1"/>
          <p:nvPr/>
        </p:nvSpPr>
        <p:spPr>
          <a:xfrm>
            <a:off x="3049744" y="577929"/>
            <a:ext cx="7679960" cy="830997"/>
          </a:xfrm>
          <a:prstGeom prst="rect">
            <a:avLst/>
          </a:prstGeom>
          <a:noFill/>
        </p:spPr>
        <p:txBody>
          <a:bodyPr wrap="square" lIns="91440" tIns="45720" rIns="91440" bIns="45720" rtlCol="0" anchor="t">
            <a:spAutoFit/>
          </a:bodyPr>
          <a:lstStyle/>
          <a:p>
            <a:r>
              <a:rPr lang="en-GB" sz="4800" b="1" dirty="0"/>
              <a:t>Dataset Description</a:t>
            </a:r>
            <a:endParaRPr lang="en-US" b="1" dirty="0"/>
          </a:p>
        </p:txBody>
      </p:sp>
      <p:sp>
        <p:nvSpPr>
          <p:cNvPr id="4" name="Slide Number Placeholder 3">
            <a:extLst>
              <a:ext uri="{FF2B5EF4-FFF2-40B4-BE49-F238E27FC236}">
                <a16:creationId xmlns:a16="http://schemas.microsoft.com/office/drawing/2014/main" id="{4CFF2DB9-C053-C793-81C4-27AB999740A7}"/>
              </a:ext>
            </a:extLst>
          </p:cNvPr>
          <p:cNvSpPr>
            <a:spLocks noGrp="1"/>
          </p:cNvSpPr>
          <p:nvPr>
            <p:ph type="sldNum" sz="quarter" idx="12"/>
          </p:nvPr>
        </p:nvSpPr>
        <p:spPr/>
        <p:txBody>
          <a:bodyPr/>
          <a:lstStyle/>
          <a:p>
            <a:fld id="{CB4D3031-0AEB-4687-8E23-04446010D3FF}" type="slidenum">
              <a:rPr lang="en-US" smtClean="0"/>
              <a:t>5</a:t>
            </a:fld>
            <a:endParaRPr lang="en-US"/>
          </a:p>
        </p:txBody>
      </p:sp>
    </p:spTree>
    <p:extLst>
      <p:ext uri="{BB962C8B-B14F-4D97-AF65-F5344CB8AC3E}">
        <p14:creationId xmlns:p14="http://schemas.microsoft.com/office/powerpoint/2010/main" val="2649358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FBCFC-4AF2-CA25-E476-BF3A0B039E0E}"/>
            </a:ext>
          </a:extLst>
        </p:cNvPr>
        <p:cNvGrpSpPr/>
        <p:nvPr/>
      </p:nvGrpSpPr>
      <p:grpSpPr>
        <a:xfrm>
          <a:off x="0" y="0"/>
          <a:ext cx="0" cy="0"/>
          <a:chOff x="0" y="0"/>
          <a:chExt cx="0" cy="0"/>
        </a:xfrm>
      </p:grpSpPr>
      <p:sp>
        <p:nvSpPr>
          <p:cNvPr id="1048633" name="Content Placeholder 2">
            <a:extLst>
              <a:ext uri="{FF2B5EF4-FFF2-40B4-BE49-F238E27FC236}">
                <a16:creationId xmlns:a16="http://schemas.microsoft.com/office/drawing/2014/main" id="{4B9D23C5-7A05-B9EC-A2DD-7A345B398157}"/>
              </a:ext>
            </a:extLst>
          </p:cNvPr>
          <p:cNvSpPr>
            <a:spLocks noGrp="1"/>
          </p:cNvSpPr>
          <p:nvPr>
            <p:ph idx="1"/>
          </p:nvPr>
        </p:nvSpPr>
        <p:spPr>
          <a:xfrm>
            <a:off x="2077278" y="1689652"/>
            <a:ext cx="8816009" cy="4830417"/>
          </a:xfrm>
        </p:spPr>
        <p:txBody>
          <a:bodyPr vert="horz" lIns="91440" tIns="45720" rIns="91440" bIns="45720" rtlCol="0" anchor="t">
            <a:normAutofit fontScale="88654" lnSpcReduction="10000"/>
          </a:bodyPr>
          <a:lstStyle/>
          <a:p>
            <a:r>
              <a:rPr lang="en-GB" b="1" dirty="0"/>
              <a:t>Spatial Features</a:t>
            </a:r>
            <a:endParaRPr lang="en-GB" dirty="0"/>
          </a:p>
          <a:p>
            <a:pPr lvl="1"/>
            <a:r>
              <a:rPr lang="en-GB" dirty="0"/>
              <a:t>Latitude </a:t>
            </a:r>
          </a:p>
          <a:p>
            <a:pPr lvl="1"/>
            <a:r>
              <a:rPr lang="en-GB" dirty="0"/>
              <a:t>Longitude </a:t>
            </a:r>
          </a:p>
          <a:p>
            <a:pPr lvl="1"/>
            <a:r>
              <a:rPr lang="en-GB" dirty="0"/>
              <a:t>LSOA code </a:t>
            </a:r>
          </a:p>
          <a:p>
            <a:r>
              <a:rPr lang="en-GB" b="1" dirty="0"/>
              <a:t>Crime Features</a:t>
            </a:r>
            <a:endParaRPr lang="en-GB" dirty="0"/>
          </a:p>
          <a:p>
            <a:pPr lvl="1"/>
            <a:r>
              <a:rPr lang="en-GB" dirty="0"/>
              <a:t>Crime type </a:t>
            </a:r>
          </a:p>
          <a:p>
            <a:pPr lvl="1"/>
            <a:r>
              <a:rPr lang="en-GB" dirty="0"/>
              <a:t>Outcome category </a:t>
            </a:r>
          </a:p>
          <a:p>
            <a:r>
              <a:rPr lang="en-GB" b="1" dirty="0"/>
              <a:t>Time Features</a:t>
            </a:r>
            <a:endParaRPr lang="en-GB" dirty="0"/>
          </a:p>
          <a:p>
            <a:pPr lvl="1"/>
            <a:r>
              <a:rPr lang="en-GB" dirty="0"/>
              <a:t>Month </a:t>
            </a:r>
          </a:p>
          <a:p>
            <a:pPr lvl="1"/>
            <a:r>
              <a:rPr lang="en-GB" dirty="0"/>
              <a:t>Year</a:t>
            </a:r>
          </a:p>
          <a:p>
            <a:pPr marL="0" indent="0">
              <a:buNone/>
            </a:pPr>
            <a:r>
              <a:rPr lang="en-GB" b="1" dirty="0"/>
              <a:t>Feature Selection (for Modelling)</a:t>
            </a:r>
            <a:endParaRPr lang="en-GB" dirty="0"/>
          </a:p>
          <a:p>
            <a:pPr lvl="1"/>
            <a:r>
              <a:rPr lang="en-GB" dirty="0" err="1"/>
              <a:t>SelectKBest</a:t>
            </a:r>
            <a:r>
              <a:rPr lang="en-GB" dirty="0"/>
              <a:t> was used to rank features based on their importance </a:t>
            </a:r>
          </a:p>
          <a:p>
            <a:pPr lvl="1"/>
            <a:r>
              <a:rPr lang="en-GB" dirty="0"/>
              <a:t>The most useful features were selected for prediction </a:t>
            </a:r>
          </a:p>
          <a:p>
            <a:pPr lvl="1"/>
            <a:r>
              <a:rPr lang="en-GB" dirty="0"/>
              <a:t>This helps reduce noise and improves model performance</a:t>
            </a:r>
          </a:p>
          <a:p>
            <a:pPr marL="57150" indent="0">
              <a:buNone/>
            </a:pPr>
            <a:endParaRPr lang="en-GB" dirty="0"/>
          </a:p>
        </p:txBody>
      </p:sp>
      <p:sp>
        <p:nvSpPr>
          <p:cNvPr id="2" name="TextBox 1">
            <a:extLst>
              <a:ext uri="{FF2B5EF4-FFF2-40B4-BE49-F238E27FC236}">
                <a16:creationId xmlns:a16="http://schemas.microsoft.com/office/drawing/2014/main" id="{8E555B1C-ECA6-0CE6-3112-1D40E6774487}"/>
              </a:ext>
            </a:extLst>
          </p:cNvPr>
          <p:cNvSpPr txBox="1"/>
          <p:nvPr/>
        </p:nvSpPr>
        <p:spPr>
          <a:xfrm>
            <a:off x="3049744" y="577929"/>
            <a:ext cx="7679960" cy="830997"/>
          </a:xfrm>
          <a:prstGeom prst="rect">
            <a:avLst/>
          </a:prstGeom>
          <a:noFill/>
        </p:spPr>
        <p:txBody>
          <a:bodyPr wrap="square" lIns="91440" tIns="45720" rIns="91440" bIns="45720" rtlCol="0" anchor="t">
            <a:spAutoFit/>
          </a:bodyPr>
          <a:lstStyle/>
          <a:p>
            <a:r>
              <a:rPr lang="en-GB" sz="4800" b="1" dirty="0"/>
              <a:t>Dataset Features</a:t>
            </a:r>
            <a:endParaRPr lang="en-US" b="1" dirty="0"/>
          </a:p>
        </p:txBody>
      </p:sp>
      <p:sp>
        <p:nvSpPr>
          <p:cNvPr id="4" name="Slide Number Placeholder 3">
            <a:extLst>
              <a:ext uri="{FF2B5EF4-FFF2-40B4-BE49-F238E27FC236}">
                <a16:creationId xmlns:a16="http://schemas.microsoft.com/office/drawing/2014/main" id="{0DA45FB8-C901-6253-846D-97A5BB91C08D}"/>
              </a:ext>
            </a:extLst>
          </p:cNvPr>
          <p:cNvSpPr>
            <a:spLocks noGrp="1"/>
          </p:cNvSpPr>
          <p:nvPr>
            <p:ph type="sldNum" sz="quarter" idx="12"/>
          </p:nvPr>
        </p:nvSpPr>
        <p:spPr/>
        <p:txBody>
          <a:bodyPr/>
          <a:lstStyle/>
          <a:p>
            <a:fld id="{CB4D3031-0AEB-4687-8E23-04446010D3FF}" type="slidenum">
              <a:rPr lang="en-US" smtClean="0"/>
              <a:t>6</a:t>
            </a:fld>
            <a:endParaRPr lang="en-US"/>
          </a:p>
        </p:txBody>
      </p:sp>
    </p:spTree>
    <p:extLst>
      <p:ext uri="{BB962C8B-B14F-4D97-AF65-F5344CB8AC3E}">
        <p14:creationId xmlns:p14="http://schemas.microsoft.com/office/powerpoint/2010/main" val="1953507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002CF-4092-F655-6372-E769277DBDC1}"/>
            </a:ext>
          </a:extLst>
        </p:cNvPr>
        <p:cNvGrpSpPr/>
        <p:nvPr/>
      </p:nvGrpSpPr>
      <p:grpSpPr>
        <a:xfrm>
          <a:off x="0" y="0"/>
          <a:ext cx="0" cy="0"/>
          <a:chOff x="0" y="0"/>
          <a:chExt cx="0" cy="0"/>
        </a:xfrm>
      </p:grpSpPr>
      <p:sp>
        <p:nvSpPr>
          <p:cNvPr id="1048633" name="Content Placeholder 2">
            <a:extLst>
              <a:ext uri="{FF2B5EF4-FFF2-40B4-BE49-F238E27FC236}">
                <a16:creationId xmlns:a16="http://schemas.microsoft.com/office/drawing/2014/main" id="{AC8967CE-EB91-3F5E-DA57-CED125940194}"/>
              </a:ext>
            </a:extLst>
          </p:cNvPr>
          <p:cNvSpPr>
            <a:spLocks noGrp="1"/>
          </p:cNvSpPr>
          <p:nvPr>
            <p:ph idx="1"/>
          </p:nvPr>
        </p:nvSpPr>
        <p:spPr>
          <a:xfrm>
            <a:off x="2261796" y="1974803"/>
            <a:ext cx="8312425" cy="3712738"/>
          </a:xfrm>
        </p:spPr>
        <p:txBody>
          <a:bodyPr vert="horz" lIns="91440" tIns="45720" rIns="91440" bIns="45720" rtlCol="0" anchor="t">
            <a:normAutofit fontScale="96154"/>
          </a:bodyPr>
          <a:lstStyle/>
          <a:p>
            <a:r>
              <a:rPr lang="en-GB" dirty="0"/>
              <a:t>Combined 54 CSV files into one dataset </a:t>
            </a:r>
          </a:p>
          <a:p>
            <a:r>
              <a:rPr lang="en-GB" dirty="0"/>
              <a:t>Removed missing and invalid values </a:t>
            </a:r>
          </a:p>
          <a:p>
            <a:r>
              <a:rPr lang="en-GB" dirty="0"/>
              <a:t>Converted dates into year and month </a:t>
            </a:r>
          </a:p>
          <a:p>
            <a:r>
              <a:rPr lang="en-GB" dirty="0"/>
              <a:t>Grouped data into LSOA-month level </a:t>
            </a:r>
          </a:p>
          <a:p>
            <a:pPr marL="0" indent="0">
              <a:buNone/>
            </a:pPr>
            <a:endParaRPr lang="en-GB" dirty="0"/>
          </a:p>
          <a:p>
            <a:pPr marL="0" indent="0">
              <a:buNone/>
            </a:pPr>
            <a:r>
              <a:rPr lang="en-GB" dirty="0"/>
              <a:t>This step made the data ready for analysis and modelling.</a:t>
            </a:r>
          </a:p>
        </p:txBody>
      </p:sp>
      <p:sp>
        <p:nvSpPr>
          <p:cNvPr id="2" name="TextBox 1">
            <a:extLst>
              <a:ext uri="{FF2B5EF4-FFF2-40B4-BE49-F238E27FC236}">
                <a16:creationId xmlns:a16="http://schemas.microsoft.com/office/drawing/2014/main" id="{C5A6A037-EF7C-1F97-361F-298CE5392A95}"/>
              </a:ext>
            </a:extLst>
          </p:cNvPr>
          <p:cNvSpPr txBox="1"/>
          <p:nvPr/>
        </p:nvSpPr>
        <p:spPr>
          <a:xfrm>
            <a:off x="3049744" y="577929"/>
            <a:ext cx="7679960" cy="830997"/>
          </a:xfrm>
          <a:prstGeom prst="rect">
            <a:avLst/>
          </a:prstGeom>
          <a:noFill/>
        </p:spPr>
        <p:txBody>
          <a:bodyPr wrap="square" lIns="91440" tIns="45720" rIns="91440" bIns="45720" rtlCol="0" anchor="t">
            <a:spAutoFit/>
          </a:bodyPr>
          <a:lstStyle/>
          <a:p>
            <a:r>
              <a:rPr lang="en-GB" sz="4800" b="1" dirty="0"/>
              <a:t>Data Preparation</a:t>
            </a:r>
            <a:endParaRPr lang="en-US" b="1" dirty="0"/>
          </a:p>
        </p:txBody>
      </p:sp>
      <p:sp>
        <p:nvSpPr>
          <p:cNvPr id="4" name="Slide Number Placeholder 3">
            <a:extLst>
              <a:ext uri="{FF2B5EF4-FFF2-40B4-BE49-F238E27FC236}">
                <a16:creationId xmlns:a16="http://schemas.microsoft.com/office/drawing/2014/main" id="{4C45EA8C-561F-46F9-49AA-6F3295012EB1}"/>
              </a:ext>
            </a:extLst>
          </p:cNvPr>
          <p:cNvSpPr>
            <a:spLocks noGrp="1"/>
          </p:cNvSpPr>
          <p:nvPr>
            <p:ph type="sldNum" sz="quarter" idx="12"/>
          </p:nvPr>
        </p:nvSpPr>
        <p:spPr/>
        <p:txBody>
          <a:bodyPr/>
          <a:lstStyle/>
          <a:p>
            <a:fld id="{CB4D3031-0AEB-4687-8E23-04446010D3FF}" type="slidenum">
              <a:rPr lang="en-US" smtClean="0"/>
              <a:t>7</a:t>
            </a:fld>
            <a:endParaRPr lang="en-US"/>
          </a:p>
        </p:txBody>
      </p:sp>
    </p:spTree>
    <p:extLst>
      <p:ext uri="{BB962C8B-B14F-4D97-AF65-F5344CB8AC3E}">
        <p14:creationId xmlns:p14="http://schemas.microsoft.com/office/powerpoint/2010/main" val="2548598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56D59-7C55-54E0-1D2D-2C10251ACDFD}"/>
            </a:ext>
          </a:extLst>
        </p:cNvPr>
        <p:cNvGrpSpPr/>
        <p:nvPr/>
      </p:nvGrpSpPr>
      <p:grpSpPr>
        <a:xfrm>
          <a:off x="0" y="0"/>
          <a:ext cx="0" cy="0"/>
          <a:chOff x="0" y="0"/>
          <a:chExt cx="0" cy="0"/>
        </a:xfrm>
      </p:grpSpPr>
      <p:sp>
        <p:nvSpPr>
          <p:cNvPr id="1048627" name="Title 1">
            <a:extLst>
              <a:ext uri="{FF2B5EF4-FFF2-40B4-BE49-F238E27FC236}">
                <a16:creationId xmlns:a16="http://schemas.microsoft.com/office/drawing/2014/main" id="{556A38DA-DA6F-4C2F-2176-006E6FF3FC6C}"/>
              </a:ext>
            </a:extLst>
          </p:cNvPr>
          <p:cNvSpPr>
            <a:spLocks noGrp="1"/>
          </p:cNvSpPr>
          <p:nvPr>
            <p:ph type="title"/>
          </p:nvPr>
        </p:nvSpPr>
        <p:spPr>
          <a:xfrm>
            <a:off x="2236211" y="520201"/>
            <a:ext cx="8911687" cy="1280890"/>
          </a:xfrm>
        </p:spPr>
        <p:txBody>
          <a:bodyPr vert="horz" lIns="91440" tIns="45720" rIns="91440" bIns="45720" rtlCol="0" anchor="t">
            <a:normAutofit/>
          </a:bodyPr>
          <a:lstStyle/>
          <a:p>
            <a:r>
              <a:rPr lang="en-US" b="1" kern="1200" dirty="0">
                <a:latin typeface="+mj-lt"/>
                <a:ea typeface="+mj-ea"/>
                <a:cs typeface="+mj-cs"/>
              </a:rPr>
              <a:t>Feature Correlation Heatmap</a:t>
            </a:r>
            <a:endParaRPr lang="en-US" kern="1200" dirty="0">
              <a:latin typeface="+mj-lt"/>
              <a:ea typeface="+mj-ea"/>
              <a:cs typeface="+mj-cs"/>
            </a:endParaRPr>
          </a:p>
        </p:txBody>
      </p:sp>
      <p:sp>
        <p:nvSpPr>
          <p:cNvPr id="4" name="TextBox 3">
            <a:extLst>
              <a:ext uri="{FF2B5EF4-FFF2-40B4-BE49-F238E27FC236}">
                <a16:creationId xmlns:a16="http://schemas.microsoft.com/office/drawing/2014/main" id="{FEF47304-28A4-157B-8449-C5D93263E219}"/>
              </a:ext>
            </a:extLst>
          </p:cNvPr>
          <p:cNvSpPr txBox="1"/>
          <p:nvPr/>
        </p:nvSpPr>
        <p:spPr>
          <a:xfrm>
            <a:off x="2236211" y="1801091"/>
            <a:ext cx="4067607" cy="3777622"/>
          </a:xfrm>
          <a:prstGeom prst="rect">
            <a:avLst/>
          </a:prstGeom>
        </p:spPr>
        <p:txBody>
          <a:bodyPr vert="horz" lIns="91440" tIns="45720" rIns="91440" bIns="45720" rtlCol="0">
            <a:normAutofit/>
          </a:bodyPr>
          <a:lstStyle/>
          <a:p>
            <a:pPr marL="342900" indent="-342900">
              <a:spcBef>
                <a:spcPts val="1000"/>
              </a:spcBef>
              <a:buClr>
                <a:schemeClr val="accent1"/>
              </a:buClr>
              <a:buFont typeface="Wingdings 3" charset="2"/>
              <a:buChar char=""/>
            </a:pPr>
            <a:r>
              <a:rPr lang="en-US" dirty="0">
                <a:solidFill>
                  <a:schemeClr val="tx1">
                    <a:lumMod val="75000"/>
                    <a:lumOff val="25000"/>
                  </a:schemeClr>
                </a:solidFill>
              </a:rPr>
              <a:t>This heatmap shows how different features are related to each other. Strong positive values (red) mean features move together, while negative values (blue) show opposite trends. It helps identify important features like </a:t>
            </a:r>
            <a:r>
              <a:rPr lang="en-US" i="1" dirty="0">
                <a:solidFill>
                  <a:schemeClr val="tx1">
                    <a:lumMod val="75000"/>
                    <a:lumOff val="25000"/>
                  </a:schemeClr>
                </a:solidFill>
              </a:rPr>
              <a:t>lag1</a:t>
            </a:r>
            <a:r>
              <a:rPr lang="en-US" dirty="0">
                <a:solidFill>
                  <a:schemeClr val="tx1">
                    <a:lumMod val="75000"/>
                    <a:lumOff val="25000"/>
                  </a:schemeClr>
                </a:solidFill>
              </a:rPr>
              <a:t> and </a:t>
            </a:r>
            <a:r>
              <a:rPr lang="en-US" i="1" dirty="0" err="1">
                <a:solidFill>
                  <a:schemeClr val="tx1">
                    <a:lumMod val="75000"/>
                    <a:lumOff val="25000"/>
                  </a:schemeClr>
                </a:solidFill>
              </a:rPr>
              <a:t>dominantTypeCount</a:t>
            </a:r>
            <a:r>
              <a:rPr lang="en-US" dirty="0">
                <a:solidFill>
                  <a:schemeClr val="tx1">
                    <a:lumMod val="75000"/>
                    <a:lumOff val="25000"/>
                  </a:schemeClr>
                </a:solidFill>
              </a:rPr>
              <a:t> for prediction.</a:t>
            </a:r>
          </a:p>
        </p:txBody>
      </p:sp>
      <p:pic>
        <p:nvPicPr>
          <p:cNvPr id="5122" name="Picture 2">
            <a:extLst>
              <a:ext uri="{FF2B5EF4-FFF2-40B4-BE49-F238E27FC236}">
                <a16:creationId xmlns:a16="http://schemas.microsoft.com/office/drawing/2014/main" id="{5ACCD477-F5C2-521D-4745-512FFE0A8E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684" r="3815" b="1"/>
          <a:stretch>
            <a:fillRect/>
          </a:stretch>
        </p:blipFill>
        <p:spPr bwMode="auto">
          <a:xfrm>
            <a:off x="6456101" y="1419529"/>
            <a:ext cx="5616429" cy="4918270"/>
          </a:xfrm>
          <a:prstGeom prst="rect">
            <a:avLst/>
          </a:prstGeom>
          <a:solidFill>
            <a:srgbClr val="FFFFFF"/>
          </a:solidFill>
        </p:spPr>
      </p:pic>
      <p:sp>
        <p:nvSpPr>
          <p:cNvPr id="3" name="Slide Number Placeholder 2">
            <a:extLst>
              <a:ext uri="{FF2B5EF4-FFF2-40B4-BE49-F238E27FC236}">
                <a16:creationId xmlns:a16="http://schemas.microsoft.com/office/drawing/2014/main" id="{BDD32B5C-9DFD-404E-A58F-0BCA890DA720}"/>
              </a:ext>
            </a:extLst>
          </p:cNvPr>
          <p:cNvSpPr>
            <a:spLocks noGrp="1"/>
          </p:cNvSpPr>
          <p:nvPr>
            <p:ph type="sldNum" sz="quarter" idx="12"/>
          </p:nvPr>
        </p:nvSpPr>
        <p:spPr>
          <a:xfrm>
            <a:off x="531812" y="787782"/>
            <a:ext cx="779767" cy="365125"/>
          </a:xfrm>
        </p:spPr>
        <p:txBody>
          <a:bodyPr vert="horz" lIns="91440" tIns="45720" rIns="91440" bIns="45720" rtlCol="0" anchor="ctr">
            <a:normAutofit/>
          </a:bodyPr>
          <a:lstStyle/>
          <a:p>
            <a:pPr>
              <a:lnSpc>
                <a:spcPct val="90000"/>
              </a:lnSpc>
              <a:spcAft>
                <a:spcPts val="600"/>
              </a:spcAft>
            </a:pPr>
            <a:fld id="{CB4D3031-0AEB-4687-8E23-04446010D3FF}" type="slidenum">
              <a:rPr lang="en-US" sz="1900" smtClean="0"/>
              <a:pPr>
                <a:lnSpc>
                  <a:spcPct val="90000"/>
                </a:lnSpc>
                <a:spcAft>
                  <a:spcPts val="600"/>
                </a:spcAft>
              </a:pPr>
              <a:t>8</a:t>
            </a:fld>
            <a:endParaRPr lang="en-US" sz="1900"/>
          </a:p>
        </p:txBody>
      </p:sp>
    </p:spTree>
    <p:extLst>
      <p:ext uri="{BB962C8B-B14F-4D97-AF65-F5344CB8AC3E}">
        <p14:creationId xmlns:p14="http://schemas.microsoft.com/office/powerpoint/2010/main" val="2686407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56958-0131-6D7E-7282-A1AB389D10A2}"/>
            </a:ext>
          </a:extLst>
        </p:cNvPr>
        <p:cNvGrpSpPr/>
        <p:nvPr/>
      </p:nvGrpSpPr>
      <p:grpSpPr>
        <a:xfrm>
          <a:off x="0" y="0"/>
          <a:ext cx="0" cy="0"/>
          <a:chOff x="0" y="0"/>
          <a:chExt cx="0" cy="0"/>
        </a:xfrm>
      </p:grpSpPr>
      <p:sp>
        <p:nvSpPr>
          <p:cNvPr id="1048627" name="Title 1">
            <a:extLst>
              <a:ext uri="{FF2B5EF4-FFF2-40B4-BE49-F238E27FC236}">
                <a16:creationId xmlns:a16="http://schemas.microsoft.com/office/drawing/2014/main" id="{B97D4174-95DC-2833-0FA7-F77D06E1994E}"/>
              </a:ext>
            </a:extLst>
          </p:cNvPr>
          <p:cNvSpPr>
            <a:spLocks noGrp="1"/>
          </p:cNvSpPr>
          <p:nvPr>
            <p:ph type="title"/>
          </p:nvPr>
        </p:nvSpPr>
        <p:spPr>
          <a:xfrm>
            <a:off x="2592924" y="624110"/>
            <a:ext cx="8911687" cy="1280890"/>
          </a:xfrm>
        </p:spPr>
        <p:txBody>
          <a:bodyPr vert="horz" lIns="91440" tIns="45720" rIns="91440" bIns="45720" rtlCol="0" anchor="t">
            <a:normAutofit/>
          </a:bodyPr>
          <a:lstStyle/>
          <a:p>
            <a:r>
              <a:rPr lang="en-US" b="1" kern="1200">
                <a:latin typeface="+mj-lt"/>
                <a:ea typeface="+mj-ea"/>
                <a:cs typeface="+mj-cs"/>
              </a:rPr>
              <a:t>Monthly Crime Trend</a:t>
            </a:r>
          </a:p>
        </p:txBody>
      </p:sp>
      <p:pic>
        <p:nvPicPr>
          <p:cNvPr id="1028" name="Picture 4">
            <a:extLst>
              <a:ext uri="{FF2B5EF4-FFF2-40B4-BE49-F238E27FC236}">
                <a16:creationId xmlns:a16="http://schemas.microsoft.com/office/drawing/2014/main" id="{061D5C60-0D17-FE3F-0B98-A676E0DE892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87389" y="1394367"/>
            <a:ext cx="6584530" cy="4263483"/>
          </a:xfrm>
          <a:prstGeom prst="rect">
            <a:avLst/>
          </a:prstGeom>
          <a:solidFill>
            <a:srgbClr val="FFFFFF"/>
          </a:solidFill>
        </p:spPr>
      </p:pic>
      <p:sp>
        <p:nvSpPr>
          <p:cNvPr id="4" name="TextBox 3">
            <a:extLst>
              <a:ext uri="{FF2B5EF4-FFF2-40B4-BE49-F238E27FC236}">
                <a16:creationId xmlns:a16="http://schemas.microsoft.com/office/drawing/2014/main" id="{89FC4782-BEF7-E3CC-8D7A-69ACD97E3A89}"/>
              </a:ext>
            </a:extLst>
          </p:cNvPr>
          <p:cNvSpPr txBox="1"/>
          <p:nvPr/>
        </p:nvSpPr>
        <p:spPr>
          <a:xfrm>
            <a:off x="7271919" y="2146460"/>
            <a:ext cx="4313864" cy="3777622"/>
          </a:xfrm>
          <a:prstGeom prst="rect">
            <a:avLst/>
          </a:prstGeom>
        </p:spPr>
        <p:txBody>
          <a:bodyPr vert="horz" lIns="91440" tIns="45720" rIns="91440" bIns="45720" rtlCol="0">
            <a:normAutofit/>
          </a:bodyPr>
          <a:lstStyle/>
          <a:p>
            <a:pPr marL="342900" indent="-342900">
              <a:spcBef>
                <a:spcPts val="1000"/>
              </a:spcBef>
              <a:buClr>
                <a:schemeClr val="accent1"/>
              </a:buClr>
              <a:buFont typeface="Wingdings 3" charset="2"/>
              <a:buChar char=""/>
            </a:pPr>
            <a:r>
              <a:rPr lang="en-US" dirty="0">
                <a:solidFill>
                  <a:schemeClr val="tx1">
                    <a:lumMod val="75000"/>
                    <a:lumOff val="25000"/>
                  </a:schemeClr>
                </a:solidFill>
              </a:rPr>
              <a:t>This graph shows how crime levels change over time each month. Crime rises and falls, with peaks in mid-2024 and a drop in early 2025. This suggests </a:t>
            </a:r>
            <a:r>
              <a:rPr lang="en-US" b="1" dirty="0">
                <a:solidFill>
                  <a:schemeClr val="tx1">
                    <a:lumMod val="75000"/>
                    <a:lumOff val="25000"/>
                  </a:schemeClr>
                </a:solidFill>
              </a:rPr>
              <a:t>crime follows a time-based pattern</a:t>
            </a:r>
            <a:r>
              <a:rPr lang="en-US" dirty="0">
                <a:solidFill>
                  <a:schemeClr val="tx1">
                    <a:lumMod val="75000"/>
                    <a:lumOff val="25000"/>
                  </a:schemeClr>
                </a:solidFill>
              </a:rPr>
              <a:t>.</a:t>
            </a:r>
          </a:p>
        </p:txBody>
      </p:sp>
      <p:sp>
        <p:nvSpPr>
          <p:cNvPr id="3" name="Slide Number Placeholder 2">
            <a:extLst>
              <a:ext uri="{FF2B5EF4-FFF2-40B4-BE49-F238E27FC236}">
                <a16:creationId xmlns:a16="http://schemas.microsoft.com/office/drawing/2014/main" id="{4F387D26-221D-B73C-3267-DAD86890F68C}"/>
              </a:ext>
            </a:extLst>
          </p:cNvPr>
          <p:cNvSpPr>
            <a:spLocks noGrp="1"/>
          </p:cNvSpPr>
          <p:nvPr>
            <p:ph type="sldNum" sz="quarter" idx="12"/>
          </p:nvPr>
        </p:nvSpPr>
        <p:spPr>
          <a:xfrm>
            <a:off x="531812" y="787782"/>
            <a:ext cx="779767" cy="365125"/>
          </a:xfrm>
        </p:spPr>
        <p:txBody>
          <a:bodyPr vert="horz" lIns="91440" tIns="45720" rIns="91440" bIns="45720" rtlCol="0" anchor="ctr">
            <a:normAutofit/>
          </a:bodyPr>
          <a:lstStyle/>
          <a:p>
            <a:pPr>
              <a:lnSpc>
                <a:spcPct val="90000"/>
              </a:lnSpc>
              <a:spcAft>
                <a:spcPts val="600"/>
              </a:spcAft>
            </a:pPr>
            <a:fld id="{CB4D3031-0AEB-4687-8E23-04446010D3FF}" type="slidenum">
              <a:rPr lang="en-US" sz="1900" smtClean="0"/>
              <a:pPr>
                <a:lnSpc>
                  <a:spcPct val="90000"/>
                </a:lnSpc>
                <a:spcAft>
                  <a:spcPts val="600"/>
                </a:spcAft>
              </a:pPr>
              <a:t>9</a:t>
            </a:fld>
            <a:endParaRPr lang="en-US" sz="1900"/>
          </a:p>
        </p:txBody>
      </p:sp>
    </p:spTree>
    <p:extLst>
      <p:ext uri="{BB962C8B-B14F-4D97-AF65-F5344CB8AC3E}">
        <p14:creationId xmlns:p14="http://schemas.microsoft.com/office/powerpoint/2010/main" val="280447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933DF-7640-D58C-0C1C-2B086F8E5A30}"/>
            </a:ext>
          </a:extLst>
        </p:cNvPr>
        <p:cNvGrpSpPr/>
        <p:nvPr/>
      </p:nvGrpSpPr>
      <p:grpSpPr>
        <a:xfrm>
          <a:off x="0" y="0"/>
          <a:ext cx="0" cy="0"/>
          <a:chOff x="0" y="0"/>
          <a:chExt cx="0" cy="0"/>
        </a:xfrm>
      </p:grpSpPr>
      <p:sp>
        <p:nvSpPr>
          <p:cNvPr id="1048627" name="Title 1">
            <a:extLst>
              <a:ext uri="{FF2B5EF4-FFF2-40B4-BE49-F238E27FC236}">
                <a16:creationId xmlns:a16="http://schemas.microsoft.com/office/drawing/2014/main" id="{E24EDD9B-9995-C092-64BF-95B766671D8A}"/>
              </a:ext>
            </a:extLst>
          </p:cNvPr>
          <p:cNvSpPr>
            <a:spLocks noGrp="1"/>
          </p:cNvSpPr>
          <p:nvPr>
            <p:ph type="title"/>
          </p:nvPr>
        </p:nvSpPr>
        <p:spPr>
          <a:xfrm>
            <a:off x="1724409" y="-4720"/>
            <a:ext cx="9792676" cy="645836"/>
          </a:xfrm>
        </p:spPr>
        <p:txBody>
          <a:bodyPr>
            <a:normAutofit fontScale="90000"/>
          </a:bodyPr>
          <a:lstStyle/>
          <a:p>
            <a:pPr algn="ctr"/>
            <a:r>
              <a:rPr lang="en-GB" sz="4000" b="1" dirty="0"/>
              <a:t>Seasonal Crime Pattern</a:t>
            </a:r>
            <a:endParaRPr lang="en-US" sz="4000" b="1" dirty="0">
              <a:latin typeface="Times New Roman"/>
              <a:cs typeface="Times New Roman"/>
            </a:endParaRPr>
          </a:p>
        </p:txBody>
      </p:sp>
      <p:sp>
        <p:nvSpPr>
          <p:cNvPr id="3" name="Slide Number Placeholder 2">
            <a:extLst>
              <a:ext uri="{FF2B5EF4-FFF2-40B4-BE49-F238E27FC236}">
                <a16:creationId xmlns:a16="http://schemas.microsoft.com/office/drawing/2014/main" id="{61259E8C-1655-C9C9-D4E8-8A49A0D6CCA3}"/>
              </a:ext>
            </a:extLst>
          </p:cNvPr>
          <p:cNvSpPr>
            <a:spLocks noGrp="1"/>
          </p:cNvSpPr>
          <p:nvPr>
            <p:ph type="sldNum" sz="quarter" idx="12"/>
          </p:nvPr>
        </p:nvSpPr>
        <p:spPr/>
        <p:txBody>
          <a:bodyPr/>
          <a:lstStyle/>
          <a:p>
            <a:fld id="{CB4D3031-0AEB-4687-8E23-04446010D3FF}" type="slidenum">
              <a:rPr lang="en-US" smtClean="0"/>
              <a:t>10</a:t>
            </a:fld>
            <a:endParaRPr lang="en-US"/>
          </a:p>
        </p:txBody>
      </p:sp>
      <p:sp>
        <p:nvSpPr>
          <p:cNvPr id="12" name="TextBox 11">
            <a:extLst>
              <a:ext uri="{FF2B5EF4-FFF2-40B4-BE49-F238E27FC236}">
                <a16:creationId xmlns:a16="http://schemas.microsoft.com/office/drawing/2014/main" id="{FD755FF8-D04D-95E9-4535-9A5BC0608AD1}"/>
              </a:ext>
            </a:extLst>
          </p:cNvPr>
          <p:cNvSpPr txBox="1"/>
          <p:nvPr/>
        </p:nvSpPr>
        <p:spPr>
          <a:xfrm>
            <a:off x="1724409" y="5798118"/>
            <a:ext cx="9480403" cy="923330"/>
          </a:xfrm>
          <a:prstGeom prst="rect">
            <a:avLst/>
          </a:prstGeom>
          <a:noFill/>
        </p:spPr>
        <p:txBody>
          <a:bodyPr wrap="square">
            <a:spAutoFit/>
          </a:bodyPr>
          <a:lstStyle/>
          <a:p>
            <a:r>
              <a:rPr lang="en-GB" dirty="0"/>
              <a:t>This graph shows how crime levels vary across different months of the year. Some months, especially towards the end of the year, have higher crime rates compared to others. This indicates that crime follows a seasonal pattern.</a:t>
            </a:r>
          </a:p>
        </p:txBody>
      </p:sp>
      <p:pic>
        <p:nvPicPr>
          <p:cNvPr id="2050" name="Picture 2">
            <a:extLst>
              <a:ext uri="{FF2B5EF4-FFF2-40B4-BE49-F238E27FC236}">
                <a16:creationId xmlns:a16="http://schemas.microsoft.com/office/drawing/2014/main" id="{81A5D030-9716-1234-5871-6A239C66F8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3488" y="787782"/>
            <a:ext cx="7892439" cy="5010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3906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57CED-DDB6-D9D0-7379-053A32B1DB4C}"/>
            </a:ext>
          </a:extLst>
        </p:cNvPr>
        <p:cNvGrpSpPr/>
        <p:nvPr/>
      </p:nvGrpSpPr>
      <p:grpSpPr>
        <a:xfrm>
          <a:off x="0" y="0"/>
          <a:ext cx="0" cy="0"/>
          <a:chOff x="0" y="0"/>
          <a:chExt cx="0" cy="0"/>
        </a:xfrm>
      </p:grpSpPr>
      <p:sp>
        <p:nvSpPr>
          <p:cNvPr id="1048627" name="Title 1">
            <a:extLst>
              <a:ext uri="{FF2B5EF4-FFF2-40B4-BE49-F238E27FC236}">
                <a16:creationId xmlns:a16="http://schemas.microsoft.com/office/drawing/2014/main" id="{BEAF0448-A5A0-ED53-5598-88E009874CED}"/>
              </a:ext>
            </a:extLst>
          </p:cNvPr>
          <p:cNvSpPr>
            <a:spLocks noGrp="1"/>
          </p:cNvSpPr>
          <p:nvPr>
            <p:ph type="title"/>
          </p:nvPr>
        </p:nvSpPr>
        <p:spPr>
          <a:xfrm>
            <a:off x="1565185" y="-4720"/>
            <a:ext cx="9792676" cy="645836"/>
          </a:xfrm>
        </p:spPr>
        <p:txBody>
          <a:bodyPr>
            <a:normAutofit fontScale="90000"/>
          </a:bodyPr>
          <a:lstStyle/>
          <a:p>
            <a:pPr algn="ctr"/>
            <a:r>
              <a:rPr lang="en-GB" sz="4000" b="1" dirty="0"/>
              <a:t>Top Crime Types</a:t>
            </a:r>
            <a:endParaRPr lang="en-US" sz="4000" b="1" dirty="0">
              <a:latin typeface="Times New Roman"/>
              <a:cs typeface="Times New Roman"/>
            </a:endParaRPr>
          </a:p>
        </p:txBody>
      </p:sp>
      <p:sp>
        <p:nvSpPr>
          <p:cNvPr id="3" name="Slide Number Placeholder 2">
            <a:extLst>
              <a:ext uri="{FF2B5EF4-FFF2-40B4-BE49-F238E27FC236}">
                <a16:creationId xmlns:a16="http://schemas.microsoft.com/office/drawing/2014/main" id="{6AB07416-9F11-DC52-E3BE-0300A1174C36}"/>
              </a:ext>
            </a:extLst>
          </p:cNvPr>
          <p:cNvSpPr>
            <a:spLocks noGrp="1"/>
          </p:cNvSpPr>
          <p:nvPr>
            <p:ph type="sldNum" sz="quarter" idx="12"/>
          </p:nvPr>
        </p:nvSpPr>
        <p:spPr/>
        <p:txBody>
          <a:bodyPr/>
          <a:lstStyle/>
          <a:p>
            <a:fld id="{CB4D3031-0AEB-4687-8E23-04446010D3FF}" type="slidenum">
              <a:rPr lang="en-US" smtClean="0"/>
              <a:t>11</a:t>
            </a:fld>
            <a:endParaRPr lang="en-US"/>
          </a:p>
        </p:txBody>
      </p:sp>
      <p:sp>
        <p:nvSpPr>
          <p:cNvPr id="12" name="TextBox 11">
            <a:extLst>
              <a:ext uri="{FF2B5EF4-FFF2-40B4-BE49-F238E27FC236}">
                <a16:creationId xmlns:a16="http://schemas.microsoft.com/office/drawing/2014/main" id="{660168C5-AACB-2429-4DA2-F96ED88CA699}"/>
              </a:ext>
            </a:extLst>
          </p:cNvPr>
          <p:cNvSpPr txBox="1"/>
          <p:nvPr/>
        </p:nvSpPr>
        <p:spPr>
          <a:xfrm>
            <a:off x="1781275" y="5741577"/>
            <a:ext cx="9480403" cy="923330"/>
          </a:xfrm>
          <a:prstGeom prst="rect">
            <a:avLst/>
          </a:prstGeom>
          <a:noFill/>
        </p:spPr>
        <p:txBody>
          <a:bodyPr wrap="square">
            <a:spAutoFit/>
          </a:bodyPr>
          <a:lstStyle/>
          <a:p>
            <a:r>
              <a:rPr lang="en-GB" dirty="0"/>
              <a:t>This graph shows the most common types of crime in the dataset. Violence and sexual offences have the highest count, followed by shoplifting and vehicle crime. This shows that theft-related crimes are also very frequent.</a:t>
            </a:r>
          </a:p>
        </p:txBody>
      </p:sp>
      <p:pic>
        <p:nvPicPr>
          <p:cNvPr id="3074" name="Picture 2">
            <a:extLst>
              <a:ext uri="{FF2B5EF4-FFF2-40B4-BE49-F238E27FC236}">
                <a16:creationId xmlns:a16="http://schemas.microsoft.com/office/drawing/2014/main" id="{58AE4244-FACC-8CEE-C61F-0EA92546BB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0887" y="596035"/>
            <a:ext cx="6186695" cy="5190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9854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4D409-B71D-EAB3-3D5B-9699FA285FDF}"/>
            </a:ext>
          </a:extLst>
        </p:cNvPr>
        <p:cNvGrpSpPr/>
        <p:nvPr/>
      </p:nvGrpSpPr>
      <p:grpSpPr>
        <a:xfrm>
          <a:off x="0" y="0"/>
          <a:ext cx="0" cy="0"/>
          <a:chOff x="0" y="0"/>
          <a:chExt cx="0" cy="0"/>
        </a:xfrm>
      </p:grpSpPr>
      <p:sp>
        <p:nvSpPr>
          <p:cNvPr id="1048627" name="Title 1">
            <a:extLst>
              <a:ext uri="{FF2B5EF4-FFF2-40B4-BE49-F238E27FC236}">
                <a16:creationId xmlns:a16="http://schemas.microsoft.com/office/drawing/2014/main" id="{9D7EE5FC-BAB7-D4A1-321E-CD746DB6C870}"/>
              </a:ext>
            </a:extLst>
          </p:cNvPr>
          <p:cNvSpPr>
            <a:spLocks noGrp="1"/>
          </p:cNvSpPr>
          <p:nvPr>
            <p:ph type="title"/>
          </p:nvPr>
        </p:nvSpPr>
        <p:spPr>
          <a:xfrm>
            <a:off x="1565185" y="-4720"/>
            <a:ext cx="9792676" cy="645836"/>
          </a:xfrm>
        </p:spPr>
        <p:txBody>
          <a:bodyPr>
            <a:normAutofit fontScale="90000"/>
          </a:bodyPr>
          <a:lstStyle/>
          <a:p>
            <a:pPr algn="ctr"/>
            <a:r>
              <a:rPr lang="en-GB" sz="4000" b="1" dirty="0"/>
              <a:t>Outcome Categories</a:t>
            </a:r>
            <a:endParaRPr lang="en-US" sz="4000" b="1" dirty="0">
              <a:latin typeface="Times New Roman"/>
              <a:cs typeface="Times New Roman"/>
            </a:endParaRPr>
          </a:p>
        </p:txBody>
      </p:sp>
      <p:sp>
        <p:nvSpPr>
          <p:cNvPr id="3" name="Slide Number Placeholder 2">
            <a:extLst>
              <a:ext uri="{FF2B5EF4-FFF2-40B4-BE49-F238E27FC236}">
                <a16:creationId xmlns:a16="http://schemas.microsoft.com/office/drawing/2014/main" id="{14061144-768B-205A-3114-F88A471CE600}"/>
              </a:ext>
            </a:extLst>
          </p:cNvPr>
          <p:cNvSpPr>
            <a:spLocks noGrp="1"/>
          </p:cNvSpPr>
          <p:nvPr>
            <p:ph type="sldNum" sz="quarter" idx="12"/>
          </p:nvPr>
        </p:nvSpPr>
        <p:spPr/>
        <p:txBody>
          <a:bodyPr/>
          <a:lstStyle/>
          <a:p>
            <a:fld id="{CB4D3031-0AEB-4687-8E23-04446010D3FF}" type="slidenum">
              <a:rPr lang="en-US" smtClean="0"/>
              <a:t>12</a:t>
            </a:fld>
            <a:endParaRPr lang="en-US"/>
          </a:p>
        </p:txBody>
      </p:sp>
      <p:sp>
        <p:nvSpPr>
          <p:cNvPr id="12" name="TextBox 11">
            <a:extLst>
              <a:ext uri="{FF2B5EF4-FFF2-40B4-BE49-F238E27FC236}">
                <a16:creationId xmlns:a16="http://schemas.microsoft.com/office/drawing/2014/main" id="{35669C5D-4512-53D7-48D1-4E49898709A5}"/>
              </a:ext>
            </a:extLst>
          </p:cNvPr>
          <p:cNvSpPr txBox="1"/>
          <p:nvPr/>
        </p:nvSpPr>
        <p:spPr>
          <a:xfrm>
            <a:off x="1877458" y="5755219"/>
            <a:ext cx="9480403" cy="923330"/>
          </a:xfrm>
          <a:prstGeom prst="rect">
            <a:avLst/>
          </a:prstGeom>
          <a:noFill/>
        </p:spPr>
        <p:txBody>
          <a:bodyPr wrap="square">
            <a:spAutoFit/>
          </a:bodyPr>
          <a:lstStyle/>
          <a:p>
            <a:r>
              <a:rPr lang="en-GB" dirty="0"/>
              <a:t>This graph shows the outcomes of reported crimes. Most cases end with no suspect identified or are unable to be prosecuted. This highlights limitations in crime resolution.</a:t>
            </a:r>
          </a:p>
        </p:txBody>
      </p:sp>
      <p:pic>
        <p:nvPicPr>
          <p:cNvPr id="5122" name="Picture 2">
            <a:extLst>
              <a:ext uri="{FF2B5EF4-FFF2-40B4-BE49-F238E27FC236}">
                <a16:creationId xmlns:a16="http://schemas.microsoft.com/office/drawing/2014/main" id="{3B2AE8F1-3ACE-E307-D157-D912656459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0096" y="641115"/>
            <a:ext cx="5215361" cy="5042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865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B5929-75FF-A742-F6B1-53BE7EB8855E}"/>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7BB65413-44B5-CA22-E916-1AD221788A5A}"/>
              </a:ext>
            </a:extLst>
          </p:cNvPr>
          <p:cNvSpPr>
            <a:spLocks noGrp="1"/>
          </p:cNvSpPr>
          <p:nvPr>
            <p:ph type="title"/>
          </p:nvPr>
        </p:nvSpPr>
        <p:spPr>
          <a:xfrm>
            <a:off x="3862945" y="368832"/>
            <a:ext cx="5649086" cy="784075"/>
          </a:xfrm>
        </p:spPr>
        <p:txBody>
          <a:bodyPr>
            <a:normAutofit fontScale="90000"/>
          </a:bodyPr>
          <a:lstStyle/>
          <a:p>
            <a:pPr algn="ctr"/>
            <a:r>
              <a:rPr lang="en-GB" sz="4000" b="1" dirty="0"/>
              <a:t>Crime Reports by Police Force</a:t>
            </a:r>
            <a:endParaRPr lang="en-US" sz="4000" b="1" dirty="0">
              <a:latin typeface="Times New Roman" panose="02020603050405020304" pitchFamily="18" charset="0"/>
              <a:cs typeface="Times New Roman" panose="02020603050405020304" pitchFamily="18" charset="0"/>
            </a:endParaRPr>
          </a:p>
        </p:txBody>
      </p:sp>
      <p:sp>
        <p:nvSpPr>
          <p:cNvPr id="1048629" name="Content Placeholder 2">
            <a:extLst>
              <a:ext uri="{FF2B5EF4-FFF2-40B4-BE49-F238E27FC236}">
                <a16:creationId xmlns:a16="http://schemas.microsoft.com/office/drawing/2014/main" id="{989E0123-5A7B-DD25-47B5-CEACBD5CFB92}"/>
              </a:ext>
            </a:extLst>
          </p:cNvPr>
          <p:cNvSpPr>
            <a:spLocks noGrp="1"/>
          </p:cNvSpPr>
          <p:nvPr>
            <p:ph idx="1"/>
          </p:nvPr>
        </p:nvSpPr>
        <p:spPr>
          <a:xfrm>
            <a:off x="1682789" y="5764665"/>
            <a:ext cx="8826421" cy="984005"/>
          </a:xfrm>
        </p:spPr>
        <p:txBody>
          <a:bodyPr>
            <a:noAutofit/>
          </a:bodyPr>
          <a:lstStyle/>
          <a:p>
            <a:pPr marL="0" indent="0">
              <a:buNone/>
            </a:pPr>
            <a:r>
              <a:rPr lang="en-GB" sz="1600" dirty="0"/>
              <a:t>This graph shows the number of crimes reported by each police force. Most of the data comes from West Midlands Police, while City of London Police contributes a much smaller portion.</a:t>
            </a:r>
          </a:p>
        </p:txBody>
      </p:sp>
      <p:sp>
        <p:nvSpPr>
          <p:cNvPr id="3" name="Slide Number Placeholder 2">
            <a:extLst>
              <a:ext uri="{FF2B5EF4-FFF2-40B4-BE49-F238E27FC236}">
                <a16:creationId xmlns:a16="http://schemas.microsoft.com/office/drawing/2014/main" id="{459DD6DA-6131-5077-B4F0-4BF3DB7BEFAB}"/>
              </a:ext>
            </a:extLst>
          </p:cNvPr>
          <p:cNvSpPr>
            <a:spLocks noGrp="1"/>
          </p:cNvSpPr>
          <p:nvPr>
            <p:ph type="sldNum" sz="quarter" idx="12"/>
          </p:nvPr>
        </p:nvSpPr>
        <p:spPr/>
        <p:txBody>
          <a:bodyPr/>
          <a:lstStyle/>
          <a:p>
            <a:fld id="{CB4D3031-0AEB-4687-8E23-04446010D3FF}" type="slidenum">
              <a:rPr lang="en-US" smtClean="0"/>
              <a:t>13</a:t>
            </a:fld>
            <a:endParaRPr lang="en-US"/>
          </a:p>
        </p:txBody>
      </p:sp>
      <p:pic>
        <p:nvPicPr>
          <p:cNvPr id="6146" name="Picture 2">
            <a:extLst>
              <a:ext uri="{FF2B5EF4-FFF2-40B4-BE49-F238E27FC236}">
                <a16:creationId xmlns:a16="http://schemas.microsoft.com/office/drawing/2014/main" id="{8E1E1C4A-ED0E-17AD-3D9E-9160708AB5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6350" y="1059796"/>
            <a:ext cx="6079300" cy="4704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5586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Title 1"/>
          <p:cNvSpPr>
            <a:spLocks noGrp="1"/>
          </p:cNvSpPr>
          <p:nvPr>
            <p:ph type="title"/>
          </p:nvPr>
        </p:nvSpPr>
        <p:spPr>
          <a:xfrm>
            <a:off x="2165378" y="64424"/>
            <a:ext cx="8085644" cy="727796"/>
          </a:xfrm>
        </p:spPr>
        <p:txBody>
          <a:bodyPr>
            <a:noAutofit/>
          </a:bodyPr>
          <a:lstStyle/>
          <a:p>
            <a:pPr algn="ctr"/>
            <a:r>
              <a:rPr lang="en-GB" b="1" dirty="0"/>
              <a:t>Spatial Distribution of Crime</a:t>
            </a:r>
            <a:endParaRPr lang="en-US"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CB4D3031-0AEB-4687-8E23-04446010D3FF}" type="slidenum">
              <a:rPr lang="en-US" smtClean="0"/>
              <a:t>14</a:t>
            </a:fld>
            <a:endParaRPr lang="en-US"/>
          </a:p>
        </p:txBody>
      </p:sp>
      <p:sp>
        <p:nvSpPr>
          <p:cNvPr id="2" name="TextBox 1">
            <a:extLst>
              <a:ext uri="{FF2B5EF4-FFF2-40B4-BE49-F238E27FC236}">
                <a16:creationId xmlns:a16="http://schemas.microsoft.com/office/drawing/2014/main" id="{5378DA6F-1306-575E-4246-D308D04003E4}"/>
              </a:ext>
            </a:extLst>
          </p:cNvPr>
          <p:cNvSpPr txBox="1"/>
          <p:nvPr/>
        </p:nvSpPr>
        <p:spPr>
          <a:xfrm>
            <a:off x="1311579" y="5559505"/>
            <a:ext cx="1075452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This graph shows the spatial location of crimes using longitude (x-axis) and latitude (y-axis), where values such as 0, -1, and -2 represent geographic coordinates on the map. The points are not evenly distributed, and most crimes are concentrated in specific areas. This indicates that certain locations experience higher crime levels than others.</a:t>
            </a:r>
          </a:p>
        </p:txBody>
      </p:sp>
      <p:pic>
        <p:nvPicPr>
          <p:cNvPr id="7170" name="Picture 2">
            <a:extLst>
              <a:ext uri="{FF2B5EF4-FFF2-40B4-BE49-F238E27FC236}">
                <a16:creationId xmlns:a16="http://schemas.microsoft.com/office/drawing/2014/main" id="{D9CE0480-2D06-FF99-93A4-C6618039F3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6013" y="698330"/>
            <a:ext cx="7187926" cy="4598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8637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322EA-5710-A41D-1FFE-BE9726A04BF1}"/>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57DAEFD9-7510-7097-24E6-916278D9FF15}"/>
              </a:ext>
            </a:extLst>
          </p:cNvPr>
          <p:cNvSpPr>
            <a:spLocks noGrp="1"/>
          </p:cNvSpPr>
          <p:nvPr>
            <p:ph type="title"/>
          </p:nvPr>
        </p:nvSpPr>
        <p:spPr>
          <a:xfrm>
            <a:off x="2177473" y="282138"/>
            <a:ext cx="8085644" cy="727796"/>
          </a:xfrm>
        </p:spPr>
        <p:txBody>
          <a:bodyPr>
            <a:noAutofit/>
          </a:bodyPr>
          <a:lstStyle/>
          <a:p>
            <a:pPr algn="ctr"/>
            <a:r>
              <a:rPr lang="en-GB" b="1" dirty="0"/>
              <a:t>Hotspot Detection (RQ1)</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ED26ECE3-A4DC-60D9-EE46-019D8818FA03}"/>
              </a:ext>
            </a:extLst>
          </p:cNvPr>
          <p:cNvSpPr>
            <a:spLocks noGrp="1"/>
          </p:cNvSpPr>
          <p:nvPr>
            <p:ph type="sldNum" sz="quarter" idx="12"/>
          </p:nvPr>
        </p:nvSpPr>
        <p:spPr/>
        <p:txBody>
          <a:bodyPr/>
          <a:lstStyle/>
          <a:p>
            <a:fld id="{CB4D3031-0AEB-4687-8E23-04446010D3FF}" type="slidenum">
              <a:rPr lang="en-US" smtClean="0"/>
              <a:t>15</a:t>
            </a:fld>
            <a:endParaRPr lang="en-US"/>
          </a:p>
        </p:txBody>
      </p:sp>
      <p:sp>
        <p:nvSpPr>
          <p:cNvPr id="2" name="TextBox 1">
            <a:extLst>
              <a:ext uri="{FF2B5EF4-FFF2-40B4-BE49-F238E27FC236}">
                <a16:creationId xmlns:a16="http://schemas.microsoft.com/office/drawing/2014/main" id="{AD2BA628-B147-3418-66E4-58C63022B12A}"/>
              </a:ext>
            </a:extLst>
          </p:cNvPr>
          <p:cNvSpPr txBox="1"/>
          <p:nvPr/>
        </p:nvSpPr>
        <p:spPr>
          <a:xfrm>
            <a:off x="3473593" y="1400262"/>
            <a:ext cx="6594745" cy="33636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GB" dirty="0"/>
              <a:t>Two clustering methods were used:</a:t>
            </a:r>
          </a:p>
          <a:p>
            <a:pPr>
              <a:lnSpc>
                <a:spcPct val="150000"/>
              </a:lnSpc>
            </a:pPr>
            <a:r>
              <a:rPr lang="en-GB" b="1" dirty="0" err="1"/>
              <a:t>KMeans</a:t>
            </a:r>
            <a:endParaRPr lang="en-GB" dirty="0"/>
          </a:p>
          <a:p>
            <a:pPr marL="285750" indent="-285750">
              <a:lnSpc>
                <a:spcPct val="150000"/>
              </a:lnSpc>
              <a:buFont typeface="Arial" panose="020B0604020202020204" pitchFamily="34" charset="0"/>
              <a:buChar char="•"/>
            </a:pPr>
            <a:r>
              <a:rPr lang="en-GB" dirty="0"/>
              <a:t>Silhouette score: 0.26 </a:t>
            </a:r>
          </a:p>
          <a:p>
            <a:pPr marL="285750" indent="-285750">
              <a:lnSpc>
                <a:spcPct val="150000"/>
              </a:lnSpc>
              <a:buFont typeface="Arial" panose="020B0604020202020204" pitchFamily="34" charset="0"/>
              <a:buChar char="•"/>
            </a:pPr>
            <a:r>
              <a:rPr lang="en-GB" dirty="0"/>
              <a:t>Weak clustering </a:t>
            </a:r>
          </a:p>
          <a:p>
            <a:pPr>
              <a:lnSpc>
                <a:spcPct val="150000"/>
              </a:lnSpc>
            </a:pPr>
            <a:r>
              <a:rPr lang="en-GB" b="1" dirty="0"/>
              <a:t>DBSCAN</a:t>
            </a:r>
            <a:endParaRPr lang="en-GB" dirty="0"/>
          </a:p>
          <a:p>
            <a:pPr marL="285750" indent="-285750">
              <a:lnSpc>
                <a:spcPct val="150000"/>
              </a:lnSpc>
              <a:buFont typeface="Arial" panose="020B0604020202020204" pitchFamily="34" charset="0"/>
              <a:buChar char="•"/>
            </a:pPr>
            <a:r>
              <a:rPr lang="en-GB" dirty="0"/>
              <a:t>Silhouette score: 0.74 </a:t>
            </a:r>
          </a:p>
          <a:p>
            <a:pPr marL="285750" indent="-285750">
              <a:lnSpc>
                <a:spcPct val="150000"/>
              </a:lnSpc>
              <a:buFont typeface="Arial" panose="020B0604020202020204" pitchFamily="34" charset="0"/>
              <a:buChar char="•"/>
            </a:pPr>
            <a:r>
              <a:rPr lang="en-GB" dirty="0"/>
              <a:t>Strong clustering </a:t>
            </a:r>
          </a:p>
          <a:p>
            <a:pPr>
              <a:lnSpc>
                <a:spcPct val="150000"/>
              </a:lnSpc>
            </a:pPr>
            <a:r>
              <a:rPr lang="en-GB" dirty="0"/>
              <a:t>DBSCAN performs better for this task.</a:t>
            </a:r>
          </a:p>
        </p:txBody>
      </p:sp>
    </p:spTree>
    <p:extLst>
      <p:ext uri="{BB962C8B-B14F-4D97-AF65-F5344CB8AC3E}">
        <p14:creationId xmlns:p14="http://schemas.microsoft.com/office/powerpoint/2010/main" val="2169333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50D02-FCCD-4CB1-4F51-3FD963DF6EB5}"/>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08C50DFA-EB27-570B-70FB-D37877075A84}"/>
              </a:ext>
            </a:extLst>
          </p:cNvPr>
          <p:cNvSpPr>
            <a:spLocks noGrp="1"/>
          </p:cNvSpPr>
          <p:nvPr>
            <p:ph type="title"/>
          </p:nvPr>
        </p:nvSpPr>
        <p:spPr>
          <a:xfrm>
            <a:off x="2165378" y="64424"/>
            <a:ext cx="8085644" cy="727796"/>
          </a:xfrm>
        </p:spPr>
        <p:txBody>
          <a:bodyPr>
            <a:noAutofit/>
          </a:bodyPr>
          <a:lstStyle/>
          <a:p>
            <a:pPr algn="ctr"/>
            <a:r>
              <a:rPr lang="en-GB" b="1" dirty="0" err="1"/>
              <a:t>KMeans</a:t>
            </a:r>
            <a:r>
              <a:rPr lang="en-GB" b="1" dirty="0"/>
              <a:t> Clusters</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59951E17-3691-D435-B2F2-452D805D8D36}"/>
              </a:ext>
            </a:extLst>
          </p:cNvPr>
          <p:cNvSpPr>
            <a:spLocks noGrp="1"/>
          </p:cNvSpPr>
          <p:nvPr>
            <p:ph type="sldNum" sz="quarter" idx="12"/>
          </p:nvPr>
        </p:nvSpPr>
        <p:spPr/>
        <p:txBody>
          <a:bodyPr/>
          <a:lstStyle/>
          <a:p>
            <a:fld id="{CB4D3031-0AEB-4687-8E23-04446010D3FF}" type="slidenum">
              <a:rPr lang="en-US" smtClean="0"/>
              <a:t>16</a:t>
            </a:fld>
            <a:endParaRPr lang="en-US" dirty="0"/>
          </a:p>
        </p:txBody>
      </p:sp>
      <p:sp>
        <p:nvSpPr>
          <p:cNvPr id="2" name="TextBox 1">
            <a:extLst>
              <a:ext uri="{FF2B5EF4-FFF2-40B4-BE49-F238E27FC236}">
                <a16:creationId xmlns:a16="http://schemas.microsoft.com/office/drawing/2014/main" id="{85660DA7-E4EB-0750-D0CF-E9E4C28671FA}"/>
              </a:ext>
            </a:extLst>
          </p:cNvPr>
          <p:cNvSpPr txBox="1"/>
          <p:nvPr/>
        </p:nvSpPr>
        <p:spPr>
          <a:xfrm>
            <a:off x="7216727" y="2345782"/>
            <a:ext cx="4839285"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This graph shows how </a:t>
            </a:r>
            <a:r>
              <a:rPr lang="en-GB" dirty="0" err="1"/>
              <a:t>KMeans</a:t>
            </a:r>
            <a:r>
              <a:rPr lang="en-GB" dirty="0"/>
              <a:t> groups locations into clusters based on their coordinates. The numbers like 0, 1, 2, and 3 represent different cluster groups, not crime levels. The values on the axes such as 0, -1, and -2 represent longitude and latitude coordinates. Each colour shows a group of nearby locations, but the model does not clearly separate very high-crime areas.</a:t>
            </a:r>
          </a:p>
        </p:txBody>
      </p:sp>
      <p:pic>
        <p:nvPicPr>
          <p:cNvPr id="8194" name="Picture 2">
            <a:extLst>
              <a:ext uri="{FF2B5EF4-FFF2-40B4-BE49-F238E27FC236}">
                <a16:creationId xmlns:a16="http://schemas.microsoft.com/office/drawing/2014/main" id="{0D9541E3-EEE3-68C1-CF64-3DA1903CC5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864" y="1649896"/>
            <a:ext cx="6825591" cy="4502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88530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2B322-2957-3358-C6EB-9E8D7DDED565}"/>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9C8B1883-AB66-1B65-70B8-E0F8B756E495}"/>
              </a:ext>
            </a:extLst>
          </p:cNvPr>
          <p:cNvSpPr>
            <a:spLocks noGrp="1"/>
          </p:cNvSpPr>
          <p:nvPr>
            <p:ph type="title"/>
          </p:nvPr>
        </p:nvSpPr>
        <p:spPr>
          <a:xfrm>
            <a:off x="2177473" y="282138"/>
            <a:ext cx="8085644" cy="727796"/>
          </a:xfrm>
        </p:spPr>
        <p:txBody>
          <a:bodyPr>
            <a:noAutofit/>
          </a:bodyPr>
          <a:lstStyle/>
          <a:p>
            <a:pPr algn="ctr"/>
            <a:r>
              <a:rPr lang="en-GB" b="1" dirty="0"/>
              <a:t>DBSCAN Hotspots</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85B73F62-8234-819A-7E8B-A9E898AC2D2E}"/>
              </a:ext>
            </a:extLst>
          </p:cNvPr>
          <p:cNvSpPr>
            <a:spLocks noGrp="1"/>
          </p:cNvSpPr>
          <p:nvPr>
            <p:ph type="sldNum" sz="quarter" idx="12"/>
          </p:nvPr>
        </p:nvSpPr>
        <p:spPr/>
        <p:txBody>
          <a:bodyPr/>
          <a:lstStyle/>
          <a:p>
            <a:fld id="{CB4D3031-0AEB-4687-8E23-04446010D3FF}" type="slidenum">
              <a:rPr lang="en-US" smtClean="0"/>
              <a:t>17</a:t>
            </a:fld>
            <a:endParaRPr lang="en-US"/>
          </a:p>
        </p:txBody>
      </p:sp>
      <p:sp>
        <p:nvSpPr>
          <p:cNvPr id="2" name="TextBox 1">
            <a:extLst>
              <a:ext uri="{FF2B5EF4-FFF2-40B4-BE49-F238E27FC236}">
                <a16:creationId xmlns:a16="http://schemas.microsoft.com/office/drawing/2014/main" id="{EF047E84-6682-1F7B-BC12-5035CD9376F9}"/>
              </a:ext>
            </a:extLst>
          </p:cNvPr>
          <p:cNvSpPr txBox="1"/>
          <p:nvPr/>
        </p:nvSpPr>
        <p:spPr>
          <a:xfrm>
            <a:off x="7984364" y="1361660"/>
            <a:ext cx="4136572"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This graph shows crime intensity for each DBSCAN cluster using a boxplot. The numbers (-1, 0, 1, 2) represent different clusters, where </a:t>
            </a:r>
          </a:p>
          <a:p>
            <a:r>
              <a:rPr lang="en-GB" dirty="0"/>
              <a:t>-1 indicates outliers that do not belong to any cluster. The box shows the middle range of data, and the line inside it is the median crime count. The whiskers show the normal spread of values, while the small circles outside the whiskers are outliers. These outliers represent unusual crime counts that are much higher or lower than typical values. One cluster clearly shows very high crime levels, which helps identify strong crime hotspots.</a:t>
            </a:r>
          </a:p>
        </p:txBody>
      </p:sp>
      <p:pic>
        <p:nvPicPr>
          <p:cNvPr id="9218" name="Picture 2">
            <a:extLst>
              <a:ext uri="{FF2B5EF4-FFF2-40B4-BE49-F238E27FC236}">
                <a16:creationId xmlns:a16="http://schemas.microsoft.com/office/drawing/2014/main" id="{F14E4700-C8B8-DC2A-F3C2-0AE9864A8C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2442" y="1361660"/>
            <a:ext cx="7011922" cy="4512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1111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1E412-8D13-6772-F30A-0C1938F0DA03}"/>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985101D6-9C84-266B-4A6F-6D35A45FDFE6}"/>
              </a:ext>
            </a:extLst>
          </p:cNvPr>
          <p:cNvSpPr>
            <a:spLocks noGrp="1"/>
          </p:cNvSpPr>
          <p:nvPr>
            <p:ph type="title"/>
          </p:nvPr>
        </p:nvSpPr>
        <p:spPr>
          <a:xfrm>
            <a:off x="2155439" y="532199"/>
            <a:ext cx="8085644" cy="727796"/>
          </a:xfrm>
        </p:spPr>
        <p:txBody>
          <a:bodyPr>
            <a:noAutofit/>
          </a:bodyPr>
          <a:lstStyle/>
          <a:p>
            <a:pPr algn="ctr"/>
            <a:r>
              <a:rPr lang="en-GB" b="1" dirty="0"/>
              <a:t>Crime Prediction Models (RQ2)</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FC47E769-47E4-A5C5-5E22-83D73B74060A}"/>
              </a:ext>
            </a:extLst>
          </p:cNvPr>
          <p:cNvSpPr>
            <a:spLocks noGrp="1"/>
          </p:cNvSpPr>
          <p:nvPr>
            <p:ph type="sldNum" sz="quarter" idx="12"/>
          </p:nvPr>
        </p:nvSpPr>
        <p:spPr/>
        <p:txBody>
          <a:bodyPr/>
          <a:lstStyle/>
          <a:p>
            <a:fld id="{CB4D3031-0AEB-4687-8E23-04446010D3FF}" type="slidenum">
              <a:rPr lang="en-US" smtClean="0"/>
              <a:t>18</a:t>
            </a:fld>
            <a:endParaRPr lang="en-US"/>
          </a:p>
        </p:txBody>
      </p:sp>
      <p:sp>
        <p:nvSpPr>
          <p:cNvPr id="2" name="TextBox 1">
            <a:extLst>
              <a:ext uri="{FF2B5EF4-FFF2-40B4-BE49-F238E27FC236}">
                <a16:creationId xmlns:a16="http://schemas.microsoft.com/office/drawing/2014/main" id="{21E3A8FF-EA85-6049-14C6-94FDD2536376}"/>
              </a:ext>
            </a:extLst>
          </p:cNvPr>
          <p:cNvSpPr txBox="1"/>
          <p:nvPr/>
        </p:nvSpPr>
        <p:spPr>
          <a:xfrm>
            <a:off x="2730631" y="1874605"/>
            <a:ext cx="6701603" cy="21171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GB" dirty="0"/>
              <a:t>Two models were used:</a:t>
            </a:r>
          </a:p>
          <a:p>
            <a:pPr marL="285750" indent="-285750">
              <a:lnSpc>
                <a:spcPct val="150000"/>
              </a:lnSpc>
              <a:buFont typeface="Arial" panose="020B0604020202020204" pitchFamily="34" charset="0"/>
              <a:buChar char="•"/>
            </a:pPr>
            <a:r>
              <a:rPr lang="en-GB" dirty="0"/>
              <a:t>Linear Regression </a:t>
            </a:r>
          </a:p>
          <a:p>
            <a:pPr marL="285750" indent="-285750">
              <a:lnSpc>
                <a:spcPct val="150000"/>
              </a:lnSpc>
              <a:buFont typeface="Arial" panose="020B0604020202020204" pitchFamily="34" charset="0"/>
              <a:buChar char="•"/>
            </a:pPr>
            <a:r>
              <a:rPr lang="en-GB" dirty="0"/>
              <a:t>Random Forest </a:t>
            </a:r>
          </a:p>
          <a:p>
            <a:pPr>
              <a:lnSpc>
                <a:spcPct val="150000"/>
              </a:lnSpc>
            </a:pPr>
            <a:r>
              <a:rPr lang="en-GB" dirty="0"/>
              <a:t>The goal is to predict crime for the next month and for a specific region.</a:t>
            </a:r>
          </a:p>
        </p:txBody>
      </p:sp>
    </p:spTree>
    <p:extLst>
      <p:ext uri="{BB962C8B-B14F-4D97-AF65-F5344CB8AC3E}">
        <p14:creationId xmlns:p14="http://schemas.microsoft.com/office/powerpoint/2010/main" val="2254580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D8379-B52D-256D-2ACB-67C1D50DE380}"/>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B1FDE795-1EDA-57FA-FFC5-C61617ECDD2B}"/>
              </a:ext>
            </a:extLst>
          </p:cNvPr>
          <p:cNvSpPr>
            <a:spLocks noGrp="1"/>
          </p:cNvSpPr>
          <p:nvPr>
            <p:ph type="title"/>
          </p:nvPr>
        </p:nvSpPr>
        <p:spPr>
          <a:xfrm>
            <a:off x="2177473" y="282138"/>
            <a:ext cx="8085644" cy="727796"/>
          </a:xfrm>
        </p:spPr>
        <p:txBody>
          <a:bodyPr>
            <a:noAutofit/>
          </a:bodyPr>
          <a:lstStyle/>
          <a:p>
            <a:pPr algn="ctr"/>
            <a:r>
              <a:rPr lang="en-GB" b="1" dirty="0"/>
              <a:t>Model Performance</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84B640AE-EFE3-56D5-EE49-22E887A1DB0B}"/>
              </a:ext>
            </a:extLst>
          </p:cNvPr>
          <p:cNvSpPr>
            <a:spLocks noGrp="1"/>
          </p:cNvSpPr>
          <p:nvPr>
            <p:ph type="sldNum" sz="quarter" idx="12"/>
          </p:nvPr>
        </p:nvSpPr>
        <p:spPr/>
        <p:txBody>
          <a:bodyPr/>
          <a:lstStyle/>
          <a:p>
            <a:fld id="{CB4D3031-0AEB-4687-8E23-04446010D3FF}" type="slidenum">
              <a:rPr lang="en-US" smtClean="0"/>
              <a:t>19</a:t>
            </a:fld>
            <a:endParaRPr lang="en-US"/>
          </a:p>
        </p:txBody>
      </p:sp>
      <p:sp>
        <p:nvSpPr>
          <p:cNvPr id="9" name="TextBox 8">
            <a:extLst>
              <a:ext uri="{FF2B5EF4-FFF2-40B4-BE49-F238E27FC236}">
                <a16:creationId xmlns:a16="http://schemas.microsoft.com/office/drawing/2014/main" id="{2744178E-E61D-6D7D-479A-457721707FB8}"/>
              </a:ext>
            </a:extLst>
          </p:cNvPr>
          <p:cNvSpPr txBox="1"/>
          <p:nvPr/>
        </p:nvSpPr>
        <p:spPr>
          <a:xfrm>
            <a:off x="4001765" y="2016441"/>
            <a:ext cx="4188469" cy="3363678"/>
          </a:xfrm>
          <a:prstGeom prst="rect">
            <a:avLst/>
          </a:prstGeom>
          <a:noFill/>
        </p:spPr>
        <p:txBody>
          <a:bodyPr wrap="square" lIns="91440" tIns="45720" rIns="91440" bIns="45720" anchor="t">
            <a:spAutoFit/>
          </a:bodyPr>
          <a:lstStyle/>
          <a:p>
            <a:pPr>
              <a:lnSpc>
                <a:spcPct val="150000"/>
              </a:lnSpc>
            </a:pPr>
            <a:r>
              <a:rPr lang="en-GB" dirty="0"/>
              <a:t>Linear Regression:</a:t>
            </a:r>
          </a:p>
          <a:p>
            <a:pPr marL="285750" indent="-285750">
              <a:lnSpc>
                <a:spcPct val="150000"/>
              </a:lnSpc>
              <a:buFont typeface="Arial" panose="020B0604020202020204" pitchFamily="34" charset="0"/>
              <a:buChar char="•"/>
            </a:pPr>
            <a:r>
              <a:rPr lang="en-GB" dirty="0"/>
              <a:t>RMSE: 5.35 </a:t>
            </a:r>
          </a:p>
          <a:p>
            <a:pPr>
              <a:lnSpc>
                <a:spcPct val="150000"/>
              </a:lnSpc>
            </a:pPr>
            <a:r>
              <a:rPr lang="en-GB" dirty="0"/>
              <a:t>Random Forest:</a:t>
            </a:r>
          </a:p>
          <a:p>
            <a:pPr marL="285750" indent="-285750">
              <a:lnSpc>
                <a:spcPct val="150000"/>
              </a:lnSpc>
              <a:buFont typeface="Arial" panose="020B0604020202020204" pitchFamily="34" charset="0"/>
              <a:buChar char="•"/>
            </a:pPr>
            <a:r>
              <a:rPr lang="en-GB" dirty="0"/>
              <a:t>RMSE: 4.84 </a:t>
            </a:r>
          </a:p>
          <a:p>
            <a:pPr>
              <a:lnSpc>
                <a:spcPct val="150000"/>
              </a:lnSpc>
            </a:pPr>
            <a:endParaRPr lang="en-GB" dirty="0"/>
          </a:p>
          <a:p>
            <a:pPr>
              <a:lnSpc>
                <a:spcPct val="150000"/>
              </a:lnSpc>
            </a:pPr>
            <a:r>
              <a:rPr lang="en-GB" b="1" dirty="0"/>
              <a:t>Random Forest performs better because it handles complex patterns.</a:t>
            </a:r>
          </a:p>
        </p:txBody>
      </p:sp>
    </p:spTree>
    <p:extLst>
      <p:ext uri="{BB962C8B-B14F-4D97-AF65-F5344CB8AC3E}">
        <p14:creationId xmlns:p14="http://schemas.microsoft.com/office/powerpoint/2010/main" val="38090223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Title 1"/>
          <p:cNvSpPr>
            <a:spLocks noGrp="1"/>
          </p:cNvSpPr>
          <p:nvPr>
            <p:ph type="title"/>
          </p:nvPr>
        </p:nvSpPr>
        <p:spPr>
          <a:xfrm>
            <a:off x="3754221" y="65932"/>
            <a:ext cx="4683557" cy="784075"/>
          </a:xfrm>
        </p:spPr>
        <p:txBody>
          <a:bodyPr>
            <a:normAutofit fontScale="90000"/>
          </a:bodyPr>
          <a:lstStyle/>
          <a:p>
            <a:pPr algn="ctr"/>
            <a:r>
              <a:rPr lang="en-GB" sz="4000" b="1" dirty="0"/>
              <a:t>Actual vs Predicted</a:t>
            </a:r>
            <a:endParaRPr lang="en-US" sz="4000" b="1" dirty="0">
              <a:latin typeface="Times New Roman" panose="02020603050405020304" pitchFamily="18" charset="0"/>
              <a:cs typeface="Times New Roman" panose="02020603050405020304" pitchFamily="18" charset="0"/>
            </a:endParaRPr>
          </a:p>
        </p:txBody>
      </p:sp>
      <p:sp>
        <p:nvSpPr>
          <p:cNvPr id="1048629" name="Content Placeholder 2"/>
          <p:cNvSpPr>
            <a:spLocks noGrp="1"/>
          </p:cNvSpPr>
          <p:nvPr>
            <p:ph idx="1"/>
          </p:nvPr>
        </p:nvSpPr>
        <p:spPr>
          <a:xfrm>
            <a:off x="1543987" y="5652052"/>
            <a:ext cx="10148341" cy="1205948"/>
          </a:xfrm>
        </p:spPr>
        <p:txBody>
          <a:bodyPr>
            <a:normAutofit fontScale="99167" lnSpcReduction="10000"/>
          </a:bodyPr>
          <a:lstStyle/>
          <a:p>
            <a:pPr marL="0" indent="0">
              <a:buNone/>
            </a:pPr>
            <a:r>
              <a:rPr lang="en-GB" sz="2000" dirty="0"/>
              <a:t>This graph compares actual crime counts with predicted values. The red line represents perfect predictions. Most points lie close to this line, which shows the model is performing well. A few points further away indicate some prediction errors, especially at higher crime values.</a:t>
            </a:r>
          </a:p>
        </p:txBody>
      </p:sp>
      <p:sp>
        <p:nvSpPr>
          <p:cNvPr id="3" name="Slide Number Placeholder 2"/>
          <p:cNvSpPr>
            <a:spLocks noGrp="1"/>
          </p:cNvSpPr>
          <p:nvPr>
            <p:ph type="sldNum" sz="quarter" idx="12"/>
          </p:nvPr>
        </p:nvSpPr>
        <p:spPr/>
        <p:txBody>
          <a:bodyPr/>
          <a:lstStyle/>
          <a:p>
            <a:fld id="{CB4D3031-0AEB-4687-8E23-04446010D3FF}" type="slidenum">
              <a:rPr lang="en-US" smtClean="0"/>
              <a:t>20</a:t>
            </a:fld>
            <a:endParaRPr lang="en-US"/>
          </a:p>
        </p:txBody>
      </p:sp>
      <p:pic>
        <p:nvPicPr>
          <p:cNvPr id="1026" name="Picture 2">
            <a:extLst>
              <a:ext uri="{FF2B5EF4-FFF2-40B4-BE49-F238E27FC236}">
                <a16:creationId xmlns:a16="http://schemas.microsoft.com/office/drawing/2014/main" id="{3BF853B0-D534-1749-2089-E5CC6ECE51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3279" y="729303"/>
            <a:ext cx="6254854" cy="4922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3816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Title 1"/>
          <p:cNvSpPr>
            <a:spLocks noGrp="1"/>
          </p:cNvSpPr>
          <p:nvPr>
            <p:ph type="title"/>
          </p:nvPr>
        </p:nvSpPr>
        <p:spPr>
          <a:xfrm>
            <a:off x="2975126" y="652535"/>
            <a:ext cx="6987655" cy="635618"/>
          </a:xfrm>
        </p:spPr>
        <p:txBody>
          <a:bodyPr>
            <a:noAutofit/>
          </a:bodyPr>
          <a:lstStyle/>
          <a:p>
            <a:pPr algn="ctr"/>
            <a:r>
              <a:rPr lang="en-GB" sz="3200" b="1" dirty="0"/>
              <a:t>Overfitting Analysis</a:t>
            </a:r>
            <a:endParaRPr lang="en-GB" sz="3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CB4D3031-0AEB-4687-8E23-04446010D3FF}" type="slidenum">
              <a:rPr lang="en-US" smtClean="0"/>
              <a:t>21</a:t>
            </a:fld>
            <a:endParaRPr lang="en-US"/>
          </a:p>
        </p:txBody>
      </p:sp>
      <p:sp>
        <p:nvSpPr>
          <p:cNvPr id="6" name="TextBox 5">
            <a:extLst>
              <a:ext uri="{FF2B5EF4-FFF2-40B4-BE49-F238E27FC236}">
                <a16:creationId xmlns:a16="http://schemas.microsoft.com/office/drawing/2014/main" id="{0463A953-F595-1C09-ACFE-70EB514180F2}"/>
              </a:ext>
            </a:extLst>
          </p:cNvPr>
          <p:cNvSpPr txBox="1"/>
          <p:nvPr/>
        </p:nvSpPr>
        <p:spPr>
          <a:xfrm>
            <a:off x="3561048" y="3129304"/>
            <a:ext cx="6987655" cy="1701684"/>
          </a:xfrm>
          <a:prstGeom prst="rect">
            <a:avLst/>
          </a:prstGeom>
          <a:noFill/>
        </p:spPr>
        <p:txBody>
          <a:bodyPr wrap="square">
            <a:spAutoFit/>
          </a:bodyPr>
          <a:lstStyle/>
          <a:p>
            <a:pPr>
              <a:lnSpc>
                <a:spcPct val="150000"/>
              </a:lnSpc>
            </a:pPr>
            <a:r>
              <a:rPr lang="en-GB" dirty="0"/>
              <a:t>Train RMSE: 1.83</a:t>
            </a:r>
            <a:br>
              <a:rPr lang="en-GB" dirty="0"/>
            </a:br>
            <a:r>
              <a:rPr lang="en-GB" dirty="0"/>
              <a:t>Test RMSE: 4.84</a:t>
            </a:r>
          </a:p>
          <a:p>
            <a:pPr>
              <a:lnSpc>
                <a:spcPct val="150000"/>
              </a:lnSpc>
            </a:pPr>
            <a:r>
              <a:rPr lang="en-GB" dirty="0"/>
              <a:t>The model performs much better on training data.</a:t>
            </a:r>
            <a:br>
              <a:rPr lang="en-GB" dirty="0"/>
            </a:br>
            <a:r>
              <a:rPr lang="en-GB" dirty="0"/>
              <a:t>This shows overfitting.</a:t>
            </a:r>
          </a:p>
        </p:txBody>
      </p:sp>
    </p:spTree>
    <p:extLst>
      <p:ext uri="{BB962C8B-B14F-4D97-AF65-F5344CB8AC3E}">
        <p14:creationId xmlns:p14="http://schemas.microsoft.com/office/powerpoint/2010/main" val="11681760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136E7-CDF7-B0C1-13D8-3725112DF0AC}"/>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BDB46876-6BBC-23FB-A67C-BF5EC0D27C5E}"/>
              </a:ext>
            </a:extLst>
          </p:cNvPr>
          <p:cNvSpPr>
            <a:spLocks noGrp="1"/>
          </p:cNvSpPr>
          <p:nvPr>
            <p:ph type="title"/>
          </p:nvPr>
        </p:nvSpPr>
        <p:spPr>
          <a:xfrm>
            <a:off x="2177473" y="-2190"/>
            <a:ext cx="9068282" cy="870769"/>
          </a:xfrm>
        </p:spPr>
        <p:txBody>
          <a:bodyPr>
            <a:noAutofit/>
          </a:bodyPr>
          <a:lstStyle/>
          <a:p>
            <a:pPr algn="ctr"/>
            <a:r>
              <a:rPr lang="en-GB" dirty="0"/>
              <a:t>Regularisation</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198783FB-BB96-6C58-3E05-E5B2D4EEA846}"/>
              </a:ext>
            </a:extLst>
          </p:cNvPr>
          <p:cNvSpPr>
            <a:spLocks noGrp="1"/>
          </p:cNvSpPr>
          <p:nvPr>
            <p:ph type="sldNum" sz="quarter" idx="12"/>
          </p:nvPr>
        </p:nvSpPr>
        <p:spPr/>
        <p:txBody>
          <a:bodyPr/>
          <a:lstStyle/>
          <a:p>
            <a:fld id="{CB4D3031-0AEB-4687-8E23-04446010D3FF}" type="slidenum">
              <a:rPr lang="en-US" smtClean="0"/>
              <a:t>22</a:t>
            </a:fld>
            <a:endParaRPr lang="en-US"/>
          </a:p>
        </p:txBody>
      </p:sp>
      <p:sp>
        <p:nvSpPr>
          <p:cNvPr id="9" name="TextBox 8">
            <a:extLst>
              <a:ext uri="{FF2B5EF4-FFF2-40B4-BE49-F238E27FC236}">
                <a16:creationId xmlns:a16="http://schemas.microsoft.com/office/drawing/2014/main" id="{9F7B0C50-6CE6-F279-4B6F-2E9FA49E4E3E}"/>
              </a:ext>
            </a:extLst>
          </p:cNvPr>
          <p:cNvSpPr txBox="1"/>
          <p:nvPr/>
        </p:nvSpPr>
        <p:spPr>
          <a:xfrm>
            <a:off x="3627147" y="708133"/>
            <a:ext cx="7107113" cy="1477328"/>
          </a:xfrm>
          <a:prstGeom prst="rect">
            <a:avLst/>
          </a:prstGeom>
          <a:noFill/>
        </p:spPr>
        <p:txBody>
          <a:bodyPr wrap="square" lIns="91440" tIns="45720" rIns="91440" bIns="45720" anchor="t">
            <a:spAutoFit/>
          </a:bodyPr>
          <a:lstStyle/>
          <a:p>
            <a:r>
              <a:rPr lang="en-GB" dirty="0"/>
              <a:t>After limiting model complexity:</a:t>
            </a:r>
          </a:p>
          <a:p>
            <a:r>
              <a:rPr lang="en-GB" dirty="0"/>
              <a:t>Train RMSE: 3.98</a:t>
            </a:r>
            <a:br>
              <a:rPr lang="en-GB" dirty="0"/>
            </a:br>
            <a:r>
              <a:rPr lang="en-GB" dirty="0"/>
              <a:t>Test RMSE: 4.85</a:t>
            </a:r>
          </a:p>
          <a:p>
            <a:r>
              <a:rPr lang="en-GB" dirty="0"/>
              <a:t>The gap between train and test reduces.</a:t>
            </a:r>
            <a:br>
              <a:rPr lang="en-GB" dirty="0"/>
            </a:br>
            <a:r>
              <a:rPr lang="en-GB" dirty="0"/>
              <a:t>This improves generalisation.</a:t>
            </a:r>
          </a:p>
        </p:txBody>
      </p:sp>
      <p:pic>
        <p:nvPicPr>
          <p:cNvPr id="4" name="Picture 2">
            <a:extLst>
              <a:ext uri="{FF2B5EF4-FFF2-40B4-BE49-F238E27FC236}">
                <a16:creationId xmlns:a16="http://schemas.microsoft.com/office/drawing/2014/main" id="{63F1F008-FF97-C5C5-F9CD-4981D936AD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9854" y="2185461"/>
            <a:ext cx="6932292" cy="4551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3708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35C94-69F4-E3C5-757E-87725A8C695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6A32A19-FCA3-1044-8AB1-49E3C4C70AFE}"/>
              </a:ext>
            </a:extLst>
          </p:cNvPr>
          <p:cNvSpPr>
            <a:spLocks noGrp="1"/>
          </p:cNvSpPr>
          <p:nvPr>
            <p:ph type="sldNum" sz="quarter" idx="12"/>
          </p:nvPr>
        </p:nvSpPr>
        <p:spPr/>
        <p:txBody>
          <a:bodyPr/>
          <a:lstStyle/>
          <a:p>
            <a:fld id="{CB4D3031-0AEB-4687-8E23-04446010D3FF}" type="slidenum">
              <a:rPr lang="en-US" smtClean="0"/>
              <a:t>23</a:t>
            </a:fld>
            <a:endParaRPr lang="en-US"/>
          </a:p>
        </p:txBody>
      </p:sp>
      <p:sp>
        <p:nvSpPr>
          <p:cNvPr id="5" name="TextBox 4">
            <a:extLst>
              <a:ext uri="{FF2B5EF4-FFF2-40B4-BE49-F238E27FC236}">
                <a16:creationId xmlns:a16="http://schemas.microsoft.com/office/drawing/2014/main" id="{3996ED47-A7F6-80CA-AC40-EBA2FB0FE212}"/>
              </a:ext>
            </a:extLst>
          </p:cNvPr>
          <p:cNvSpPr txBox="1"/>
          <p:nvPr/>
        </p:nvSpPr>
        <p:spPr>
          <a:xfrm>
            <a:off x="7854593" y="2264352"/>
            <a:ext cx="4745180" cy="1754326"/>
          </a:xfrm>
          <a:prstGeom prst="rect">
            <a:avLst/>
          </a:prstGeom>
          <a:noFill/>
        </p:spPr>
        <p:txBody>
          <a:bodyPr wrap="square" lIns="91440" tIns="45720" rIns="91440" bIns="45720" anchor="t">
            <a:spAutoFit/>
          </a:bodyPr>
          <a:lstStyle/>
          <a:p>
            <a:r>
              <a:rPr lang="en-GB" dirty="0"/>
              <a:t>Top features:</a:t>
            </a:r>
          </a:p>
          <a:p>
            <a:r>
              <a:rPr lang="en-GB" dirty="0"/>
              <a:t>Previous crime (lag1) </a:t>
            </a:r>
          </a:p>
          <a:p>
            <a:r>
              <a:rPr lang="en-GB" dirty="0"/>
              <a:t>Dominant crime type </a:t>
            </a:r>
          </a:p>
          <a:p>
            <a:r>
              <a:rPr lang="en-GB" dirty="0"/>
              <a:t>Location </a:t>
            </a:r>
          </a:p>
          <a:p>
            <a:r>
              <a:rPr lang="en-GB" dirty="0"/>
              <a:t>Previous crime is the most important factor.</a:t>
            </a:r>
          </a:p>
        </p:txBody>
      </p:sp>
      <p:sp>
        <p:nvSpPr>
          <p:cNvPr id="8" name="Title 1">
            <a:extLst>
              <a:ext uri="{FF2B5EF4-FFF2-40B4-BE49-F238E27FC236}">
                <a16:creationId xmlns:a16="http://schemas.microsoft.com/office/drawing/2014/main" id="{30F857BF-6596-B37A-3290-6ADBD6C189DB}"/>
              </a:ext>
            </a:extLst>
          </p:cNvPr>
          <p:cNvSpPr>
            <a:spLocks noGrp="1"/>
          </p:cNvSpPr>
          <p:nvPr>
            <p:ph type="title"/>
          </p:nvPr>
        </p:nvSpPr>
        <p:spPr>
          <a:xfrm>
            <a:off x="1545771" y="282138"/>
            <a:ext cx="10331054" cy="483722"/>
          </a:xfrm>
        </p:spPr>
        <p:txBody>
          <a:bodyPr>
            <a:noAutofit/>
          </a:bodyPr>
          <a:lstStyle/>
          <a:p>
            <a:r>
              <a:rPr lang="en-GB" sz="3200" b="1" dirty="0"/>
              <a:t>Feature Importance (RQ3)</a:t>
            </a:r>
          </a:p>
        </p:txBody>
      </p:sp>
      <p:pic>
        <p:nvPicPr>
          <p:cNvPr id="12290" name="Picture 2">
            <a:extLst>
              <a:ext uri="{FF2B5EF4-FFF2-40B4-BE49-F238E27FC236}">
                <a16:creationId xmlns:a16="http://schemas.microsoft.com/office/drawing/2014/main" id="{D4800AA6-5787-DA23-8D04-A6D83924A5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812" y="1405968"/>
            <a:ext cx="7130521" cy="5225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64214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E2A21-15BC-D427-5706-EE4091531C0E}"/>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701AE77A-D651-CEBD-945C-195230B36BF9}"/>
              </a:ext>
            </a:extLst>
          </p:cNvPr>
          <p:cNvSpPr>
            <a:spLocks noGrp="1"/>
          </p:cNvSpPr>
          <p:nvPr>
            <p:ph type="title"/>
          </p:nvPr>
        </p:nvSpPr>
        <p:spPr>
          <a:xfrm>
            <a:off x="1545771" y="100168"/>
            <a:ext cx="10331054" cy="870769"/>
          </a:xfrm>
        </p:spPr>
        <p:txBody>
          <a:bodyPr>
            <a:noAutofit/>
          </a:bodyPr>
          <a:lstStyle/>
          <a:p>
            <a:pPr algn="ctr"/>
            <a:r>
              <a:rPr lang="en-GB" b="1" dirty="0"/>
              <a:t>SHAP Analysis</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C0A55828-8AD5-5AEE-5437-B1507376F025}"/>
              </a:ext>
            </a:extLst>
          </p:cNvPr>
          <p:cNvSpPr>
            <a:spLocks noGrp="1"/>
          </p:cNvSpPr>
          <p:nvPr>
            <p:ph type="sldNum" sz="quarter" idx="12"/>
          </p:nvPr>
        </p:nvSpPr>
        <p:spPr/>
        <p:txBody>
          <a:bodyPr/>
          <a:lstStyle/>
          <a:p>
            <a:fld id="{CB4D3031-0AEB-4687-8E23-04446010D3FF}" type="slidenum">
              <a:rPr lang="en-US" smtClean="0"/>
              <a:t>24</a:t>
            </a:fld>
            <a:endParaRPr lang="en-US"/>
          </a:p>
        </p:txBody>
      </p:sp>
      <p:pic>
        <p:nvPicPr>
          <p:cNvPr id="13314" name="Picture 2">
            <a:extLst>
              <a:ext uri="{FF2B5EF4-FFF2-40B4-BE49-F238E27FC236}">
                <a16:creationId xmlns:a16="http://schemas.microsoft.com/office/drawing/2014/main" id="{58C19CF2-705D-E6C1-85C1-8DEFE5EB39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134" y="2579816"/>
            <a:ext cx="5202083" cy="2306008"/>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a:extLst>
              <a:ext uri="{FF2B5EF4-FFF2-40B4-BE49-F238E27FC236}">
                <a16:creationId xmlns:a16="http://schemas.microsoft.com/office/drawing/2014/main" id="{5B531E56-0C2F-2D65-0898-74364BA154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3076" y="2436440"/>
            <a:ext cx="5691216" cy="244938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B98DADB-BB07-9A02-3412-CE29AD70CB1B}"/>
              </a:ext>
            </a:extLst>
          </p:cNvPr>
          <p:cNvSpPr txBox="1"/>
          <p:nvPr/>
        </p:nvSpPr>
        <p:spPr>
          <a:xfrm>
            <a:off x="1180476" y="5297070"/>
            <a:ext cx="10813816" cy="1200329"/>
          </a:xfrm>
          <a:prstGeom prst="rect">
            <a:avLst/>
          </a:prstGeom>
          <a:noFill/>
        </p:spPr>
        <p:txBody>
          <a:bodyPr wrap="square">
            <a:spAutoFit/>
          </a:bodyPr>
          <a:lstStyle/>
          <a:p>
            <a:pPr>
              <a:buNone/>
            </a:pPr>
            <a:r>
              <a:rPr lang="en-GB" dirty="0"/>
              <a:t>This figure shows SHAP analysis using two plots. The left plot shows how each feature affects individual predictions, while the right plot shows overall feature importance. It is clear that dominant crime type and past crime (lag1) have the highest impact on predictions, while location features have a smaller effect.</a:t>
            </a:r>
          </a:p>
        </p:txBody>
      </p:sp>
    </p:spTree>
    <p:extLst>
      <p:ext uri="{BB962C8B-B14F-4D97-AF65-F5344CB8AC3E}">
        <p14:creationId xmlns:p14="http://schemas.microsoft.com/office/powerpoint/2010/main" val="27522349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83F58-EA9D-DA53-BEC2-92E11E43BD69}"/>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CF87683E-9F8F-5C62-5C5F-55B8F9D559D3}"/>
              </a:ext>
            </a:extLst>
          </p:cNvPr>
          <p:cNvSpPr>
            <a:spLocks noGrp="1"/>
          </p:cNvSpPr>
          <p:nvPr>
            <p:ph type="title"/>
          </p:nvPr>
        </p:nvSpPr>
        <p:spPr>
          <a:xfrm>
            <a:off x="1172453" y="282138"/>
            <a:ext cx="10331054" cy="870769"/>
          </a:xfrm>
        </p:spPr>
        <p:txBody>
          <a:bodyPr>
            <a:noAutofit/>
          </a:bodyPr>
          <a:lstStyle/>
          <a:p>
            <a:pPr algn="ctr"/>
            <a:r>
              <a:rPr lang="en-GB" b="1" dirty="0"/>
              <a:t>Model Validation</a:t>
            </a:r>
            <a:endParaRPr lang="en-US" b="1" dirty="0"/>
          </a:p>
        </p:txBody>
      </p:sp>
      <p:sp>
        <p:nvSpPr>
          <p:cNvPr id="3" name="Slide Number Placeholder 2">
            <a:extLst>
              <a:ext uri="{FF2B5EF4-FFF2-40B4-BE49-F238E27FC236}">
                <a16:creationId xmlns:a16="http://schemas.microsoft.com/office/drawing/2014/main" id="{2DD1CDEC-CE76-3E72-63D8-D689AB5295AB}"/>
              </a:ext>
            </a:extLst>
          </p:cNvPr>
          <p:cNvSpPr>
            <a:spLocks noGrp="1"/>
          </p:cNvSpPr>
          <p:nvPr>
            <p:ph type="sldNum" sz="quarter" idx="12"/>
          </p:nvPr>
        </p:nvSpPr>
        <p:spPr/>
        <p:txBody>
          <a:bodyPr/>
          <a:lstStyle/>
          <a:p>
            <a:fld id="{CB4D3031-0AEB-4687-8E23-04446010D3FF}" type="slidenum">
              <a:rPr lang="en-US" smtClean="0"/>
              <a:t>25</a:t>
            </a:fld>
            <a:endParaRPr lang="en-US"/>
          </a:p>
        </p:txBody>
      </p:sp>
      <p:sp>
        <p:nvSpPr>
          <p:cNvPr id="9" name="TextBox 8">
            <a:extLst>
              <a:ext uri="{FF2B5EF4-FFF2-40B4-BE49-F238E27FC236}">
                <a16:creationId xmlns:a16="http://schemas.microsoft.com/office/drawing/2014/main" id="{B200E055-53EA-EF26-82B1-3B47527C698A}"/>
              </a:ext>
            </a:extLst>
          </p:cNvPr>
          <p:cNvSpPr txBox="1"/>
          <p:nvPr/>
        </p:nvSpPr>
        <p:spPr>
          <a:xfrm>
            <a:off x="1311579" y="5702643"/>
            <a:ext cx="10880421" cy="1015663"/>
          </a:xfrm>
          <a:prstGeom prst="rect">
            <a:avLst/>
          </a:prstGeom>
          <a:noFill/>
        </p:spPr>
        <p:txBody>
          <a:bodyPr wrap="square" lIns="91440" tIns="45720" rIns="91440" bIns="45720" anchor="t">
            <a:spAutoFit/>
          </a:bodyPr>
          <a:lstStyle/>
          <a:p>
            <a:r>
              <a:rPr lang="en-GB" sz="2000" dirty="0"/>
              <a:t>This graph shows the distribution of prediction errors (residuals). Most errors are centred around zero, which means the model predictions are close to actual values. A few larger errors exist on both sides, but overall the model is stable and performs well.</a:t>
            </a:r>
          </a:p>
        </p:txBody>
      </p:sp>
      <p:pic>
        <p:nvPicPr>
          <p:cNvPr id="14340" name="Picture 4">
            <a:extLst>
              <a:ext uri="{FF2B5EF4-FFF2-40B4-BE49-F238E27FC236}">
                <a16:creationId xmlns:a16="http://schemas.microsoft.com/office/drawing/2014/main" id="{20AD7AC6-A2C0-6442-C401-34F706DCED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7491" y="1084299"/>
            <a:ext cx="7328414" cy="4618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56857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05130-5892-8886-7770-0723CDD825FD}"/>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C80635D5-9FF9-F884-9BF4-C73E1BFD5BF7}"/>
              </a:ext>
            </a:extLst>
          </p:cNvPr>
          <p:cNvSpPr>
            <a:spLocks noGrp="1"/>
          </p:cNvSpPr>
          <p:nvPr>
            <p:ph type="title"/>
          </p:nvPr>
        </p:nvSpPr>
        <p:spPr>
          <a:xfrm>
            <a:off x="1666723" y="536138"/>
            <a:ext cx="10331054" cy="870769"/>
          </a:xfrm>
        </p:spPr>
        <p:txBody>
          <a:bodyPr>
            <a:noAutofit/>
          </a:bodyPr>
          <a:lstStyle/>
          <a:p>
            <a:pPr algn="ctr"/>
            <a:r>
              <a:rPr lang="en-GB" b="1" dirty="0"/>
              <a:t>Hyperparameter Tuning</a:t>
            </a:r>
            <a:endParaRPr lang="en-US" b="1" dirty="0">
              <a:latin typeface="Times New Roman"/>
              <a:cs typeface="Times New Roman"/>
            </a:endParaRPr>
          </a:p>
        </p:txBody>
      </p:sp>
      <p:sp>
        <p:nvSpPr>
          <p:cNvPr id="3" name="Slide Number Placeholder 2">
            <a:extLst>
              <a:ext uri="{FF2B5EF4-FFF2-40B4-BE49-F238E27FC236}">
                <a16:creationId xmlns:a16="http://schemas.microsoft.com/office/drawing/2014/main" id="{6EE36D22-297A-34EB-851D-65CC4D2F22DB}"/>
              </a:ext>
            </a:extLst>
          </p:cNvPr>
          <p:cNvSpPr>
            <a:spLocks noGrp="1"/>
          </p:cNvSpPr>
          <p:nvPr>
            <p:ph type="sldNum" sz="quarter" idx="12"/>
          </p:nvPr>
        </p:nvSpPr>
        <p:spPr/>
        <p:txBody>
          <a:bodyPr/>
          <a:lstStyle/>
          <a:p>
            <a:fld id="{CB4D3031-0AEB-4687-8E23-04446010D3FF}" type="slidenum">
              <a:rPr lang="en-US" smtClean="0"/>
              <a:t>26</a:t>
            </a:fld>
            <a:endParaRPr lang="en-US"/>
          </a:p>
        </p:txBody>
      </p:sp>
      <p:sp>
        <p:nvSpPr>
          <p:cNvPr id="5" name="TextBox 4">
            <a:extLst>
              <a:ext uri="{FF2B5EF4-FFF2-40B4-BE49-F238E27FC236}">
                <a16:creationId xmlns:a16="http://schemas.microsoft.com/office/drawing/2014/main" id="{15E28FE7-8675-F6AA-AC62-EB892DEE1DC5}"/>
              </a:ext>
            </a:extLst>
          </p:cNvPr>
          <p:cNvSpPr txBox="1"/>
          <p:nvPr/>
        </p:nvSpPr>
        <p:spPr>
          <a:xfrm>
            <a:off x="2810972" y="1160401"/>
            <a:ext cx="9381028" cy="544110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dirty="0"/>
              <a:t>Initial Random Forest</a:t>
            </a:r>
          </a:p>
          <a:p>
            <a:pPr marL="742950" lvl="1" indent="-285750">
              <a:lnSpc>
                <a:spcPct val="150000"/>
              </a:lnSpc>
              <a:buFont typeface="Courier New" panose="02070309020205020404" pitchFamily="49" charset="0"/>
              <a:buChar char="o"/>
            </a:pPr>
            <a:r>
              <a:rPr lang="en-GB" dirty="0"/>
              <a:t>RMSE: </a:t>
            </a:r>
            <a:r>
              <a:rPr lang="en-GB" b="1" dirty="0"/>
              <a:t>4.84</a:t>
            </a:r>
            <a:endParaRPr lang="en-GB" dirty="0"/>
          </a:p>
          <a:p>
            <a:pPr marL="742950" lvl="1" indent="-285750">
              <a:lnSpc>
                <a:spcPct val="150000"/>
              </a:lnSpc>
              <a:buFont typeface="Courier New" panose="02070309020205020404" pitchFamily="49" charset="0"/>
              <a:buChar char="o"/>
            </a:pPr>
            <a:r>
              <a:rPr lang="en-GB" dirty="0"/>
              <a:t>Baseline model without tuning</a:t>
            </a:r>
          </a:p>
          <a:p>
            <a:pPr marL="285750" indent="-285750">
              <a:lnSpc>
                <a:spcPct val="150000"/>
              </a:lnSpc>
              <a:buFont typeface="Arial" panose="020B0604020202020204" pitchFamily="34" charset="0"/>
              <a:buChar char="•"/>
            </a:pPr>
            <a:r>
              <a:rPr lang="en-GB" dirty="0"/>
              <a:t>Regularised Random Forest</a:t>
            </a:r>
          </a:p>
          <a:p>
            <a:pPr marL="742950" lvl="1" indent="-285750">
              <a:lnSpc>
                <a:spcPct val="150000"/>
              </a:lnSpc>
              <a:buFont typeface="Courier New" panose="02070309020205020404" pitchFamily="49" charset="0"/>
              <a:buChar char="o"/>
            </a:pPr>
            <a:r>
              <a:rPr lang="en-GB" dirty="0"/>
              <a:t>RMSE: </a:t>
            </a:r>
            <a:r>
              <a:rPr lang="en-GB" b="1" dirty="0"/>
              <a:t>~4.86</a:t>
            </a:r>
            <a:endParaRPr lang="en-GB" dirty="0"/>
          </a:p>
          <a:p>
            <a:pPr marL="742950" lvl="1" indent="-285750">
              <a:lnSpc>
                <a:spcPct val="150000"/>
              </a:lnSpc>
              <a:buFont typeface="Courier New" panose="02070309020205020404" pitchFamily="49" charset="0"/>
              <a:buChar char="o"/>
            </a:pPr>
            <a:r>
              <a:rPr lang="en-GB" dirty="0"/>
              <a:t>No clear improvement</a:t>
            </a:r>
          </a:p>
          <a:p>
            <a:pPr marL="285750" indent="-285750">
              <a:lnSpc>
                <a:spcPct val="150000"/>
              </a:lnSpc>
              <a:buFont typeface="Arial" panose="020B0604020202020204" pitchFamily="34" charset="0"/>
              <a:buChar char="•"/>
            </a:pPr>
            <a:r>
              <a:rPr lang="en-GB" dirty="0"/>
              <a:t>Hyperparameter Tuning (Randomised Search)</a:t>
            </a:r>
          </a:p>
          <a:p>
            <a:pPr marL="742950" lvl="1" indent="-285750">
              <a:lnSpc>
                <a:spcPct val="150000"/>
              </a:lnSpc>
              <a:buFont typeface="Courier New" panose="02070309020205020404" pitchFamily="49" charset="0"/>
              <a:buChar char="o"/>
            </a:pPr>
            <a:r>
              <a:rPr lang="en-GB" dirty="0"/>
              <a:t>Tuned: tree depth, estimators, split size</a:t>
            </a:r>
          </a:p>
          <a:p>
            <a:pPr marL="742950" lvl="1" indent="-285750">
              <a:lnSpc>
                <a:spcPct val="150000"/>
              </a:lnSpc>
              <a:buFont typeface="Courier New" panose="02070309020205020404" pitchFamily="49" charset="0"/>
              <a:buChar char="o"/>
            </a:pPr>
            <a:r>
              <a:rPr lang="en-GB" dirty="0"/>
              <a:t>Used cross-validation for better selection</a:t>
            </a:r>
          </a:p>
          <a:p>
            <a:pPr marL="285750" indent="-285750">
              <a:lnSpc>
                <a:spcPct val="150000"/>
              </a:lnSpc>
              <a:buFont typeface="Arial" panose="020B0604020202020204" pitchFamily="34" charset="0"/>
              <a:buChar char="•"/>
            </a:pPr>
            <a:r>
              <a:rPr lang="en-GB" dirty="0"/>
              <a:t>Final Tuned Model</a:t>
            </a:r>
          </a:p>
          <a:p>
            <a:pPr marL="742950" lvl="1" indent="-285750">
              <a:lnSpc>
                <a:spcPct val="150000"/>
              </a:lnSpc>
              <a:buFont typeface="Courier New" panose="02070309020205020404" pitchFamily="49" charset="0"/>
              <a:buChar char="o"/>
            </a:pPr>
            <a:r>
              <a:rPr lang="en-GB" dirty="0"/>
              <a:t>RMSE: </a:t>
            </a:r>
            <a:r>
              <a:rPr lang="en-GB" b="1" dirty="0"/>
              <a:t>4.62</a:t>
            </a:r>
            <a:endParaRPr lang="en-GB" dirty="0"/>
          </a:p>
          <a:p>
            <a:pPr marL="742950" lvl="1" indent="-285750">
              <a:lnSpc>
                <a:spcPct val="150000"/>
              </a:lnSpc>
              <a:buFont typeface="Courier New" panose="02070309020205020404" pitchFamily="49" charset="0"/>
              <a:buChar char="o"/>
            </a:pPr>
            <a:r>
              <a:rPr lang="en-GB" dirty="0"/>
              <a:t>Best performance achieved</a:t>
            </a:r>
          </a:p>
          <a:p>
            <a:pPr marL="742950" lvl="1" indent="-285750">
              <a:lnSpc>
                <a:spcPct val="150000"/>
              </a:lnSpc>
              <a:buFont typeface="Courier New" panose="02070309020205020404" pitchFamily="49" charset="0"/>
              <a:buChar char="o"/>
            </a:pPr>
            <a:r>
              <a:rPr lang="en-GB" dirty="0"/>
              <a:t>More accurate and generalised model</a:t>
            </a:r>
          </a:p>
        </p:txBody>
      </p:sp>
    </p:spTree>
    <p:extLst>
      <p:ext uri="{BB962C8B-B14F-4D97-AF65-F5344CB8AC3E}">
        <p14:creationId xmlns:p14="http://schemas.microsoft.com/office/powerpoint/2010/main" val="250053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04E64-4F05-41DE-74B3-5CEC443BC5BA}"/>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DBF9F5D8-58ED-013F-69F6-04F3F625DC73}"/>
              </a:ext>
            </a:extLst>
          </p:cNvPr>
          <p:cNvSpPr>
            <a:spLocks noGrp="1"/>
          </p:cNvSpPr>
          <p:nvPr>
            <p:ph type="title"/>
          </p:nvPr>
        </p:nvSpPr>
        <p:spPr>
          <a:xfrm>
            <a:off x="1666723" y="536138"/>
            <a:ext cx="10331054" cy="870769"/>
          </a:xfrm>
        </p:spPr>
        <p:txBody>
          <a:bodyPr>
            <a:noAutofit/>
          </a:bodyPr>
          <a:lstStyle/>
          <a:p>
            <a:pPr algn="ctr">
              <a:lnSpc>
                <a:spcPct val="150000"/>
              </a:lnSpc>
            </a:pPr>
            <a:r>
              <a:rPr lang="en-GB" b="1" dirty="0"/>
              <a:t>Function – </a:t>
            </a:r>
            <a:r>
              <a:rPr lang="en-GB" b="1" dirty="0" err="1"/>
              <a:t>predictNextMonthCrime</a:t>
            </a:r>
            <a:endParaRPr lang="en-US" b="1" dirty="0">
              <a:latin typeface="Times New Roman"/>
              <a:cs typeface="Times New Roman"/>
            </a:endParaRPr>
          </a:p>
        </p:txBody>
      </p:sp>
      <p:sp>
        <p:nvSpPr>
          <p:cNvPr id="3" name="Slide Number Placeholder 2">
            <a:extLst>
              <a:ext uri="{FF2B5EF4-FFF2-40B4-BE49-F238E27FC236}">
                <a16:creationId xmlns:a16="http://schemas.microsoft.com/office/drawing/2014/main" id="{AA166DCC-4D1D-5700-FC9E-F5E12FE5F77F}"/>
              </a:ext>
            </a:extLst>
          </p:cNvPr>
          <p:cNvSpPr>
            <a:spLocks noGrp="1"/>
          </p:cNvSpPr>
          <p:nvPr>
            <p:ph type="sldNum" sz="quarter" idx="12"/>
          </p:nvPr>
        </p:nvSpPr>
        <p:spPr/>
        <p:txBody>
          <a:bodyPr/>
          <a:lstStyle/>
          <a:p>
            <a:pPr>
              <a:lnSpc>
                <a:spcPct val="150000"/>
              </a:lnSpc>
            </a:pPr>
            <a:fld id="{CB4D3031-0AEB-4687-8E23-04446010D3FF}" type="slidenum">
              <a:rPr lang="en-US" smtClean="0"/>
              <a:pPr>
                <a:lnSpc>
                  <a:spcPct val="150000"/>
                </a:lnSpc>
              </a:pPr>
              <a:t>27</a:t>
            </a:fld>
            <a:endParaRPr lang="en-US"/>
          </a:p>
        </p:txBody>
      </p:sp>
      <p:sp>
        <p:nvSpPr>
          <p:cNvPr id="5" name="TextBox 4">
            <a:extLst>
              <a:ext uri="{FF2B5EF4-FFF2-40B4-BE49-F238E27FC236}">
                <a16:creationId xmlns:a16="http://schemas.microsoft.com/office/drawing/2014/main" id="{20101D3F-94E0-A7DD-27DB-4E11B5129D0D}"/>
              </a:ext>
            </a:extLst>
          </p:cNvPr>
          <p:cNvSpPr txBox="1"/>
          <p:nvPr/>
        </p:nvSpPr>
        <p:spPr>
          <a:xfrm>
            <a:off x="2616749" y="1951234"/>
            <a:ext cx="9381028" cy="211711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dirty="0"/>
              <a:t>Predicts next month’s crime for a given location</a:t>
            </a:r>
          </a:p>
          <a:p>
            <a:pPr marL="285750" indent="-285750">
              <a:lnSpc>
                <a:spcPct val="150000"/>
              </a:lnSpc>
              <a:buFont typeface="Arial" panose="020B0604020202020204" pitchFamily="34" charset="0"/>
              <a:buChar char="•"/>
            </a:pPr>
            <a:r>
              <a:rPr lang="en-GB" dirty="0"/>
              <a:t>Accepts input: area name, street, or coordinates</a:t>
            </a:r>
          </a:p>
          <a:p>
            <a:pPr marL="285750" indent="-285750">
              <a:lnSpc>
                <a:spcPct val="150000"/>
              </a:lnSpc>
              <a:buFont typeface="Arial" panose="020B0604020202020204" pitchFamily="34" charset="0"/>
              <a:buChar char="•"/>
            </a:pPr>
            <a:r>
              <a:rPr lang="en-GB" dirty="0"/>
              <a:t>Matches input to LSOA area</a:t>
            </a:r>
          </a:p>
          <a:p>
            <a:pPr marL="285750" indent="-285750">
              <a:lnSpc>
                <a:spcPct val="150000"/>
              </a:lnSpc>
              <a:buFont typeface="Arial" panose="020B0604020202020204" pitchFamily="34" charset="0"/>
              <a:buChar char="•"/>
            </a:pPr>
            <a:r>
              <a:rPr lang="en-GB" dirty="0"/>
              <a:t>Uses trained model to estimate crime count</a:t>
            </a:r>
          </a:p>
          <a:p>
            <a:pPr marL="285750" indent="-285750">
              <a:lnSpc>
                <a:spcPct val="150000"/>
              </a:lnSpc>
              <a:buFont typeface="Arial" panose="020B0604020202020204" pitchFamily="34" charset="0"/>
              <a:buChar char="•"/>
            </a:pPr>
            <a:r>
              <a:rPr lang="en-GB" dirty="0"/>
              <a:t>Assigns a risk level (Low, Medium, High, Very High)</a:t>
            </a:r>
          </a:p>
        </p:txBody>
      </p:sp>
    </p:spTree>
    <p:extLst>
      <p:ext uri="{BB962C8B-B14F-4D97-AF65-F5344CB8AC3E}">
        <p14:creationId xmlns:p14="http://schemas.microsoft.com/office/powerpoint/2010/main" val="13819868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Title 1"/>
          <p:cNvSpPr>
            <a:spLocks noGrp="1"/>
          </p:cNvSpPr>
          <p:nvPr>
            <p:ph type="title"/>
          </p:nvPr>
        </p:nvSpPr>
        <p:spPr>
          <a:xfrm>
            <a:off x="4467130" y="657366"/>
            <a:ext cx="5430632" cy="625956"/>
          </a:xfrm>
        </p:spPr>
        <p:txBody>
          <a:bodyPr>
            <a:noAutofit/>
          </a:bodyPr>
          <a:lstStyle/>
          <a:p>
            <a:r>
              <a:rPr lang="en-GB" b="1" dirty="0"/>
              <a:t>Real World Example</a:t>
            </a:r>
            <a:endParaRPr lang="en-US"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CB4D3031-0AEB-4687-8E23-04446010D3FF}" type="slidenum">
              <a:rPr lang="en-US" smtClean="0"/>
              <a:t>28</a:t>
            </a:fld>
            <a:endParaRPr lang="en-US"/>
          </a:p>
        </p:txBody>
      </p:sp>
      <p:sp>
        <p:nvSpPr>
          <p:cNvPr id="4" name="Rectangle 3"/>
          <p:cNvSpPr/>
          <p:nvPr/>
        </p:nvSpPr>
        <p:spPr>
          <a:xfrm>
            <a:off x="1785256" y="1720465"/>
            <a:ext cx="9241972" cy="4194610"/>
          </a:xfrm>
          <a:prstGeom prst="rect">
            <a:avLst/>
          </a:prstGeom>
        </p:spPr>
        <p:txBody>
          <a:bodyPr wrap="square" lIns="91440" tIns="45720" rIns="91440" bIns="45720" anchor="t">
            <a:spAutoFit/>
          </a:bodyPr>
          <a:lstStyle/>
          <a:p>
            <a:pPr>
              <a:lnSpc>
                <a:spcPct val="150000"/>
              </a:lnSpc>
            </a:pPr>
            <a:r>
              <a:rPr lang="en-GB" b="1" dirty="0"/>
              <a:t>Example 1:</a:t>
            </a:r>
          </a:p>
          <a:p>
            <a:pPr marL="742950" lvl="1" indent="-285750">
              <a:lnSpc>
                <a:spcPct val="150000"/>
              </a:lnSpc>
              <a:buFont typeface="Arial" panose="020B0604020202020204" pitchFamily="34" charset="0"/>
              <a:buChar char="•"/>
            </a:pPr>
            <a:r>
              <a:rPr lang="en-GB" dirty="0"/>
              <a:t>Location: Chancery Lane</a:t>
            </a:r>
          </a:p>
          <a:p>
            <a:pPr marL="742950" lvl="1" indent="-285750">
              <a:lnSpc>
                <a:spcPct val="150000"/>
              </a:lnSpc>
              <a:buFont typeface="Arial" panose="020B0604020202020204" pitchFamily="34" charset="0"/>
              <a:buChar char="•"/>
            </a:pPr>
            <a:r>
              <a:rPr lang="en-GB" dirty="0"/>
              <a:t>Predicted crime: 3.7</a:t>
            </a:r>
          </a:p>
          <a:p>
            <a:pPr marL="742950" lvl="1" indent="-285750">
              <a:lnSpc>
                <a:spcPct val="150000"/>
              </a:lnSpc>
              <a:buFont typeface="Arial" panose="020B0604020202020204" pitchFamily="34" charset="0"/>
              <a:buChar char="•"/>
            </a:pPr>
            <a:r>
              <a:rPr lang="en-GB" dirty="0"/>
              <a:t>Risk level: Low</a:t>
            </a:r>
          </a:p>
          <a:p>
            <a:pPr>
              <a:lnSpc>
                <a:spcPct val="150000"/>
              </a:lnSpc>
            </a:pPr>
            <a:r>
              <a:rPr lang="en-GB" b="1" dirty="0"/>
              <a:t>Example 2:</a:t>
            </a:r>
          </a:p>
          <a:p>
            <a:pPr marL="742950" lvl="1" indent="-285750">
              <a:lnSpc>
                <a:spcPct val="150000"/>
              </a:lnSpc>
              <a:buFont typeface="Arial" panose="020B0604020202020204" pitchFamily="34" charset="0"/>
              <a:buChar char="•"/>
            </a:pPr>
            <a:r>
              <a:rPr lang="en-GB" dirty="0"/>
              <a:t>High crime area</a:t>
            </a:r>
          </a:p>
          <a:p>
            <a:pPr marL="742950" lvl="1" indent="-285750">
              <a:lnSpc>
                <a:spcPct val="150000"/>
              </a:lnSpc>
              <a:buFont typeface="Arial" panose="020B0604020202020204" pitchFamily="34" charset="0"/>
              <a:buChar char="•"/>
            </a:pPr>
            <a:r>
              <a:rPr lang="en-GB" dirty="0"/>
              <a:t>Predicted crime: 490</a:t>
            </a:r>
          </a:p>
          <a:p>
            <a:pPr marL="742950" lvl="1" indent="-285750">
              <a:lnSpc>
                <a:spcPct val="150000"/>
              </a:lnSpc>
              <a:buFont typeface="Arial" panose="020B0604020202020204" pitchFamily="34" charset="0"/>
              <a:buChar char="•"/>
            </a:pPr>
            <a:r>
              <a:rPr lang="en-GB" dirty="0"/>
              <a:t>Risk level: Very High</a:t>
            </a:r>
          </a:p>
          <a:p>
            <a:pPr>
              <a:lnSpc>
                <a:spcPct val="150000"/>
              </a:lnSpc>
            </a:pPr>
            <a:r>
              <a:rPr lang="en-GB" dirty="0"/>
              <a:t>Shows how the system can be used in real life</a:t>
            </a:r>
          </a:p>
          <a:p>
            <a:pPr>
              <a:lnSpc>
                <a:spcPct val="150000"/>
              </a:lnSpc>
            </a:pPr>
            <a:r>
              <a:rPr lang="en-GB" dirty="0"/>
              <a:t>Helps users quickly understand crime risk in different areas</a:t>
            </a:r>
          </a:p>
        </p:txBody>
      </p:sp>
    </p:spTree>
    <p:extLst>
      <p:ext uri="{BB962C8B-B14F-4D97-AF65-F5344CB8AC3E}">
        <p14:creationId xmlns:p14="http://schemas.microsoft.com/office/powerpoint/2010/main" val="2266207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AB304-C980-A983-626B-03D6581FC912}"/>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6087153E-E243-FF11-CA39-EC7A7CBB1F42}"/>
              </a:ext>
            </a:extLst>
          </p:cNvPr>
          <p:cNvSpPr>
            <a:spLocks noGrp="1"/>
          </p:cNvSpPr>
          <p:nvPr>
            <p:ph type="title"/>
          </p:nvPr>
        </p:nvSpPr>
        <p:spPr>
          <a:xfrm>
            <a:off x="4467130" y="657366"/>
            <a:ext cx="5430632" cy="625956"/>
          </a:xfrm>
        </p:spPr>
        <p:txBody>
          <a:bodyPr>
            <a:noAutofit/>
          </a:bodyPr>
          <a:lstStyle/>
          <a:p>
            <a:r>
              <a:rPr lang="en-GB" b="1"/>
              <a:t>Practical Use</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B08428F7-0488-0299-9466-CA3E0FB2682D}"/>
              </a:ext>
            </a:extLst>
          </p:cNvPr>
          <p:cNvSpPr>
            <a:spLocks noGrp="1"/>
          </p:cNvSpPr>
          <p:nvPr>
            <p:ph type="sldNum" sz="quarter" idx="12"/>
          </p:nvPr>
        </p:nvSpPr>
        <p:spPr/>
        <p:txBody>
          <a:bodyPr/>
          <a:lstStyle/>
          <a:p>
            <a:fld id="{CB4D3031-0AEB-4687-8E23-04446010D3FF}" type="slidenum">
              <a:rPr lang="en-US" smtClean="0"/>
              <a:t>29</a:t>
            </a:fld>
            <a:endParaRPr lang="en-US"/>
          </a:p>
        </p:txBody>
      </p:sp>
      <p:sp>
        <p:nvSpPr>
          <p:cNvPr id="4" name="Rectangle 3">
            <a:extLst>
              <a:ext uri="{FF2B5EF4-FFF2-40B4-BE49-F238E27FC236}">
                <a16:creationId xmlns:a16="http://schemas.microsoft.com/office/drawing/2014/main" id="{50EDAFB2-05FD-8D54-EDF3-FB45936B8E13}"/>
              </a:ext>
            </a:extLst>
          </p:cNvPr>
          <p:cNvSpPr/>
          <p:nvPr/>
        </p:nvSpPr>
        <p:spPr>
          <a:xfrm>
            <a:off x="1785256" y="1720465"/>
            <a:ext cx="9241972" cy="3265446"/>
          </a:xfrm>
          <a:prstGeom prst="rect">
            <a:avLst/>
          </a:prstGeom>
        </p:spPr>
        <p:txBody>
          <a:bodyPr wrap="square" lIns="91440" tIns="45720" rIns="91440" bIns="45720" anchor="t">
            <a:spAutoFit/>
          </a:bodyPr>
          <a:lstStyle/>
          <a:p>
            <a:pPr>
              <a:lnSpc>
                <a:spcPct val="150000"/>
              </a:lnSpc>
            </a:pPr>
            <a:r>
              <a:rPr lang="en-GB" sz="2000" dirty="0"/>
              <a:t>Police:</a:t>
            </a:r>
          </a:p>
          <a:p>
            <a:pPr marL="800100" lvl="1" indent="-342900">
              <a:lnSpc>
                <a:spcPct val="150000"/>
              </a:lnSpc>
              <a:buFont typeface="Arial" panose="020B0604020202020204" pitchFamily="34" charset="0"/>
              <a:buChar char="•"/>
            </a:pPr>
            <a:r>
              <a:rPr lang="en-GB" sz="2000" dirty="0"/>
              <a:t>Plan patrol routes </a:t>
            </a:r>
          </a:p>
          <a:p>
            <a:pPr marL="800100" lvl="1" indent="-342900">
              <a:lnSpc>
                <a:spcPct val="150000"/>
              </a:lnSpc>
              <a:buFont typeface="Arial" panose="020B0604020202020204" pitchFamily="34" charset="0"/>
              <a:buChar char="•"/>
            </a:pPr>
            <a:r>
              <a:rPr lang="en-GB" sz="2000" dirty="0"/>
              <a:t>Focus on high-risk areas </a:t>
            </a:r>
          </a:p>
          <a:p>
            <a:pPr>
              <a:lnSpc>
                <a:spcPct val="150000"/>
              </a:lnSpc>
            </a:pPr>
            <a:r>
              <a:rPr lang="en-GB" sz="2000" dirty="0"/>
              <a:t>Public:</a:t>
            </a:r>
          </a:p>
          <a:p>
            <a:pPr marL="800100" lvl="1" indent="-342900">
              <a:lnSpc>
                <a:spcPct val="150000"/>
              </a:lnSpc>
              <a:buFont typeface="Arial" panose="020B0604020202020204" pitchFamily="34" charset="0"/>
              <a:buChar char="•"/>
            </a:pPr>
            <a:r>
              <a:rPr lang="en-GB" sz="2000" dirty="0"/>
              <a:t>Check safety before renting </a:t>
            </a:r>
          </a:p>
          <a:p>
            <a:pPr>
              <a:lnSpc>
                <a:spcPct val="150000"/>
              </a:lnSpc>
            </a:pPr>
            <a:r>
              <a:rPr lang="en-GB" sz="2000" dirty="0"/>
              <a:t>Government:</a:t>
            </a:r>
          </a:p>
          <a:p>
            <a:pPr marL="800100" lvl="1" indent="-342900">
              <a:lnSpc>
                <a:spcPct val="150000"/>
              </a:lnSpc>
              <a:buFont typeface="Arial" panose="020B0604020202020204" pitchFamily="34" charset="0"/>
              <a:buChar char="•"/>
            </a:pPr>
            <a:r>
              <a:rPr lang="en-GB" sz="2000" dirty="0"/>
              <a:t>Improve safety planning</a:t>
            </a:r>
          </a:p>
        </p:txBody>
      </p:sp>
    </p:spTree>
    <p:extLst>
      <p:ext uri="{BB962C8B-B14F-4D97-AF65-F5344CB8AC3E}">
        <p14:creationId xmlns:p14="http://schemas.microsoft.com/office/powerpoint/2010/main" val="13972123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821AE-1D8D-805D-6EAA-7BC654E29DB9}"/>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22FAFD00-6474-6288-1F2E-0D7CE0439EB0}"/>
              </a:ext>
            </a:extLst>
          </p:cNvPr>
          <p:cNvSpPr>
            <a:spLocks noGrp="1"/>
          </p:cNvSpPr>
          <p:nvPr>
            <p:ph type="title"/>
          </p:nvPr>
        </p:nvSpPr>
        <p:spPr>
          <a:xfrm>
            <a:off x="4467130" y="657366"/>
            <a:ext cx="5430632" cy="625956"/>
          </a:xfrm>
        </p:spPr>
        <p:txBody>
          <a:bodyPr>
            <a:noAutofit/>
          </a:bodyPr>
          <a:lstStyle/>
          <a:p>
            <a:r>
              <a:rPr lang="en-GB" b="1" dirty="0"/>
              <a:t>Conclusion</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CDD02ADD-C91F-0872-772D-50A51AA1EBC9}"/>
              </a:ext>
            </a:extLst>
          </p:cNvPr>
          <p:cNvSpPr>
            <a:spLocks noGrp="1"/>
          </p:cNvSpPr>
          <p:nvPr>
            <p:ph type="sldNum" sz="quarter" idx="12"/>
          </p:nvPr>
        </p:nvSpPr>
        <p:spPr/>
        <p:txBody>
          <a:bodyPr/>
          <a:lstStyle/>
          <a:p>
            <a:fld id="{CB4D3031-0AEB-4687-8E23-04446010D3FF}" type="slidenum">
              <a:rPr lang="en-US" smtClean="0"/>
              <a:t>30</a:t>
            </a:fld>
            <a:endParaRPr lang="en-US"/>
          </a:p>
        </p:txBody>
      </p:sp>
      <p:sp>
        <p:nvSpPr>
          <p:cNvPr id="4" name="Rectangle 3">
            <a:extLst>
              <a:ext uri="{FF2B5EF4-FFF2-40B4-BE49-F238E27FC236}">
                <a16:creationId xmlns:a16="http://schemas.microsoft.com/office/drawing/2014/main" id="{140B29CA-EFCD-8721-93C0-927B84D5AFF7}"/>
              </a:ext>
            </a:extLst>
          </p:cNvPr>
          <p:cNvSpPr/>
          <p:nvPr/>
        </p:nvSpPr>
        <p:spPr>
          <a:xfrm>
            <a:off x="1785256" y="1720465"/>
            <a:ext cx="9241972" cy="1323439"/>
          </a:xfrm>
          <a:prstGeom prst="rect">
            <a:avLst/>
          </a:prstGeom>
        </p:spPr>
        <p:txBody>
          <a:bodyPr wrap="square" lIns="91440" tIns="45720" rIns="91440" bIns="45720" anchor="t">
            <a:spAutoFit/>
          </a:bodyPr>
          <a:lstStyle/>
          <a:p>
            <a:r>
              <a:rPr lang="en-GB" sz="2000" dirty="0"/>
              <a:t>DBSCAN is best for hotspot detection.</a:t>
            </a:r>
            <a:br>
              <a:rPr lang="en-GB" sz="2000" dirty="0"/>
            </a:br>
            <a:r>
              <a:rPr lang="en-GB" sz="2000" dirty="0"/>
              <a:t>Random Forest is best for prediction.</a:t>
            </a:r>
          </a:p>
          <a:p>
            <a:r>
              <a:rPr lang="en-GB" sz="2000" dirty="0"/>
              <a:t>Past crime and location are the most important features.</a:t>
            </a:r>
          </a:p>
          <a:p>
            <a:r>
              <a:rPr lang="en-GB" sz="2000" dirty="0"/>
              <a:t>This system can support real-world decision making.</a:t>
            </a:r>
          </a:p>
        </p:txBody>
      </p:sp>
    </p:spTree>
    <p:extLst>
      <p:ext uri="{BB962C8B-B14F-4D97-AF65-F5344CB8AC3E}">
        <p14:creationId xmlns:p14="http://schemas.microsoft.com/office/powerpoint/2010/main" val="22983210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06475" y="2488195"/>
            <a:ext cx="6937668" cy="1785104"/>
          </a:xfrm>
          <a:prstGeom prst="rect">
            <a:avLst/>
          </a:prstGeom>
        </p:spPr>
        <p:txBody>
          <a:bodyPr wrap="none">
            <a:spAutoFit/>
          </a:bodyPr>
          <a:lstStyle/>
          <a:p>
            <a:pPr algn="just"/>
            <a:r>
              <a:rPr lang="en-GB" sz="5400" dirty="0">
                <a:latin typeface="Times New Roman" panose="02020603050405020304" pitchFamily="18" charset="0"/>
                <a:cs typeface="Times New Roman" panose="02020603050405020304" pitchFamily="18" charset="0"/>
              </a:rPr>
              <a:t>  </a:t>
            </a:r>
            <a:r>
              <a:rPr lang="en-GB" sz="5500" b="1" dirty="0">
                <a:latin typeface="Times New Roman" panose="02020603050405020304" pitchFamily="18" charset="0"/>
                <a:cs typeface="Times New Roman" panose="02020603050405020304" pitchFamily="18" charset="0"/>
              </a:rPr>
              <a:t>THANK YOU FOR </a:t>
            </a:r>
          </a:p>
          <a:p>
            <a:pPr algn="just"/>
            <a:r>
              <a:rPr lang="en-GB" sz="5500" b="1" dirty="0">
                <a:latin typeface="Times New Roman" panose="02020603050405020304" pitchFamily="18" charset="0"/>
                <a:cs typeface="Times New Roman" panose="02020603050405020304" pitchFamily="18" charset="0"/>
              </a:rPr>
              <a:t>YOUR TIME TODAY</a:t>
            </a:r>
          </a:p>
        </p:txBody>
      </p:sp>
      <p:sp>
        <p:nvSpPr>
          <p:cNvPr id="4" name="Slide Number Placeholder 3"/>
          <p:cNvSpPr>
            <a:spLocks noGrp="1"/>
          </p:cNvSpPr>
          <p:nvPr>
            <p:ph type="sldNum" sz="quarter" idx="12"/>
          </p:nvPr>
        </p:nvSpPr>
        <p:spPr/>
        <p:txBody>
          <a:bodyPr/>
          <a:lstStyle/>
          <a:p>
            <a:fld id="{CB4D3031-0AEB-4687-8E23-04446010D3FF}" type="slidenum">
              <a:rPr lang="en-US" smtClean="0"/>
              <a:t>31</a:t>
            </a:fld>
            <a:endParaRPr lang="en-US"/>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4103</TotalTime>
  <Words>1584</Words>
  <Application>Microsoft Macintosh PowerPoint</Application>
  <PresentationFormat>Widescreen</PresentationFormat>
  <Paragraphs>241</Paragraphs>
  <Slides>31</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Calibri</vt:lpstr>
      <vt:lpstr>Century Gothic</vt:lpstr>
      <vt:lpstr>Courier New</vt:lpstr>
      <vt:lpstr>Google Sans</vt:lpstr>
      <vt:lpstr>Times New Roman</vt:lpstr>
      <vt:lpstr>Wingdings 3</vt:lpstr>
      <vt:lpstr>Wisp</vt:lpstr>
      <vt:lpstr>Crime Analysis and Prediction using Machine Learning</vt:lpstr>
      <vt:lpstr>Introduction</vt:lpstr>
      <vt:lpstr>PowerPoint Presentation</vt:lpstr>
      <vt:lpstr>PowerPoint Presentation</vt:lpstr>
      <vt:lpstr>PowerPoint Presentation</vt:lpstr>
      <vt:lpstr>PowerPoint Presentation</vt:lpstr>
      <vt:lpstr>PowerPoint Presentation</vt:lpstr>
      <vt:lpstr>Feature Correlation Heatmap</vt:lpstr>
      <vt:lpstr>Monthly Crime Trend</vt:lpstr>
      <vt:lpstr>Seasonal Crime Pattern</vt:lpstr>
      <vt:lpstr>Top Crime Types</vt:lpstr>
      <vt:lpstr>Outcome Categories</vt:lpstr>
      <vt:lpstr>Crime Reports by Police Force</vt:lpstr>
      <vt:lpstr>Spatial Distribution of Crime</vt:lpstr>
      <vt:lpstr>Hotspot Detection (RQ1)</vt:lpstr>
      <vt:lpstr>KMeans Clusters</vt:lpstr>
      <vt:lpstr>DBSCAN Hotspots</vt:lpstr>
      <vt:lpstr>Crime Prediction Models (RQ2)</vt:lpstr>
      <vt:lpstr>Model Performance</vt:lpstr>
      <vt:lpstr>Actual vs Predicted</vt:lpstr>
      <vt:lpstr>Overfitting Analysis</vt:lpstr>
      <vt:lpstr>Regularisation</vt:lpstr>
      <vt:lpstr>Feature Importance (RQ3)</vt:lpstr>
      <vt:lpstr>SHAP Analysis</vt:lpstr>
      <vt:lpstr>Model Validation</vt:lpstr>
      <vt:lpstr>Hyperparameter Tuning</vt:lpstr>
      <vt:lpstr>Function – predictNextMonthCrime</vt:lpstr>
      <vt:lpstr>Real World Example</vt:lpstr>
      <vt:lpstr>Practical Use</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FYP-Defence 1</dc:title>
  <dc:creator>Tabish Nadeem</dc:creator>
  <cp:lastModifiedBy>MUHAMMAD RUSLAN BABAR</cp:lastModifiedBy>
  <cp:revision>547</cp:revision>
  <dcterms:created xsi:type="dcterms:W3CDTF">2023-11-30T05:42:34Z</dcterms:created>
  <dcterms:modified xsi:type="dcterms:W3CDTF">2026-04-16T14:26:28Z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204bc99ef2804537acab07fcc0f84301</vt:lpwstr>
  </property>
</Properties>
</file>